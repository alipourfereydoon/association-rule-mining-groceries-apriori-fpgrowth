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134"/>
  </p:notesMasterIdLst>
  <p:sldIdLst>
    <p:sldId id="257" r:id="rId2"/>
    <p:sldId id="327" r:id="rId3"/>
    <p:sldId id="335" r:id="rId4"/>
    <p:sldId id="345" r:id="rId5"/>
    <p:sldId id="432" r:id="rId6"/>
    <p:sldId id="433" r:id="rId7"/>
    <p:sldId id="328" r:id="rId8"/>
    <p:sldId id="341" r:id="rId9"/>
    <p:sldId id="434" r:id="rId10"/>
    <p:sldId id="436" r:id="rId11"/>
    <p:sldId id="437" r:id="rId12"/>
    <p:sldId id="438" r:id="rId13"/>
    <p:sldId id="439" r:id="rId14"/>
    <p:sldId id="440" r:id="rId15"/>
    <p:sldId id="441" r:id="rId16"/>
    <p:sldId id="442" r:id="rId17"/>
    <p:sldId id="443" r:id="rId18"/>
    <p:sldId id="445" r:id="rId19"/>
    <p:sldId id="446" r:id="rId20"/>
    <p:sldId id="447" r:id="rId21"/>
    <p:sldId id="448" r:id="rId22"/>
    <p:sldId id="449" r:id="rId23"/>
    <p:sldId id="450" r:id="rId24"/>
    <p:sldId id="451" r:id="rId25"/>
    <p:sldId id="452" r:id="rId26"/>
    <p:sldId id="453" r:id="rId27"/>
    <p:sldId id="454" r:id="rId28"/>
    <p:sldId id="455" r:id="rId29"/>
    <p:sldId id="456" r:id="rId30"/>
    <p:sldId id="457" r:id="rId31"/>
    <p:sldId id="458" r:id="rId32"/>
    <p:sldId id="459" r:id="rId33"/>
    <p:sldId id="460" r:id="rId34"/>
    <p:sldId id="461" r:id="rId35"/>
    <p:sldId id="462" r:id="rId36"/>
    <p:sldId id="463" r:id="rId37"/>
    <p:sldId id="464" r:id="rId38"/>
    <p:sldId id="465" r:id="rId39"/>
    <p:sldId id="466" r:id="rId40"/>
    <p:sldId id="467" r:id="rId41"/>
    <p:sldId id="468" r:id="rId42"/>
    <p:sldId id="469" r:id="rId43"/>
    <p:sldId id="470" r:id="rId44"/>
    <p:sldId id="471" r:id="rId45"/>
    <p:sldId id="472" r:id="rId46"/>
    <p:sldId id="473" r:id="rId47"/>
    <p:sldId id="474" r:id="rId48"/>
    <p:sldId id="475" r:id="rId49"/>
    <p:sldId id="476" r:id="rId50"/>
    <p:sldId id="477" r:id="rId51"/>
    <p:sldId id="478" r:id="rId52"/>
    <p:sldId id="479" r:id="rId53"/>
    <p:sldId id="480" r:id="rId54"/>
    <p:sldId id="481" r:id="rId55"/>
    <p:sldId id="329" r:id="rId56"/>
    <p:sldId id="344" r:id="rId57"/>
    <p:sldId id="482" r:id="rId58"/>
    <p:sldId id="483" r:id="rId59"/>
    <p:sldId id="484" r:id="rId60"/>
    <p:sldId id="330" r:id="rId61"/>
    <p:sldId id="364" r:id="rId62"/>
    <p:sldId id="485" r:id="rId63"/>
    <p:sldId id="486" r:id="rId64"/>
    <p:sldId id="487" r:id="rId65"/>
    <p:sldId id="367" r:id="rId66"/>
    <p:sldId id="489" r:id="rId67"/>
    <p:sldId id="490" r:id="rId68"/>
    <p:sldId id="491" r:id="rId69"/>
    <p:sldId id="492" r:id="rId70"/>
    <p:sldId id="493" r:id="rId71"/>
    <p:sldId id="494" r:id="rId72"/>
    <p:sldId id="495" r:id="rId73"/>
    <p:sldId id="496" r:id="rId74"/>
    <p:sldId id="497" r:id="rId75"/>
    <p:sldId id="498" r:id="rId76"/>
    <p:sldId id="499" r:id="rId77"/>
    <p:sldId id="500" r:id="rId78"/>
    <p:sldId id="501" r:id="rId79"/>
    <p:sldId id="502" r:id="rId80"/>
    <p:sldId id="504" r:id="rId81"/>
    <p:sldId id="505" r:id="rId82"/>
    <p:sldId id="506" r:id="rId83"/>
    <p:sldId id="507" r:id="rId84"/>
    <p:sldId id="508" r:id="rId85"/>
    <p:sldId id="509" r:id="rId86"/>
    <p:sldId id="510" r:id="rId87"/>
    <p:sldId id="511" r:id="rId88"/>
    <p:sldId id="512" r:id="rId89"/>
    <p:sldId id="513" r:id="rId90"/>
    <p:sldId id="514" r:id="rId91"/>
    <p:sldId id="515" r:id="rId92"/>
    <p:sldId id="517" r:id="rId93"/>
    <p:sldId id="518" r:id="rId94"/>
    <p:sldId id="519" r:id="rId95"/>
    <p:sldId id="520" r:id="rId96"/>
    <p:sldId id="521" r:id="rId97"/>
    <p:sldId id="522" r:id="rId98"/>
    <p:sldId id="523" r:id="rId99"/>
    <p:sldId id="524" r:id="rId100"/>
    <p:sldId id="525" r:id="rId101"/>
    <p:sldId id="526" r:id="rId102"/>
    <p:sldId id="527" r:id="rId103"/>
    <p:sldId id="528" r:id="rId104"/>
    <p:sldId id="529" r:id="rId105"/>
    <p:sldId id="530" r:id="rId106"/>
    <p:sldId id="531" r:id="rId107"/>
    <p:sldId id="532" r:id="rId108"/>
    <p:sldId id="533" r:id="rId109"/>
    <p:sldId id="534" r:id="rId110"/>
    <p:sldId id="535" r:id="rId111"/>
    <p:sldId id="536" r:id="rId112"/>
    <p:sldId id="537" r:id="rId113"/>
    <p:sldId id="538" r:id="rId114"/>
    <p:sldId id="539" r:id="rId115"/>
    <p:sldId id="540" r:id="rId116"/>
    <p:sldId id="541" r:id="rId117"/>
    <p:sldId id="542" r:id="rId118"/>
    <p:sldId id="543" r:id="rId119"/>
    <p:sldId id="544" r:id="rId120"/>
    <p:sldId id="545" r:id="rId121"/>
    <p:sldId id="546" r:id="rId122"/>
    <p:sldId id="547" r:id="rId123"/>
    <p:sldId id="548" r:id="rId124"/>
    <p:sldId id="549" r:id="rId125"/>
    <p:sldId id="550" r:id="rId126"/>
    <p:sldId id="551" r:id="rId127"/>
    <p:sldId id="552" r:id="rId128"/>
    <p:sldId id="553" r:id="rId129"/>
    <p:sldId id="488" r:id="rId130"/>
    <p:sldId id="368" r:id="rId131"/>
    <p:sldId id="431" r:id="rId132"/>
    <p:sldId id="554" r:id="rId133"/>
  </p:sldIdLst>
  <p:sldSz cx="9144000" cy="6858000" type="screen4x3"/>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0D03"/>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3103" autoAdjust="0"/>
  </p:normalViewPr>
  <p:slideViewPr>
    <p:cSldViewPr>
      <p:cViewPr varScale="1">
        <p:scale>
          <a:sx n="65" d="100"/>
          <a:sy n="65" d="100"/>
        </p:scale>
        <p:origin x="153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94019112-55DC-45E6-BEFC-4E046AC124EE}" type="datetimeFigureOut">
              <a:rPr lang="fa-IR" smtClean="0"/>
              <a:t>18/08/1447</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4B069EB2-F581-48C2-B5EF-E77B63A69A3B}" type="slidenum">
              <a:rPr lang="fa-IR" smtClean="0"/>
              <a:t>‹#›</a:t>
            </a:fld>
            <a:endParaRPr lang="fa-IR"/>
          </a:p>
        </p:txBody>
      </p:sp>
    </p:spTree>
    <p:extLst>
      <p:ext uri="{BB962C8B-B14F-4D97-AF65-F5344CB8AC3E}">
        <p14:creationId xmlns:p14="http://schemas.microsoft.com/office/powerpoint/2010/main" val="49180461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標題投影片">
    <p:spTree>
      <p:nvGrpSpPr>
        <p:cNvPr id="1" name=""/>
        <p:cNvGrpSpPr/>
        <p:nvPr/>
      </p:nvGrpSpPr>
      <p:grpSpPr>
        <a:xfrm>
          <a:off x="0" y="0"/>
          <a:ext cx="0" cy="0"/>
          <a:chOff x="0" y="0"/>
          <a:chExt cx="0" cy="0"/>
        </a:xfrm>
      </p:grpSpPr>
      <p:sp>
        <p:nvSpPr>
          <p:cNvPr id="4" name="Rectangle 73"/>
          <p:cNvSpPr>
            <a:spLocks noChangeArrowheads="1"/>
          </p:cNvSpPr>
          <p:nvPr/>
        </p:nvSpPr>
        <p:spPr bwMode="gray">
          <a:xfrm>
            <a:off x="1698625" y="3705225"/>
            <a:ext cx="742950" cy="7429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5" name="Rectangle 44" descr="3"/>
          <p:cNvSpPr>
            <a:spLocks noChangeArrowheads="1"/>
          </p:cNvSpPr>
          <p:nvPr/>
        </p:nvSpPr>
        <p:spPr bwMode="gray">
          <a:xfrm>
            <a:off x="2492375" y="4510088"/>
            <a:ext cx="742950" cy="744537"/>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6" name="Rectangle 34" descr="5"/>
          <p:cNvSpPr>
            <a:spLocks noChangeArrowheads="1"/>
          </p:cNvSpPr>
          <p:nvPr/>
        </p:nvSpPr>
        <p:spPr bwMode="gray">
          <a:xfrm>
            <a:off x="915988" y="4510088"/>
            <a:ext cx="742950" cy="74453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 name="Rectangle 59"/>
          <p:cNvSpPr>
            <a:spLocks noChangeArrowheads="1"/>
          </p:cNvSpPr>
          <p:nvPr/>
        </p:nvSpPr>
        <p:spPr bwMode="gray">
          <a:xfrm>
            <a:off x="1703388" y="5314950"/>
            <a:ext cx="74295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8" name="Rectangle 54"/>
          <p:cNvSpPr>
            <a:spLocks noChangeArrowheads="1"/>
          </p:cNvSpPr>
          <p:nvPr/>
        </p:nvSpPr>
        <p:spPr bwMode="gray">
          <a:xfrm>
            <a:off x="128588" y="3705225"/>
            <a:ext cx="74295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9" name="Rectangle 56"/>
          <p:cNvSpPr>
            <a:spLocks noChangeArrowheads="1"/>
          </p:cNvSpPr>
          <p:nvPr/>
        </p:nvSpPr>
        <p:spPr bwMode="gray">
          <a:xfrm>
            <a:off x="2492375" y="3705225"/>
            <a:ext cx="742950" cy="7429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grpSp>
        <p:nvGrpSpPr>
          <p:cNvPr id="10" name="Group 75"/>
          <p:cNvGrpSpPr>
            <a:grpSpLocks/>
          </p:cNvGrpSpPr>
          <p:nvPr/>
        </p:nvGrpSpPr>
        <p:grpSpPr bwMode="auto">
          <a:xfrm>
            <a:off x="112713" y="5954713"/>
            <a:ext cx="8936037" cy="631825"/>
            <a:chOff x="71" y="3751"/>
            <a:chExt cx="5629" cy="398"/>
          </a:xfrm>
        </p:grpSpPr>
        <p:sp>
          <p:nvSpPr>
            <p:cNvPr id="11" name="Freeform 24"/>
            <p:cNvSpPr>
              <a:spLocks/>
            </p:cNvSpPr>
            <p:nvPr userDrawn="1"/>
          </p:nvSpPr>
          <p:spPr bwMode="gray">
            <a:xfrm>
              <a:off x="71" y="3751"/>
              <a:ext cx="5626" cy="349"/>
            </a:xfrm>
            <a:custGeom>
              <a:avLst/>
              <a:gdLst>
                <a:gd name="T0" fmla="*/ 5626 w 5626"/>
                <a:gd name="T1" fmla="*/ 349 h 349"/>
                <a:gd name="T2" fmla="*/ 0 w 5626"/>
                <a:gd name="T3" fmla="*/ 349 h 349"/>
                <a:gd name="T4" fmla="*/ 0 w 5626"/>
                <a:gd name="T5" fmla="*/ 187 h 349"/>
                <a:gd name="T6" fmla="*/ 0 w 5626"/>
                <a:gd name="T7" fmla="*/ 114 h 349"/>
                <a:gd name="T8" fmla="*/ 4064 w 5626"/>
                <a:gd name="T9" fmla="*/ 118 h 349"/>
                <a:gd name="T10" fmla="*/ 4329 w 5626"/>
                <a:gd name="T11" fmla="*/ 0 h 349"/>
                <a:gd name="T12" fmla="*/ 5623 w 5626"/>
                <a:gd name="T13" fmla="*/ 0 h 349"/>
                <a:gd name="T14" fmla="*/ 5626 w 5626"/>
                <a:gd name="T15" fmla="*/ 349 h 3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26" h="349">
                  <a:moveTo>
                    <a:pt x="5626" y="349"/>
                  </a:moveTo>
                  <a:lnTo>
                    <a:pt x="0" y="349"/>
                  </a:lnTo>
                  <a:lnTo>
                    <a:pt x="0" y="187"/>
                  </a:lnTo>
                  <a:lnTo>
                    <a:pt x="0" y="114"/>
                  </a:lnTo>
                  <a:cubicBezTo>
                    <a:pt x="678" y="103"/>
                    <a:pt x="3343" y="137"/>
                    <a:pt x="4064" y="118"/>
                  </a:cubicBezTo>
                  <a:lnTo>
                    <a:pt x="4329" y="0"/>
                  </a:lnTo>
                  <a:lnTo>
                    <a:pt x="5623" y="0"/>
                  </a:lnTo>
                  <a:lnTo>
                    <a:pt x="5626" y="34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2" name="Freeform 25"/>
            <p:cNvSpPr>
              <a:spLocks/>
            </p:cNvSpPr>
            <p:nvPr userDrawn="1"/>
          </p:nvSpPr>
          <p:spPr bwMode="gray">
            <a:xfrm>
              <a:off x="71" y="3800"/>
              <a:ext cx="5626" cy="349"/>
            </a:xfrm>
            <a:custGeom>
              <a:avLst/>
              <a:gdLst>
                <a:gd name="T0" fmla="*/ 5626 w 5626"/>
                <a:gd name="T1" fmla="*/ 349 h 349"/>
                <a:gd name="T2" fmla="*/ 0 w 5626"/>
                <a:gd name="T3" fmla="*/ 349 h 349"/>
                <a:gd name="T4" fmla="*/ 0 w 5626"/>
                <a:gd name="T5" fmla="*/ 187 h 349"/>
                <a:gd name="T6" fmla="*/ 0 w 5626"/>
                <a:gd name="T7" fmla="*/ 114 h 349"/>
                <a:gd name="T8" fmla="*/ 4082 w 5626"/>
                <a:gd name="T9" fmla="*/ 118 h 349"/>
                <a:gd name="T10" fmla="*/ 4345 w 5626"/>
                <a:gd name="T11" fmla="*/ 0 h 349"/>
                <a:gd name="T12" fmla="*/ 5623 w 5626"/>
                <a:gd name="T13" fmla="*/ 6 h 349"/>
                <a:gd name="T14" fmla="*/ 5626 w 5626"/>
                <a:gd name="T15" fmla="*/ 349 h 34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626" h="349">
                  <a:moveTo>
                    <a:pt x="5626" y="349"/>
                  </a:moveTo>
                  <a:lnTo>
                    <a:pt x="0" y="349"/>
                  </a:lnTo>
                  <a:lnTo>
                    <a:pt x="0" y="187"/>
                  </a:lnTo>
                  <a:lnTo>
                    <a:pt x="0" y="114"/>
                  </a:lnTo>
                  <a:cubicBezTo>
                    <a:pt x="680" y="103"/>
                    <a:pt x="3358" y="137"/>
                    <a:pt x="4082" y="118"/>
                  </a:cubicBezTo>
                  <a:lnTo>
                    <a:pt x="4345" y="0"/>
                  </a:lnTo>
                  <a:lnTo>
                    <a:pt x="5623" y="6"/>
                  </a:lnTo>
                  <a:lnTo>
                    <a:pt x="5626" y="34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3" name="Freeform 26"/>
            <p:cNvSpPr>
              <a:spLocks/>
            </p:cNvSpPr>
            <p:nvPr userDrawn="1"/>
          </p:nvSpPr>
          <p:spPr bwMode="gray">
            <a:xfrm>
              <a:off x="4209" y="3833"/>
              <a:ext cx="1491" cy="88"/>
            </a:xfrm>
            <a:custGeom>
              <a:avLst/>
              <a:gdLst>
                <a:gd name="T0" fmla="*/ 0 w 1491"/>
                <a:gd name="T1" fmla="*/ 84 h 88"/>
                <a:gd name="T2" fmla="*/ 223 w 1491"/>
                <a:gd name="T3" fmla="*/ 0 h 88"/>
                <a:gd name="T4" fmla="*/ 1491 w 1491"/>
                <a:gd name="T5" fmla="*/ 0 h 88"/>
                <a:gd name="T6" fmla="*/ 1488 w 1491"/>
                <a:gd name="T7" fmla="*/ 60 h 88"/>
                <a:gd name="T8" fmla="*/ 383 w 1491"/>
                <a:gd name="T9" fmla="*/ 59 h 88"/>
                <a:gd name="T10" fmla="*/ 273 w 1491"/>
                <a:gd name="T11" fmla="*/ 88 h 88"/>
                <a:gd name="T12" fmla="*/ 0 w 1491"/>
                <a:gd name="T13" fmla="*/ 84 h 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91" h="88">
                  <a:moveTo>
                    <a:pt x="0" y="84"/>
                  </a:moveTo>
                  <a:lnTo>
                    <a:pt x="223" y="0"/>
                  </a:lnTo>
                  <a:lnTo>
                    <a:pt x="1491" y="0"/>
                  </a:lnTo>
                  <a:lnTo>
                    <a:pt x="1488" y="60"/>
                  </a:lnTo>
                  <a:lnTo>
                    <a:pt x="383" y="59"/>
                  </a:lnTo>
                  <a:lnTo>
                    <a:pt x="273" y="88"/>
                  </a:lnTo>
                  <a:lnTo>
                    <a:pt x="0" y="84"/>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grpSp>
        <p:nvGrpSpPr>
          <p:cNvPr id="14" name="Group 7"/>
          <p:cNvGrpSpPr>
            <a:grpSpLocks/>
          </p:cNvGrpSpPr>
          <p:nvPr/>
        </p:nvGrpSpPr>
        <p:grpSpPr bwMode="auto">
          <a:xfrm rot="10800000">
            <a:off x="6003925" y="1778000"/>
            <a:ext cx="2768600" cy="779463"/>
            <a:chOff x="1566" y="164"/>
            <a:chExt cx="1455" cy="425"/>
          </a:xfrm>
        </p:grpSpPr>
        <p:sp>
          <p:nvSpPr>
            <p:cNvPr id="15" name="Freeform 8"/>
            <p:cNvSpPr>
              <a:spLocks/>
            </p:cNvSpPr>
            <p:nvPr/>
          </p:nvSpPr>
          <p:spPr bwMode="gray">
            <a:xfrm>
              <a:off x="1894" y="468"/>
              <a:ext cx="38" cy="121"/>
            </a:xfrm>
            <a:custGeom>
              <a:avLst/>
              <a:gdLst>
                <a:gd name="T0" fmla="*/ 21 w 39"/>
                <a:gd name="T1" fmla="*/ 36 h 121"/>
                <a:gd name="T2" fmla="*/ 19 w 39"/>
                <a:gd name="T3" fmla="*/ 36 h 121"/>
                <a:gd name="T4" fmla="*/ 19 w 39"/>
                <a:gd name="T5" fmla="*/ 36 h 121"/>
                <a:gd name="T6" fmla="*/ 19 w 39"/>
                <a:gd name="T7" fmla="*/ 34 h 121"/>
                <a:gd name="T8" fmla="*/ 15 w 39"/>
                <a:gd name="T9" fmla="*/ 30 h 121"/>
                <a:gd name="T10" fmla="*/ 7 w 39"/>
                <a:gd name="T11" fmla="*/ 23 h 121"/>
                <a:gd name="T12" fmla="*/ 3 w 39"/>
                <a:gd name="T13" fmla="*/ 13 h 121"/>
                <a:gd name="T14" fmla="*/ 0 w 39"/>
                <a:gd name="T15" fmla="*/ 0 h 121"/>
                <a:gd name="T16" fmla="*/ 3 w 39"/>
                <a:gd name="T17" fmla="*/ 0 h 121"/>
                <a:gd name="T18" fmla="*/ 7 w 39"/>
                <a:gd name="T19" fmla="*/ 1 h 121"/>
                <a:gd name="T20" fmla="*/ 15 w 39"/>
                <a:gd name="T21" fmla="*/ 3 h 121"/>
                <a:gd name="T22" fmla="*/ 19 w 39"/>
                <a:gd name="T23" fmla="*/ 5 h 121"/>
                <a:gd name="T24" fmla="*/ 19 w 39"/>
                <a:gd name="T25" fmla="*/ 11 h 121"/>
                <a:gd name="T26" fmla="*/ 21 w 39"/>
                <a:gd name="T27" fmla="*/ 20 h 121"/>
                <a:gd name="T28" fmla="*/ 23 w 39"/>
                <a:gd name="T29" fmla="*/ 34 h 121"/>
                <a:gd name="T30" fmla="*/ 23 w 39"/>
                <a:gd name="T31" fmla="*/ 121 h 121"/>
                <a:gd name="T32" fmla="*/ 21 w 39"/>
                <a:gd name="T33" fmla="*/ 121 h 121"/>
                <a:gd name="T34" fmla="*/ 21 w 39"/>
                <a:gd name="T35" fmla="*/ 36 h 1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6" name="Freeform 9"/>
            <p:cNvSpPr>
              <a:spLocks/>
            </p:cNvSpPr>
            <p:nvPr/>
          </p:nvSpPr>
          <p:spPr bwMode="gray">
            <a:xfrm>
              <a:off x="2271" y="455"/>
              <a:ext cx="45" cy="138"/>
            </a:xfrm>
            <a:custGeom>
              <a:avLst/>
              <a:gdLst>
                <a:gd name="T0" fmla="*/ 3 w 45"/>
                <a:gd name="T1" fmla="*/ 42 h 139"/>
                <a:gd name="T2" fmla="*/ 6 w 45"/>
                <a:gd name="T3" fmla="*/ 42 h 139"/>
                <a:gd name="T4" fmla="*/ 12 w 45"/>
                <a:gd name="T5" fmla="*/ 42 h 139"/>
                <a:gd name="T6" fmla="*/ 20 w 45"/>
                <a:gd name="T7" fmla="*/ 39 h 139"/>
                <a:gd name="T8" fmla="*/ 29 w 45"/>
                <a:gd name="T9" fmla="*/ 35 h 139"/>
                <a:gd name="T10" fmla="*/ 37 w 45"/>
                <a:gd name="T11" fmla="*/ 27 h 139"/>
                <a:gd name="T12" fmla="*/ 43 w 45"/>
                <a:gd name="T13" fmla="*/ 17 h 139"/>
                <a:gd name="T14" fmla="*/ 45 w 45"/>
                <a:gd name="T15" fmla="*/ 2 h 139"/>
                <a:gd name="T16" fmla="*/ 43 w 45"/>
                <a:gd name="T17" fmla="*/ 0 h 139"/>
                <a:gd name="T18" fmla="*/ 37 w 45"/>
                <a:gd name="T19" fmla="*/ 2 h 139"/>
                <a:gd name="T20" fmla="*/ 29 w 45"/>
                <a:gd name="T21" fmla="*/ 3 h 139"/>
                <a:gd name="T22" fmla="*/ 19 w 45"/>
                <a:gd name="T23" fmla="*/ 7 h 139"/>
                <a:gd name="T24" fmla="*/ 11 w 45"/>
                <a:gd name="T25" fmla="*/ 14 h 139"/>
                <a:gd name="T26" fmla="*/ 4 w 45"/>
                <a:gd name="T27" fmla="*/ 23 h 139"/>
                <a:gd name="T28" fmla="*/ 0 w 45"/>
                <a:gd name="T29" fmla="*/ 39 h 139"/>
                <a:gd name="T30" fmla="*/ 0 w 45"/>
                <a:gd name="T31" fmla="*/ 123 h 139"/>
                <a:gd name="T32" fmla="*/ 3 w 45"/>
                <a:gd name="T33" fmla="*/ 123 h 139"/>
                <a:gd name="T34" fmla="*/ 3 w 45"/>
                <a:gd name="T35" fmla="*/ 42 h 1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7" name="Freeform 10"/>
            <p:cNvSpPr>
              <a:spLocks/>
            </p:cNvSpPr>
            <p:nvPr/>
          </p:nvSpPr>
          <p:spPr bwMode="gray">
            <a:xfrm>
              <a:off x="1777" y="378"/>
              <a:ext cx="146" cy="211"/>
            </a:xfrm>
            <a:custGeom>
              <a:avLst/>
              <a:gdLst>
                <a:gd name="T0" fmla="*/ 68 w 146"/>
                <a:gd name="T1" fmla="*/ 67 h 211"/>
                <a:gd name="T2" fmla="*/ 67 w 146"/>
                <a:gd name="T3" fmla="*/ 67 h 211"/>
                <a:gd name="T4" fmla="*/ 60 w 146"/>
                <a:gd name="T5" fmla="*/ 66 h 211"/>
                <a:gd name="T6" fmla="*/ 50 w 146"/>
                <a:gd name="T7" fmla="*/ 64 h 211"/>
                <a:gd name="T8" fmla="*/ 41 w 146"/>
                <a:gd name="T9" fmla="*/ 62 h 211"/>
                <a:gd name="T10" fmla="*/ 29 w 146"/>
                <a:gd name="T11" fmla="*/ 55 h 211"/>
                <a:gd name="T12" fmla="*/ 18 w 146"/>
                <a:gd name="T13" fmla="*/ 47 h 211"/>
                <a:gd name="T14" fmla="*/ 10 w 146"/>
                <a:gd name="T15" fmla="*/ 35 h 211"/>
                <a:gd name="T16" fmla="*/ 3 w 146"/>
                <a:gd name="T17" fmla="*/ 20 h 211"/>
                <a:gd name="T18" fmla="*/ 0 w 146"/>
                <a:gd name="T19" fmla="*/ 0 h 211"/>
                <a:gd name="T20" fmla="*/ 3 w 146"/>
                <a:gd name="T21" fmla="*/ 0 h 211"/>
                <a:gd name="T22" fmla="*/ 10 w 146"/>
                <a:gd name="T23" fmla="*/ 0 h 211"/>
                <a:gd name="T24" fmla="*/ 19 w 146"/>
                <a:gd name="T25" fmla="*/ 0 h 211"/>
                <a:gd name="T26" fmla="*/ 30 w 146"/>
                <a:gd name="T27" fmla="*/ 2 h 211"/>
                <a:gd name="T28" fmla="*/ 41 w 146"/>
                <a:gd name="T29" fmla="*/ 6 h 211"/>
                <a:gd name="T30" fmla="*/ 53 w 146"/>
                <a:gd name="T31" fmla="*/ 14 h 211"/>
                <a:gd name="T32" fmla="*/ 62 w 146"/>
                <a:gd name="T33" fmla="*/ 25 h 211"/>
                <a:gd name="T34" fmla="*/ 69 w 146"/>
                <a:gd name="T35" fmla="*/ 41 h 211"/>
                <a:gd name="T36" fmla="*/ 73 w 146"/>
                <a:gd name="T37" fmla="*/ 62 h 211"/>
                <a:gd name="T38" fmla="*/ 73 w 146"/>
                <a:gd name="T39" fmla="*/ 60 h 211"/>
                <a:gd name="T40" fmla="*/ 73 w 146"/>
                <a:gd name="T41" fmla="*/ 55 h 211"/>
                <a:gd name="T42" fmla="*/ 75 w 146"/>
                <a:gd name="T43" fmla="*/ 45 h 211"/>
                <a:gd name="T44" fmla="*/ 79 w 146"/>
                <a:gd name="T45" fmla="*/ 36 h 211"/>
                <a:gd name="T46" fmla="*/ 84 w 146"/>
                <a:gd name="T47" fmla="*/ 25 h 211"/>
                <a:gd name="T48" fmla="*/ 92 w 146"/>
                <a:gd name="T49" fmla="*/ 16 h 211"/>
                <a:gd name="T50" fmla="*/ 106 w 146"/>
                <a:gd name="T51" fmla="*/ 8 h 211"/>
                <a:gd name="T52" fmla="*/ 123 w 146"/>
                <a:gd name="T53" fmla="*/ 2 h 211"/>
                <a:gd name="T54" fmla="*/ 146 w 146"/>
                <a:gd name="T55" fmla="*/ 0 h 211"/>
                <a:gd name="T56" fmla="*/ 145 w 146"/>
                <a:gd name="T57" fmla="*/ 2 h 211"/>
                <a:gd name="T58" fmla="*/ 145 w 146"/>
                <a:gd name="T59" fmla="*/ 8 h 211"/>
                <a:gd name="T60" fmla="*/ 143 w 146"/>
                <a:gd name="T61" fmla="*/ 17 h 211"/>
                <a:gd name="T62" fmla="*/ 139 w 146"/>
                <a:gd name="T63" fmla="*/ 28 h 211"/>
                <a:gd name="T64" fmla="*/ 134 w 146"/>
                <a:gd name="T65" fmla="*/ 39 h 211"/>
                <a:gd name="T66" fmla="*/ 126 w 146"/>
                <a:gd name="T67" fmla="*/ 49 h 211"/>
                <a:gd name="T68" fmla="*/ 114 w 146"/>
                <a:gd name="T69" fmla="*/ 59 h 211"/>
                <a:gd name="T70" fmla="*/ 98 w 146"/>
                <a:gd name="T71" fmla="*/ 64 h 211"/>
                <a:gd name="T72" fmla="*/ 79 w 146"/>
                <a:gd name="T73" fmla="*/ 67 h 211"/>
                <a:gd name="T74" fmla="*/ 79 w 146"/>
                <a:gd name="T75" fmla="*/ 211 h 211"/>
                <a:gd name="T76" fmla="*/ 68 w 146"/>
                <a:gd name="T77" fmla="*/ 211 h 211"/>
                <a:gd name="T78" fmla="*/ 68 w 146"/>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8" name="Freeform 11"/>
            <p:cNvSpPr>
              <a:spLocks/>
            </p:cNvSpPr>
            <p:nvPr/>
          </p:nvSpPr>
          <p:spPr bwMode="gray">
            <a:xfrm>
              <a:off x="2795" y="378"/>
              <a:ext cx="143" cy="211"/>
            </a:xfrm>
            <a:custGeom>
              <a:avLst/>
              <a:gdLst>
                <a:gd name="T0" fmla="*/ 67 w 144"/>
                <a:gd name="T1" fmla="*/ 67 h 211"/>
                <a:gd name="T2" fmla="*/ 66 w 144"/>
                <a:gd name="T3" fmla="*/ 67 h 211"/>
                <a:gd name="T4" fmla="*/ 59 w 144"/>
                <a:gd name="T5" fmla="*/ 66 h 211"/>
                <a:gd name="T6" fmla="*/ 50 w 144"/>
                <a:gd name="T7" fmla="*/ 64 h 211"/>
                <a:gd name="T8" fmla="*/ 39 w 144"/>
                <a:gd name="T9" fmla="*/ 62 h 211"/>
                <a:gd name="T10" fmla="*/ 28 w 144"/>
                <a:gd name="T11" fmla="*/ 55 h 211"/>
                <a:gd name="T12" fmla="*/ 17 w 144"/>
                <a:gd name="T13" fmla="*/ 47 h 211"/>
                <a:gd name="T14" fmla="*/ 9 w 144"/>
                <a:gd name="T15" fmla="*/ 35 h 211"/>
                <a:gd name="T16" fmla="*/ 2 w 144"/>
                <a:gd name="T17" fmla="*/ 20 h 211"/>
                <a:gd name="T18" fmla="*/ 0 w 144"/>
                <a:gd name="T19" fmla="*/ 0 h 211"/>
                <a:gd name="T20" fmla="*/ 2 w 144"/>
                <a:gd name="T21" fmla="*/ 0 h 211"/>
                <a:gd name="T22" fmla="*/ 9 w 144"/>
                <a:gd name="T23" fmla="*/ 0 h 211"/>
                <a:gd name="T24" fmla="*/ 17 w 144"/>
                <a:gd name="T25" fmla="*/ 0 h 211"/>
                <a:gd name="T26" fmla="*/ 28 w 144"/>
                <a:gd name="T27" fmla="*/ 2 h 211"/>
                <a:gd name="T28" fmla="*/ 40 w 144"/>
                <a:gd name="T29" fmla="*/ 6 h 211"/>
                <a:gd name="T30" fmla="*/ 51 w 144"/>
                <a:gd name="T31" fmla="*/ 14 h 211"/>
                <a:gd name="T32" fmla="*/ 62 w 144"/>
                <a:gd name="T33" fmla="*/ 25 h 211"/>
                <a:gd name="T34" fmla="*/ 69 w 144"/>
                <a:gd name="T35" fmla="*/ 41 h 211"/>
                <a:gd name="T36" fmla="*/ 72 w 144"/>
                <a:gd name="T37" fmla="*/ 62 h 211"/>
                <a:gd name="T38" fmla="*/ 72 w 144"/>
                <a:gd name="T39" fmla="*/ 60 h 211"/>
                <a:gd name="T40" fmla="*/ 72 w 144"/>
                <a:gd name="T41" fmla="*/ 55 h 211"/>
                <a:gd name="T42" fmla="*/ 72 w 144"/>
                <a:gd name="T43" fmla="*/ 45 h 211"/>
                <a:gd name="T44" fmla="*/ 72 w 144"/>
                <a:gd name="T45" fmla="*/ 36 h 211"/>
                <a:gd name="T46" fmla="*/ 72 w 144"/>
                <a:gd name="T47" fmla="*/ 25 h 211"/>
                <a:gd name="T48" fmla="*/ 75 w 144"/>
                <a:gd name="T49" fmla="*/ 16 h 211"/>
                <a:gd name="T50" fmla="*/ 89 w 144"/>
                <a:gd name="T51" fmla="*/ 8 h 211"/>
                <a:gd name="T52" fmla="*/ 105 w 144"/>
                <a:gd name="T53" fmla="*/ 2 h 211"/>
                <a:gd name="T54" fmla="*/ 128 w 144"/>
                <a:gd name="T55" fmla="*/ 0 h 211"/>
                <a:gd name="T56" fmla="*/ 128 w 144"/>
                <a:gd name="T57" fmla="*/ 2 h 211"/>
                <a:gd name="T58" fmla="*/ 128 w 144"/>
                <a:gd name="T59" fmla="*/ 8 h 211"/>
                <a:gd name="T60" fmla="*/ 125 w 144"/>
                <a:gd name="T61" fmla="*/ 17 h 211"/>
                <a:gd name="T62" fmla="*/ 123 w 144"/>
                <a:gd name="T63" fmla="*/ 28 h 211"/>
                <a:gd name="T64" fmla="*/ 117 w 144"/>
                <a:gd name="T65" fmla="*/ 39 h 211"/>
                <a:gd name="T66" fmla="*/ 109 w 144"/>
                <a:gd name="T67" fmla="*/ 49 h 211"/>
                <a:gd name="T68" fmla="*/ 97 w 144"/>
                <a:gd name="T69" fmla="*/ 59 h 211"/>
                <a:gd name="T70" fmla="*/ 81 w 144"/>
                <a:gd name="T71" fmla="*/ 64 h 211"/>
                <a:gd name="T72" fmla="*/ 72 w 144"/>
                <a:gd name="T73" fmla="*/ 67 h 211"/>
                <a:gd name="T74" fmla="*/ 72 w 144"/>
                <a:gd name="T75" fmla="*/ 211 h 211"/>
                <a:gd name="T76" fmla="*/ 67 w 144"/>
                <a:gd name="T77" fmla="*/ 211 h 211"/>
                <a:gd name="T78" fmla="*/ 67 w 144"/>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9" name="Freeform 12"/>
            <p:cNvSpPr>
              <a:spLocks/>
            </p:cNvSpPr>
            <p:nvPr/>
          </p:nvSpPr>
          <p:spPr bwMode="gray">
            <a:xfrm>
              <a:off x="2634" y="457"/>
              <a:ext cx="88" cy="132"/>
            </a:xfrm>
            <a:custGeom>
              <a:avLst/>
              <a:gdLst>
                <a:gd name="T0" fmla="*/ 42 w 89"/>
                <a:gd name="T1" fmla="*/ 43 h 132"/>
                <a:gd name="T2" fmla="*/ 39 w 89"/>
                <a:gd name="T3" fmla="*/ 42 h 132"/>
                <a:gd name="T4" fmla="*/ 33 w 89"/>
                <a:gd name="T5" fmla="*/ 42 h 132"/>
                <a:gd name="T6" fmla="*/ 25 w 89"/>
                <a:gd name="T7" fmla="*/ 39 h 132"/>
                <a:gd name="T8" fmla="*/ 16 w 89"/>
                <a:gd name="T9" fmla="*/ 35 h 132"/>
                <a:gd name="T10" fmla="*/ 8 w 89"/>
                <a:gd name="T11" fmla="*/ 27 h 132"/>
                <a:gd name="T12" fmla="*/ 2 w 89"/>
                <a:gd name="T13" fmla="*/ 16 h 132"/>
                <a:gd name="T14" fmla="*/ 0 w 89"/>
                <a:gd name="T15" fmla="*/ 0 h 132"/>
                <a:gd name="T16" fmla="*/ 2 w 89"/>
                <a:gd name="T17" fmla="*/ 0 h 132"/>
                <a:gd name="T18" fmla="*/ 6 w 89"/>
                <a:gd name="T19" fmla="*/ 0 h 132"/>
                <a:gd name="T20" fmla="*/ 12 w 89"/>
                <a:gd name="T21" fmla="*/ 1 h 132"/>
                <a:gd name="T22" fmla="*/ 21 w 89"/>
                <a:gd name="T23" fmla="*/ 3 h 132"/>
                <a:gd name="T24" fmla="*/ 29 w 89"/>
                <a:gd name="T25" fmla="*/ 8 h 132"/>
                <a:gd name="T26" fmla="*/ 37 w 89"/>
                <a:gd name="T27" fmla="*/ 15 h 132"/>
                <a:gd name="T28" fmla="*/ 42 w 89"/>
                <a:gd name="T29" fmla="*/ 26 h 132"/>
                <a:gd name="T30" fmla="*/ 44 w 89"/>
                <a:gd name="T31" fmla="*/ 39 h 132"/>
                <a:gd name="T32" fmla="*/ 44 w 89"/>
                <a:gd name="T33" fmla="*/ 38 h 132"/>
                <a:gd name="T34" fmla="*/ 44 w 89"/>
                <a:gd name="T35" fmla="*/ 34 h 132"/>
                <a:gd name="T36" fmla="*/ 44 w 89"/>
                <a:gd name="T37" fmla="*/ 27 h 132"/>
                <a:gd name="T38" fmla="*/ 44 w 89"/>
                <a:gd name="T39" fmla="*/ 20 h 132"/>
                <a:gd name="T40" fmla="*/ 44 w 89"/>
                <a:gd name="T41" fmla="*/ 14 h 132"/>
                <a:gd name="T42" fmla="*/ 46 w 89"/>
                <a:gd name="T43" fmla="*/ 7 h 132"/>
                <a:gd name="T44" fmla="*/ 57 w 89"/>
                <a:gd name="T45" fmla="*/ 3 h 132"/>
                <a:gd name="T46" fmla="*/ 73 w 89"/>
                <a:gd name="T47" fmla="*/ 0 h 132"/>
                <a:gd name="T48" fmla="*/ 73 w 89"/>
                <a:gd name="T49" fmla="*/ 3 h 132"/>
                <a:gd name="T50" fmla="*/ 72 w 89"/>
                <a:gd name="T51" fmla="*/ 10 h 132"/>
                <a:gd name="T52" fmla="*/ 71 w 89"/>
                <a:gd name="T53" fmla="*/ 18 h 132"/>
                <a:gd name="T54" fmla="*/ 65 w 89"/>
                <a:gd name="T55" fmla="*/ 26 h 132"/>
                <a:gd name="T56" fmla="*/ 58 w 89"/>
                <a:gd name="T57" fmla="*/ 34 h 132"/>
                <a:gd name="T58" fmla="*/ 48 w 89"/>
                <a:gd name="T59" fmla="*/ 41 h 132"/>
                <a:gd name="T60" fmla="*/ 44 w 89"/>
                <a:gd name="T61" fmla="*/ 43 h 132"/>
                <a:gd name="T62" fmla="*/ 44 w 89"/>
                <a:gd name="T63" fmla="*/ 132 h 132"/>
                <a:gd name="T64" fmla="*/ 42 w 89"/>
                <a:gd name="T65" fmla="*/ 132 h 132"/>
                <a:gd name="T66" fmla="*/ 42 w 89"/>
                <a:gd name="T67" fmla="*/ 43 h 1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0" name="Freeform 13"/>
            <p:cNvSpPr>
              <a:spLocks/>
            </p:cNvSpPr>
            <p:nvPr/>
          </p:nvSpPr>
          <p:spPr bwMode="gray">
            <a:xfrm>
              <a:off x="2433" y="405"/>
              <a:ext cx="88" cy="186"/>
            </a:xfrm>
            <a:custGeom>
              <a:avLst/>
              <a:gdLst>
                <a:gd name="T0" fmla="*/ 43 w 88"/>
                <a:gd name="T1" fmla="*/ 43 h 186"/>
                <a:gd name="T2" fmla="*/ 41 w 88"/>
                <a:gd name="T3" fmla="*/ 43 h 186"/>
                <a:gd name="T4" fmla="*/ 35 w 88"/>
                <a:gd name="T5" fmla="*/ 43 h 186"/>
                <a:gd name="T6" fmla="*/ 27 w 88"/>
                <a:gd name="T7" fmla="*/ 41 h 186"/>
                <a:gd name="T8" fmla="*/ 18 w 88"/>
                <a:gd name="T9" fmla="*/ 35 h 186"/>
                <a:gd name="T10" fmla="*/ 8 w 88"/>
                <a:gd name="T11" fmla="*/ 28 h 186"/>
                <a:gd name="T12" fmla="*/ 3 w 88"/>
                <a:gd name="T13" fmla="*/ 16 h 186"/>
                <a:gd name="T14" fmla="*/ 0 w 88"/>
                <a:gd name="T15" fmla="*/ 0 h 186"/>
                <a:gd name="T16" fmla="*/ 3 w 88"/>
                <a:gd name="T17" fmla="*/ 0 h 186"/>
                <a:gd name="T18" fmla="*/ 8 w 88"/>
                <a:gd name="T19" fmla="*/ 0 h 186"/>
                <a:gd name="T20" fmla="*/ 17 w 88"/>
                <a:gd name="T21" fmla="*/ 1 h 186"/>
                <a:gd name="T22" fmla="*/ 26 w 88"/>
                <a:gd name="T23" fmla="*/ 6 h 186"/>
                <a:gd name="T24" fmla="*/ 35 w 88"/>
                <a:gd name="T25" fmla="*/ 12 h 186"/>
                <a:gd name="T26" fmla="*/ 42 w 88"/>
                <a:gd name="T27" fmla="*/ 24 h 186"/>
                <a:gd name="T28" fmla="*/ 48 w 88"/>
                <a:gd name="T29" fmla="*/ 41 h 186"/>
                <a:gd name="T30" fmla="*/ 48 w 88"/>
                <a:gd name="T31" fmla="*/ 90 h 186"/>
                <a:gd name="T32" fmla="*/ 48 w 88"/>
                <a:gd name="T33" fmla="*/ 88 h 186"/>
                <a:gd name="T34" fmla="*/ 48 w 88"/>
                <a:gd name="T35" fmla="*/ 82 h 186"/>
                <a:gd name="T36" fmla="*/ 50 w 88"/>
                <a:gd name="T37" fmla="*/ 74 h 186"/>
                <a:gd name="T38" fmla="*/ 54 w 88"/>
                <a:gd name="T39" fmla="*/ 66 h 186"/>
                <a:gd name="T40" fmla="*/ 61 w 88"/>
                <a:gd name="T41" fmla="*/ 58 h 186"/>
                <a:gd name="T42" fmla="*/ 72 w 88"/>
                <a:gd name="T43" fmla="*/ 53 h 186"/>
                <a:gd name="T44" fmla="*/ 87 w 88"/>
                <a:gd name="T45" fmla="*/ 50 h 186"/>
                <a:gd name="T46" fmla="*/ 88 w 88"/>
                <a:gd name="T47" fmla="*/ 51 h 186"/>
                <a:gd name="T48" fmla="*/ 88 w 88"/>
                <a:gd name="T49" fmla="*/ 57 h 186"/>
                <a:gd name="T50" fmla="*/ 87 w 88"/>
                <a:gd name="T51" fmla="*/ 64 h 186"/>
                <a:gd name="T52" fmla="*/ 84 w 88"/>
                <a:gd name="T53" fmla="*/ 72 h 186"/>
                <a:gd name="T54" fmla="*/ 80 w 88"/>
                <a:gd name="T55" fmla="*/ 80 h 186"/>
                <a:gd name="T56" fmla="*/ 73 w 88"/>
                <a:gd name="T57" fmla="*/ 86 h 186"/>
                <a:gd name="T58" fmla="*/ 62 w 88"/>
                <a:gd name="T59" fmla="*/ 92 h 186"/>
                <a:gd name="T60" fmla="*/ 48 w 88"/>
                <a:gd name="T61" fmla="*/ 93 h 186"/>
                <a:gd name="T62" fmla="*/ 48 w 88"/>
                <a:gd name="T63" fmla="*/ 186 h 186"/>
                <a:gd name="T64" fmla="*/ 43 w 88"/>
                <a:gd name="T65" fmla="*/ 186 h 186"/>
                <a:gd name="T66" fmla="*/ 43 w 88"/>
                <a:gd name="T67" fmla="*/ 143 h 186"/>
                <a:gd name="T68" fmla="*/ 42 w 88"/>
                <a:gd name="T69" fmla="*/ 143 h 186"/>
                <a:gd name="T70" fmla="*/ 37 w 88"/>
                <a:gd name="T71" fmla="*/ 142 h 186"/>
                <a:gd name="T72" fmla="*/ 29 w 88"/>
                <a:gd name="T73" fmla="*/ 140 h 186"/>
                <a:gd name="T74" fmla="*/ 22 w 88"/>
                <a:gd name="T75" fmla="*/ 136 h 186"/>
                <a:gd name="T76" fmla="*/ 14 w 88"/>
                <a:gd name="T77" fmla="*/ 130 h 186"/>
                <a:gd name="T78" fmla="*/ 8 w 88"/>
                <a:gd name="T79" fmla="*/ 120 h 186"/>
                <a:gd name="T80" fmla="*/ 7 w 88"/>
                <a:gd name="T81" fmla="*/ 105 h 186"/>
                <a:gd name="T82" fmla="*/ 8 w 88"/>
                <a:gd name="T83" fmla="*/ 105 h 186"/>
                <a:gd name="T84" fmla="*/ 12 w 88"/>
                <a:gd name="T85" fmla="*/ 107 h 186"/>
                <a:gd name="T86" fmla="*/ 19 w 88"/>
                <a:gd name="T87" fmla="*/ 108 h 186"/>
                <a:gd name="T88" fmla="*/ 26 w 88"/>
                <a:gd name="T89" fmla="*/ 111 h 186"/>
                <a:gd name="T90" fmla="*/ 34 w 88"/>
                <a:gd name="T91" fmla="*/ 117 h 186"/>
                <a:gd name="T92" fmla="*/ 39 w 88"/>
                <a:gd name="T93" fmla="*/ 127 h 186"/>
                <a:gd name="T94" fmla="*/ 43 w 88"/>
                <a:gd name="T95" fmla="*/ 140 h 186"/>
                <a:gd name="T96" fmla="*/ 43 w 88"/>
                <a:gd name="T97" fmla="*/ 43 h 1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1" name="Freeform 14"/>
            <p:cNvSpPr>
              <a:spLocks/>
            </p:cNvSpPr>
            <p:nvPr/>
          </p:nvSpPr>
          <p:spPr bwMode="gray">
            <a:xfrm>
              <a:off x="1917" y="238"/>
              <a:ext cx="164" cy="357"/>
            </a:xfrm>
            <a:custGeom>
              <a:avLst/>
              <a:gdLst>
                <a:gd name="T0" fmla="*/ 69 w 166"/>
                <a:gd name="T1" fmla="*/ 84 h 356"/>
                <a:gd name="T2" fmla="*/ 85 w 166"/>
                <a:gd name="T3" fmla="*/ 81 h 356"/>
                <a:gd name="T4" fmla="*/ 108 w 166"/>
                <a:gd name="T5" fmla="*/ 73 h 356"/>
                <a:gd name="T6" fmla="*/ 120 w 166"/>
                <a:gd name="T7" fmla="*/ 56 h 356"/>
                <a:gd name="T8" fmla="*/ 131 w 166"/>
                <a:gd name="T9" fmla="*/ 23 h 356"/>
                <a:gd name="T10" fmla="*/ 131 w 166"/>
                <a:gd name="T11" fmla="*/ 0 h 356"/>
                <a:gd name="T12" fmla="*/ 120 w 166"/>
                <a:gd name="T13" fmla="*/ 0 h 356"/>
                <a:gd name="T14" fmla="*/ 108 w 166"/>
                <a:gd name="T15" fmla="*/ 6 h 356"/>
                <a:gd name="T16" fmla="*/ 85 w 166"/>
                <a:gd name="T17" fmla="*/ 22 h 356"/>
                <a:gd name="T18" fmla="*/ 66 w 166"/>
                <a:gd name="T19" fmla="*/ 54 h 356"/>
                <a:gd name="T20" fmla="*/ 61 w 166"/>
                <a:gd name="T21" fmla="*/ 173 h 356"/>
                <a:gd name="T22" fmla="*/ 61 w 166"/>
                <a:gd name="T23" fmla="*/ 165 h 356"/>
                <a:gd name="T24" fmla="*/ 55 w 166"/>
                <a:gd name="T25" fmla="*/ 146 h 356"/>
                <a:gd name="T26" fmla="*/ 44 w 166"/>
                <a:gd name="T27" fmla="*/ 123 h 356"/>
                <a:gd name="T28" fmla="*/ 38 w 166"/>
                <a:gd name="T29" fmla="*/ 104 h 356"/>
                <a:gd name="T30" fmla="*/ 0 w 166"/>
                <a:gd name="T31" fmla="*/ 96 h 356"/>
                <a:gd name="T32" fmla="*/ 0 w 166"/>
                <a:gd name="T33" fmla="*/ 103 h 356"/>
                <a:gd name="T34" fmla="*/ 0 w 166"/>
                <a:gd name="T35" fmla="*/ 120 h 356"/>
                <a:gd name="T36" fmla="*/ 8 w 166"/>
                <a:gd name="T37" fmla="*/ 143 h 356"/>
                <a:gd name="T38" fmla="*/ 24 w 166"/>
                <a:gd name="T39" fmla="*/ 163 h 356"/>
                <a:gd name="T40" fmla="*/ 41 w 166"/>
                <a:gd name="T41" fmla="*/ 177 h 356"/>
                <a:gd name="T42" fmla="*/ 61 w 166"/>
                <a:gd name="T43" fmla="*/ 372 h 356"/>
                <a:gd name="T44" fmla="*/ 66 w 166"/>
                <a:gd name="T45" fmla="*/ 290 h 356"/>
                <a:gd name="T46" fmla="*/ 75 w 166"/>
                <a:gd name="T47" fmla="*/ 289 h 356"/>
                <a:gd name="T48" fmla="*/ 96 w 166"/>
                <a:gd name="T49" fmla="*/ 283 h 356"/>
                <a:gd name="T50" fmla="*/ 113 w 166"/>
                <a:gd name="T51" fmla="*/ 268 h 356"/>
                <a:gd name="T52" fmla="*/ 121 w 166"/>
                <a:gd name="T53" fmla="*/ 240 h 356"/>
                <a:gd name="T54" fmla="*/ 122 w 166"/>
                <a:gd name="T55" fmla="*/ 219 h 356"/>
                <a:gd name="T56" fmla="*/ 114 w 166"/>
                <a:gd name="T57" fmla="*/ 220 h 356"/>
                <a:gd name="T58" fmla="*/ 101 w 166"/>
                <a:gd name="T59" fmla="*/ 227 h 356"/>
                <a:gd name="T60" fmla="*/ 81 w 166"/>
                <a:gd name="T61" fmla="*/ 247 h 356"/>
                <a:gd name="T62" fmla="*/ 66 w 166"/>
                <a:gd name="T63" fmla="*/ 283 h 3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2" name="Freeform 15"/>
            <p:cNvSpPr>
              <a:spLocks/>
            </p:cNvSpPr>
            <p:nvPr/>
          </p:nvSpPr>
          <p:spPr bwMode="gray">
            <a:xfrm>
              <a:off x="2515" y="384"/>
              <a:ext cx="93" cy="209"/>
            </a:xfrm>
            <a:custGeom>
              <a:avLst/>
              <a:gdLst>
                <a:gd name="T0" fmla="*/ 43 w 92"/>
                <a:gd name="T1" fmla="*/ 146 h 210"/>
                <a:gd name="T2" fmla="*/ 36 w 92"/>
                <a:gd name="T3" fmla="*/ 144 h 210"/>
                <a:gd name="T4" fmla="*/ 23 w 92"/>
                <a:gd name="T5" fmla="*/ 139 h 210"/>
                <a:gd name="T6" fmla="*/ 12 w 92"/>
                <a:gd name="T7" fmla="*/ 125 h 210"/>
                <a:gd name="T8" fmla="*/ 12 w 92"/>
                <a:gd name="T9" fmla="*/ 113 h 210"/>
                <a:gd name="T10" fmla="*/ 23 w 92"/>
                <a:gd name="T11" fmla="*/ 116 h 210"/>
                <a:gd name="T12" fmla="*/ 38 w 92"/>
                <a:gd name="T13" fmla="*/ 129 h 210"/>
                <a:gd name="T14" fmla="*/ 43 w 92"/>
                <a:gd name="T15" fmla="*/ 105 h 210"/>
                <a:gd name="T16" fmla="*/ 35 w 92"/>
                <a:gd name="T17" fmla="*/ 105 h 210"/>
                <a:gd name="T18" fmla="*/ 20 w 92"/>
                <a:gd name="T19" fmla="*/ 101 h 210"/>
                <a:gd name="T20" fmla="*/ 7 w 92"/>
                <a:gd name="T21" fmla="*/ 83 h 210"/>
                <a:gd name="T22" fmla="*/ 7 w 92"/>
                <a:gd name="T23" fmla="*/ 70 h 210"/>
                <a:gd name="T24" fmla="*/ 17 w 92"/>
                <a:gd name="T25" fmla="*/ 71 h 210"/>
                <a:gd name="T26" fmla="*/ 31 w 92"/>
                <a:gd name="T27" fmla="*/ 81 h 210"/>
                <a:gd name="T28" fmla="*/ 43 w 92"/>
                <a:gd name="T29" fmla="*/ 105 h 210"/>
                <a:gd name="T30" fmla="*/ 40 w 92"/>
                <a:gd name="T31" fmla="*/ 43 h 210"/>
                <a:gd name="T32" fmla="*/ 26 w 92"/>
                <a:gd name="T33" fmla="*/ 39 h 210"/>
                <a:gd name="T34" fmla="*/ 8 w 92"/>
                <a:gd name="T35" fmla="*/ 27 h 210"/>
                <a:gd name="T36" fmla="*/ 0 w 92"/>
                <a:gd name="T37" fmla="*/ 0 h 210"/>
                <a:gd name="T38" fmla="*/ 7 w 92"/>
                <a:gd name="T39" fmla="*/ 0 h 210"/>
                <a:gd name="T40" fmla="*/ 23 w 92"/>
                <a:gd name="T41" fmla="*/ 5 h 210"/>
                <a:gd name="T42" fmla="*/ 39 w 92"/>
                <a:gd name="T43" fmla="*/ 23 h 210"/>
                <a:gd name="T44" fmla="*/ 62 w 92"/>
                <a:gd name="T45" fmla="*/ 38 h 210"/>
                <a:gd name="T46" fmla="*/ 67 w 92"/>
                <a:gd name="T47" fmla="*/ 24 h 210"/>
                <a:gd name="T48" fmla="*/ 82 w 92"/>
                <a:gd name="T49" fmla="*/ 8 h 210"/>
                <a:gd name="T50" fmla="*/ 108 w 92"/>
                <a:gd name="T51" fmla="*/ 0 h 210"/>
                <a:gd name="T52" fmla="*/ 106 w 92"/>
                <a:gd name="T53" fmla="*/ 8 h 210"/>
                <a:gd name="T54" fmla="*/ 98 w 92"/>
                <a:gd name="T55" fmla="*/ 25 h 210"/>
                <a:gd name="T56" fmla="*/ 79 w 92"/>
                <a:gd name="T57" fmla="*/ 40 h 210"/>
                <a:gd name="T58" fmla="*/ 65 w 92"/>
                <a:gd name="T59" fmla="*/ 108 h 210"/>
                <a:gd name="T60" fmla="*/ 66 w 92"/>
                <a:gd name="T61" fmla="*/ 105 h 210"/>
                <a:gd name="T62" fmla="*/ 75 w 92"/>
                <a:gd name="T63" fmla="*/ 100 h 210"/>
                <a:gd name="T64" fmla="*/ 97 w 92"/>
                <a:gd name="T65" fmla="*/ 92 h 210"/>
                <a:gd name="T66" fmla="*/ 96 w 92"/>
                <a:gd name="T67" fmla="*/ 98 h 210"/>
                <a:gd name="T68" fmla="*/ 89 w 92"/>
                <a:gd name="T69" fmla="*/ 105 h 210"/>
                <a:gd name="T70" fmla="*/ 75 w 92"/>
                <a:gd name="T71" fmla="*/ 111 h 210"/>
                <a:gd name="T72" fmla="*/ 65 w 92"/>
                <a:gd name="T73" fmla="*/ 194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3" name="Freeform 16"/>
            <p:cNvSpPr>
              <a:spLocks/>
            </p:cNvSpPr>
            <p:nvPr/>
          </p:nvSpPr>
          <p:spPr bwMode="gray">
            <a:xfrm>
              <a:off x="1567" y="302"/>
              <a:ext cx="128" cy="293"/>
            </a:xfrm>
            <a:custGeom>
              <a:avLst/>
              <a:gdLst>
                <a:gd name="T0" fmla="*/ 61 w 128"/>
                <a:gd name="T1" fmla="*/ 241 h 292"/>
                <a:gd name="T2" fmla="*/ 54 w 128"/>
                <a:gd name="T3" fmla="*/ 241 h 292"/>
                <a:gd name="T4" fmla="*/ 38 w 128"/>
                <a:gd name="T5" fmla="*/ 235 h 292"/>
                <a:gd name="T6" fmla="*/ 23 w 128"/>
                <a:gd name="T7" fmla="*/ 222 h 292"/>
                <a:gd name="T8" fmla="*/ 15 w 128"/>
                <a:gd name="T9" fmla="*/ 196 h 292"/>
                <a:gd name="T10" fmla="*/ 23 w 128"/>
                <a:gd name="T11" fmla="*/ 196 h 292"/>
                <a:gd name="T12" fmla="*/ 38 w 128"/>
                <a:gd name="T13" fmla="*/ 202 h 292"/>
                <a:gd name="T14" fmla="*/ 54 w 128"/>
                <a:gd name="T15" fmla="*/ 221 h 292"/>
                <a:gd name="T16" fmla="*/ 61 w 128"/>
                <a:gd name="T17" fmla="*/ 167 h 292"/>
                <a:gd name="T18" fmla="*/ 52 w 128"/>
                <a:gd name="T19" fmla="*/ 165 h 292"/>
                <a:gd name="T20" fmla="*/ 34 w 128"/>
                <a:gd name="T21" fmla="*/ 144 h 292"/>
                <a:gd name="T22" fmla="*/ 16 w 128"/>
                <a:gd name="T23" fmla="*/ 128 h 292"/>
                <a:gd name="T24" fmla="*/ 8 w 128"/>
                <a:gd name="T25" fmla="*/ 98 h 292"/>
                <a:gd name="T26" fmla="*/ 15 w 128"/>
                <a:gd name="T27" fmla="*/ 97 h 292"/>
                <a:gd name="T28" fmla="*/ 29 w 128"/>
                <a:gd name="T29" fmla="*/ 101 h 292"/>
                <a:gd name="T30" fmla="*/ 47 w 128"/>
                <a:gd name="T31" fmla="*/ 116 h 292"/>
                <a:gd name="T32" fmla="*/ 61 w 128"/>
                <a:gd name="T33" fmla="*/ 163 h 292"/>
                <a:gd name="T34" fmla="*/ 58 w 128"/>
                <a:gd name="T35" fmla="*/ 60 h 292"/>
                <a:gd name="T36" fmla="*/ 44 w 128"/>
                <a:gd name="T37" fmla="*/ 58 h 292"/>
                <a:gd name="T38" fmla="*/ 25 w 128"/>
                <a:gd name="T39" fmla="*/ 50 h 292"/>
                <a:gd name="T40" fmla="*/ 8 w 128"/>
                <a:gd name="T41" fmla="*/ 32 h 292"/>
                <a:gd name="T42" fmla="*/ 0 w 128"/>
                <a:gd name="T43" fmla="*/ 0 h 292"/>
                <a:gd name="T44" fmla="*/ 8 w 128"/>
                <a:gd name="T45" fmla="*/ 0 h 292"/>
                <a:gd name="T46" fmla="*/ 27 w 128"/>
                <a:gd name="T47" fmla="*/ 5 h 292"/>
                <a:gd name="T48" fmla="*/ 48 w 128"/>
                <a:gd name="T49" fmla="*/ 21 h 292"/>
                <a:gd name="T50" fmla="*/ 65 w 128"/>
                <a:gd name="T51" fmla="*/ 56 h 292"/>
                <a:gd name="T52" fmla="*/ 66 w 128"/>
                <a:gd name="T53" fmla="*/ 48 h 292"/>
                <a:gd name="T54" fmla="*/ 77 w 128"/>
                <a:gd name="T55" fmla="*/ 28 h 292"/>
                <a:gd name="T56" fmla="*/ 96 w 128"/>
                <a:gd name="T57" fmla="*/ 9 h 292"/>
                <a:gd name="T58" fmla="*/ 128 w 128"/>
                <a:gd name="T59" fmla="*/ 0 h 292"/>
                <a:gd name="T60" fmla="*/ 127 w 128"/>
                <a:gd name="T61" fmla="*/ 9 h 292"/>
                <a:gd name="T62" fmla="*/ 119 w 128"/>
                <a:gd name="T63" fmla="*/ 31 h 292"/>
                <a:gd name="T64" fmla="*/ 101 w 128"/>
                <a:gd name="T65" fmla="*/ 51 h 292"/>
                <a:gd name="T66" fmla="*/ 67 w 128"/>
                <a:gd name="T67" fmla="*/ 60 h 292"/>
                <a:gd name="T68" fmla="*/ 69 w 128"/>
                <a:gd name="T69" fmla="*/ 186 h 292"/>
                <a:gd name="T70" fmla="*/ 73 w 128"/>
                <a:gd name="T71" fmla="*/ 171 h 292"/>
                <a:gd name="T72" fmla="*/ 86 w 128"/>
                <a:gd name="T73" fmla="*/ 136 h 292"/>
                <a:gd name="T74" fmla="*/ 113 w 128"/>
                <a:gd name="T75" fmla="*/ 128 h 292"/>
                <a:gd name="T76" fmla="*/ 112 w 128"/>
                <a:gd name="T77" fmla="*/ 136 h 292"/>
                <a:gd name="T78" fmla="*/ 105 w 128"/>
                <a:gd name="T79" fmla="*/ 169 h 292"/>
                <a:gd name="T80" fmla="*/ 92 w 128"/>
                <a:gd name="T81" fmla="*/ 188 h 292"/>
                <a:gd name="T82" fmla="*/ 67 w 128"/>
                <a:gd name="T83" fmla="*/ 196 h 292"/>
                <a:gd name="T84" fmla="*/ 61 w 128"/>
                <a:gd name="T85" fmla="*/ 308 h 2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4" name="Freeform 17"/>
            <p:cNvSpPr>
              <a:spLocks/>
            </p:cNvSpPr>
            <p:nvPr/>
          </p:nvSpPr>
          <p:spPr bwMode="gray">
            <a:xfrm>
              <a:off x="2599" y="339"/>
              <a:ext cx="68" cy="254"/>
            </a:xfrm>
            <a:custGeom>
              <a:avLst/>
              <a:gdLst>
                <a:gd name="T0" fmla="*/ 31 w 68"/>
                <a:gd name="T1" fmla="*/ 132 h 257"/>
                <a:gd name="T2" fmla="*/ 23 w 68"/>
                <a:gd name="T3" fmla="*/ 131 h 257"/>
                <a:gd name="T4" fmla="*/ 8 w 68"/>
                <a:gd name="T5" fmla="*/ 125 h 257"/>
                <a:gd name="T6" fmla="*/ 0 w 68"/>
                <a:gd name="T7" fmla="*/ 114 h 257"/>
                <a:gd name="T8" fmla="*/ 7 w 68"/>
                <a:gd name="T9" fmla="*/ 114 h 257"/>
                <a:gd name="T10" fmla="*/ 22 w 68"/>
                <a:gd name="T11" fmla="*/ 117 h 257"/>
                <a:gd name="T12" fmla="*/ 31 w 68"/>
                <a:gd name="T13" fmla="*/ 128 h 257"/>
                <a:gd name="T14" fmla="*/ 29 w 68"/>
                <a:gd name="T15" fmla="*/ 85 h 257"/>
                <a:gd name="T16" fmla="*/ 16 w 68"/>
                <a:gd name="T17" fmla="*/ 81 h 257"/>
                <a:gd name="T18" fmla="*/ 3 w 68"/>
                <a:gd name="T19" fmla="*/ 67 h 257"/>
                <a:gd name="T20" fmla="*/ 3 w 68"/>
                <a:gd name="T21" fmla="*/ 54 h 257"/>
                <a:gd name="T22" fmla="*/ 15 w 68"/>
                <a:gd name="T23" fmla="*/ 58 h 257"/>
                <a:gd name="T24" fmla="*/ 27 w 68"/>
                <a:gd name="T25" fmla="*/ 70 h 257"/>
                <a:gd name="T26" fmla="*/ 31 w 68"/>
                <a:gd name="T27" fmla="*/ 31 h 257"/>
                <a:gd name="T28" fmla="*/ 33 w 68"/>
                <a:gd name="T29" fmla="*/ 23 h 257"/>
                <a:gd name="T30" fmla="*/ 41 w 68"/>
                <a:gd name="T31" fmla="*/ 8 h 257"/>
                <a:gd name="T32" fmla="*/ 62 w 68"/>
                <a:gd name="T33" fmla="*/ 0 h 257"/>
                <a:gd name="T34" fmla="*/ 61 w 68"/>
                <a:gd name="T35" fmla="*/ 8 h 257"/>
                <a:gd name="T36" fmla="*/ 53 w 68"/>
                <a:gd name="T37" fmla="*/ 23 h 257"/>
                <a:gd name="T38" fmla="*/ 35 w 68"/>
                <a:gd name="T39" fmla="*/ 31 h 257"/>
                <a:gd name="T40" fmla="*/ 35 w 68"/>
                <a:gd name="T41" fmla="*/ 59 h 257"/>
                <a:gd name="T42" fmla="*/ 39 w 68"/>
                <a:gd name="T43" fmla="*/ 46 h 257"/>
                <a:gd name="T44" fmla="*/ 54 w 68"/>
                <a:gd name="T45" fmla="*/ 42 h 257"/>
                <a:gd name="T46" fmla="*/ 68 w 68"/>
                <a:gd name="T47" fmla="*/ 42 h 257"/>
                <a:gd name="T48" fmla="*/ 66 w 68"/>
                <a:gd name="T49" fmla="*/ 43 h 257"/>
                <a:gd name="T50" fmla="*/ 58 w 68"/>
                <a:gd name="T51" fmla="*/ 56 h 257"/>
                <a:gd name="T52" fmla="*/ 35 w 68"/>
                <a:gd name="T53" fmla="*/ 66 h 257"/>
                <a:gd name="T54" fmla="*/ 35 w 68"/>
                <a:gd name="T55" fmla="*/ 119 h 257"/>
                <a:gd name="T56" fmla="*/ 38 w 68"/>
                <a:gd name="T57" fmla="*/ 114 h 257"/>
                <a:gd name="T58" fmla="*/ 49 w 68"/>
                <a:gd name="T59" fmla="*/ 106 h 257"/>
                <a:gd name="T60" fmla="*/ 60 w 68"/>
                <a:gd name="T61" fmla="*/ 106 h 257"/>
                <a:gd name="T62" fmla="*/ 58 w 68"/>
                <a:gd name="T63" fmla="*/ 114 h 257"/>
                <a:gd name="T64" fmla="*/ 47 w 68"/>
                <a:gd name="T65" fmla="*/ 120 h 257"/>
                <a:gd name="T66" fmla="*/ 35 w 68"/>
                <a:gd name="T67" fmla="*/ 210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5" name="Freeform 18"/>
            <p:cNvSpPr>
              <a:spLocks/>
            </p:cNvSpPr>
            <p:nvPr/>
          </p:nvSpPr>
          <p:spPr bwMode="gray">
            <a:xfrm>
              <a:off x="1674" y="167"/>
              <a:ext cx="111" cy="425"/>
            </a:xfrm>
            <a:custGeom>
              <a:avLst/>
              <a:gdLst>
                <a:gd name="T0" fmla="*/ 52 w 111"/>
                <a:gd name="T1" fmla="*/ 272 h 425"/>
                <a:gd name="T2" fmla="*/ 44 w 111"/>
                <a:gd name="T3" fmla="*/ 270 h 425"/>
                <a:gd name="T4" fmla="*/ 26 w 111"/>
                <a:gd name="T5" fmla="*/ 265 h 425"/>
                <a:gd name="T6" fmla="*/ 8 w 111"/>
                <a:gd name="T7" fmla="*/ 249 h 425"/>
                <a:gd name="T8" fmla="*/ 0 w 111"/>
                <a:gd name="T9" fmla="*/ 219 h 425"/>
                <a:gd name="T10" fmla="*/ 8 w 111"/>
                <a:gd name="T11" fmla="*/ 219 h 425"/>
                <a:gd name="T12" fmla="*/ 25 w 111"/>
                <a:gd name="T13" fmla="*/ 223 h 425"/>
                <a:gd name="T14" fmla="*/ 41 w 111"/>
                <a:gd name="T15" fmla="*/ 235 h 425"/>
                <a:gd name="T16" fmla="*/ 52 w 111"/>
                <a:gd name="T17" fmla="*/ 265 h 425"/>
                <a:gd name="T18" fmla="*/ 50 w 111"/>
                <a:gd name="T19" fmla="*/ 168 h 425"/>
                <a:gd name="T20" fmla="*/ 35 w 111"/>
                <a:gd name="T21" fmla="*/ 165 h 425"/>
                <a:gd name="T22" fmla="*/ 17 w 111"/>
                <a:gd name="T23" fmla="*/ 156 h 425"/>
                <a:gd name="T24" fmla="*/ 3 w 111"/>
                <a:gd name="T25" fmla="*/ 134 h 425"/>
                <a:gd name="T26" fmla="*/ 3 w 111"/>
                <a:gd name="T27" fmla="*/ 116 h 425"/>
                <a:gd name="T28" fmla="*/ 19 w 111"/>
                <a:gd name="T29" fmla="*/ 120 h 425"/>
                <a:gd name="T30" fmla="*/ 39 w 111"/>
                <a:gd name="T31" fmla="*/ 133 h 425"/>
                <a:gd name="T32" fmla="*/ 52 w 111"/>
                <a:gd name="T33" fmla="*/ 161 h 425"/>
                <a:gd name="T34" fmla="*/ 53 w 111"/>
                <a:gd name="T35" fmla="*/ 50 h 425"/>
                <a:gd name="T36" fmla="*/ 54 w 111"/>
                <a:gd name="T37" fmla="*/ 36 h 425"/>
                <a:gd name="T38" fmla="*/ 65 w 111"/>
                <a:gd name="T39" fmla="*/ 17 h 425"/>
                <a:gd name="T40" fmla="*/ 87 w 111"/>
                <a:gd name="T41" fmla="*/ 3 h 425"/>
                <a:gd name="T42" fmla="*/ 103 w 111"/>
                <a:gd name="T43" fmla="*/ 3 h 425"/>
                <a:gd name="T44" fmla="*/ 99 w 111"/>
                <a:gd name="T45" fmla="*/ 21 h 425"/>
                <a:gd name="T46" fmla="*/ 84 w 111"/>
                <a:gd name="T47" fmla="*/ 42 h 425"/>
                <a:gd name="T48" fmla="*/ 58 w 111"/>
                <a:gd name="T49" fmla="*/ 52 h 425"/>
                <a:gd name="T50" fmla="*/ 58 w 111"/>
                <a:gd name="T51" fmla="*/ 127 h 425"/>
                <a:gd name="T52" fmla="*/ 61 w 111"/>
                <a:gd name="T53" fmla="*/ 112 h 425"/>
                <a:gd name="T54" fmla="*/ 72 w 111"/>
                <a:gd name="T55" fmla="*/ 94 h 425"/>
                <a:gd name="T56" fmla="*/ 93 w 111"/>
                <a:gd name="T57" fmla="*/ 80 h 425"/>
                <a:gd name="T58" fmla="*/ 111 w 111"/>
                <a:gd name="T59" fmla="*/ 80 h 425"/>
                <a:gd name="T60" fmla="*/ 111 w 111"/>
                <a:gd name="T61" fmla="*/ 91 h 425"/>
                <a:gd name="T62" fmla="*/ 107 w 111"/>
                <a:gd name="T63" fmla="*/ 108 h 425"/>
                <a:gd name="T64" fmla="*/ 91 w 111"/>
                <a:gd name="T65" fmla="*/ 126 h 425"/>
                <a:gd name="T66" fmla="*/ 58 w 111"/>
                <a:gd name="T67" fmla="*/ 135 h 425"/>
                <a:gd name="T68" fmla="*/ 58 w 111"/>
                <a:gd name="T69" fmla="*/ 236 h 425"/>
                <a:gd name="T70" fmla="*/ 61 w 111"/>
                <a:gd name="T71" fmla="*/ 223 h 425"/>
                <a:gd name="T72" fmla="*/ 73 w 111"/>
                <a:gd name="T73" fmla="*/ 208 h 425"/>
                <a:gd name="T74" fmla="*/ 97 w 111"/>
                <a:gd name="T75" fmla="*/ 200 h 425"/>
                <a:gd name="T76" fmla="*/ 99 w 111"/>
                <a:gd name="T77" fmla="*/ 207 h 425"/>
                <a:gd name="T78" fmla="*/ 97 w 111"/>
                <a:gd name="T79" fmla="*/ 220 h 425"/>
                <a:gd name="T80" fmla="*/ 87 w 111"/>
                <a:gd name="T81" fmla="*/ 235 h 425"/>
                <a:gd name="T82" fmla="*/ 58 w 111"/>
                <a:gd name="T83" fmla="*/ 245 h 425"/>
                <a:gd name="T84" fmla="*/ 52 w 111"/>
                <a:gd name="T85" fmla="*/ 425 h 4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6" name="Freeform 19"/>
            <p:cNvSpPr>
              <a:spLocks/>
            </p:cNvSpPr>
            <p:nvPr/>
          </p:nvSpPr>
          <p:spPr bwMode="gray">
            <a:xfrm>
              <a:off x="2065" y="367"/>
              <a:ext cx="100" cy="229"/>
            </a:xfrm>
            <a:custGeom>
              <a:avLst/>
              <a:gdLst>
                <a:gd name="T0" fmla="*/ 52 w 100"/>
                <a:gd name="T1" fmla="*/ 192 h 228"/>
                <a:gd name="T2" fmla="*/ 59 w 100"/>
                <a:gd name="T3" fmla="*/ 192 h 228"/>
                <a:gd name="T4" fmla="*/ 74 w 100"/>
                <a:gd name="T5" fmla="*/ 185 h 228"/>
                <a:gd name="T6" fmla="*/ 86 w 100"/>
                <a:gd name="T7" fmla="*/ 170 h 228"/>
                <a:gd name="T8" fmla="*/ 86 w 100"/>
                <a:gd name="T9" fmla="*/ 157 h 228"/>
                <a:gd name="T10" fmla="*/ 74 w 100"/>
                <a:gd name="T11" fmla="*/ 159 h 228"/>
                <a:gd name="T12" fmla="*/ 58 w 100"/>
                <a:gd name="T13" fmla="*/ 174 h 228"/>
                <a:gd name="T14" fmla="*/ 52 w 100"/>
                <a:gd name="T15" fmla="*/ 134 h 228"/>
                <a:gd name="T16" fmla="*/ 61 w 100"/>
                <a:gd name="T17" fmla="*/ 132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2 w 100"/>
                <a:gd name="T29" fmla="*/ 131 h 228"/>
                <a:gd name="T30" fmla="*/ 55 w 100"/>
                <a:gd name="T31" fmla="*/ 48 h 228"/>
                <a:gd name="T32" fmla="*/ 67 w 100"/>
                <a:gd name="T33" fmla="*/ 45 h 228"/>
                <a:gd name="T34" fmla="*/ 85 w 100"/>
                <a:gd name="T35" fmla="*/ 37 h 228"/>
                <a:gd name="T36" fmla="*/ 97 w 100"/>
                <a:gd name="T37" fmla="*/ 17 h 228"/>
                <a:gd name="T38" fmla="*/ 97 w 100"/>
                <a:gd name="T39" fmla="*/ 0 h 228"/>
                <a:gd name="T40" fmla="*/ 83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1 w 100"/>
                <a:gd name="T53" fmla="*/ 3 h 228"/>
                <a:gd name="T54" fmla="*/ 5 w 100"/>
                <a:gd name="T55" fmla="*/ 19 h 228"/>
                <a:gd name="T56" fmla="*/ 19 w 100"/>
                <a:gd name="T57" fmla="*/ 38 h 228"/>
                <a:gd name="T58" fmla="*/ 47 w 100"/>
                <a:gd name="T59" fmla="*/ 48 h 228"/>
                <a:gd name="T60" fmla="*/ 47 w 100"/>
                <a:gd name="T61" fmla="*/ 148 h 228"/>
                <a:gd name="T62" fmla="*/ 42 w 100"/>
                <a:gd name="T63" fmla="*/ 134 h 228"/>
                <a:gd name="T64" fmla="*/ 25 w 100"/>
                <a:gd name="T65" fmla="*/ 103 h 228"/>
                <a:gd name="T66" fmla="*/ 12 w 100"/>
                <a:gd name="T67" fmla="*/ 103 h 228"/>
                <a:gd name="T68" fmla="*/ 16 w 100"/>
                <a:gd name="T69" fmla="*/ 132 h 228"/>
                <a:gd name="T70" fmla="*/ 25 w 100"/>
                <a:gd name="T71" fmla="*/ 148 h 228"/>
                <a:gd name="T72" fmla="*/ 47 w 100"/>
                <a:gd name="T73" fmla="*/ 157 h 228"/>
                <a:gd name="T74" fmla="*/ 52 w 100"/>
                <a:gd name="T75" fmla="*/ 244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7" name="Freeform 20"/>
            <p:cNvSpPr>
              <a:spLocks/>
            </p:cNvSpPr>
            <p:nvPr/>
          </p:nvSpPr>
          <p:spPr bwMode="gray">
            <a:xfrm>
              <a:off x="2921" y="367"/>
              <a:ext cx="100" cy="229"/>
            </a:xfrm>
            <a:custGeom>
              <a:avLst/>
              <a:gdLst>
                <a:gd name="T0" fmla="*/ 53 w 100"/>
                <a:gd name="T1" fmla="*/ 192 h 228"/>
                <a:gd name="T2" fmla="*/ 60 w 100"/>
                <a:gd name="T3" fmla="*/ 192 h 228"/>
                <a:gd name="T4" fmla="*/ 74 w 100"/>
                <a:gd name="T5" fmla="*/ 185 h 228"/>
                <a:gd name="T6" fmla="*/ 87 w 100"/>
                <a:gd name="T7" fmla="*/ 170 h 228"/>
                <a:gd name="T8" fmla="*/ 87 w 100"/>
                <a:gd name="T9" fmla="*/ 157 h 228"/>
                <a:gd name="T10" fmla="*/ 74 w 100"/>
                <a:gd name="T11" fmla="*/ 159 h 228"/>
                <a:gd name="T12" fmla="*/ 60 w 100"/>
                <a:gd name="T13" fmla="*/ 174 h 228"/>
                <a:gd name="T14" fmla="*/ 53 w 100"/>
                <a:gd name="T15" fmla="*/ 134 h 228"/>
                <a:gd name="T16" fmla="*/ 61 w 100"/>
                <a:gd name="T17" fmla="*/ 132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3 w 100"/>
                <a:gd name="T29" fmla="*/ 131 h 228"/>
                <a:gd name="T30" fmla="*/ 56 w 100"/>
                <a:gd name="T31" fmla="*/ 48 h 228"/>
                <a:gd name="T32" fmla="*/ 68 w 100"/>
                <a:gd name="T33" fmla="*/ 45 h 228"/>
                <a:gd name="T34" fmla="*/ 85 w 100"/>
                <a:gd name="T35" fmla="*/ 37 h 228"/>
                <a:gd name="T36" fmla="*/ 97 w 100"/>
                <a:gd name="T37" fmla="*/ 17 h 228"/>
                <a:gd name="T38" fmla="*/ 97 w 100"/>
                <a:gd name="T39" fmla="*/ 0 h 228"/>
                <a:gd name="T40" fmla="*/ 84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2 w 100"/>
                <a:gd name="T53" fmla="*/ 3 h 228"/>
                <a:gd name="T54" fmla="*/ 6 w 100"/>
                <a:gd name="T55" fmla="*/ 19 h 228"/>
                <a:gd name="T56" fmla="*/ 19 w 100"/>
                <a:gd name="T57" fmla="*/ 38 h 228"/>
                <a:gd name="T58" fmla="*/ 47 w 100"/>
                <a:gd name="T59" fmla="*/ 48 h 228"/>
                <a:gd name="T60" fmla="*/ 47 w 100"/>
                <a:gd name="T61" fmla="*/ 148 h 228"/>
                <a:gd name="T62" fmla="*/ 42 w 100"/>
                <a:gd name="T63" fmla="*/ 134 h 228"/>
                <a:gd name="T64" fmla="*/ 26 w 100"/>
                <a:gd name="T65" fmla="*/ 103 h 228"/>
                <a:gd name="T66" fmla="*/ 12 w 100"/>
                <a:gd name="T67" fmla="*/ 103 h 228"/>
                <a:gd name="T68" fmla="*/ 16 w 100"/>
                <a:gd name="T69" fmla="*/ 132 h 228"/>
                <a:gd name="T70" fmla="*/ 26 w 100"/>
                <a:gd name="T71" fmla="*/ 148 h 228"/>
                <a:gd name="T72" fmla="*/ 47 w 100"/>
                <a:gd name="T73" fmla="*/ 157 h 228"/>
                <a:gd name="T74" fmla="*/ 53 w 100"/>
                <a:gd name="T75" fmla="*/ 244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8" name="Freeform 21"/>
            <p:cNvSpPr>
              <a:spLocks/>
            </p:cNvSpPr>
            <p:nvPr/>
          </p:nvSpPr>
          <p:spPr bwMode="gray">
            <a:xfrm>
              <a:off x="2273" y="187"/>
              <a:ext cx="175" cy="402"/>
            </a:xfrm>
            <a:custGeom>
              <a:avLst/>
              <a:gdLst>
                <a:gd name="T0" fmla="*/ 93 w 175"/>
                <a:gd name="T1" fmla="*/ 309 h 402"/>
                <a:gd name="T2" fmla="*/ 101 w 175"/>
                <a:gd name="T3" fmla="*/ 309 h 402"/>
                <a:gd name="T4" fmla="*/ 118 w 175"/>
                <a:gd name="T5" fmla="*/ 304 h 402"/>
                <a:gd name="T6" fmla="*/ 138 w 175"/>
                <a:gd name="T7" fmla="*/ 292 h 402"/>
                <a:gd name="T8" fmla="*/ 152 w 175"/>
                <a:gd name="T9" fmla="*/ 266 h 402"/>
                <a:gd name="T10" fmla="*/ 152 w 175"/>
                <a:gd name="T11" fmla="*/ 247 h 402"/>
                <a:gd name="T12" fmla="*/ 138 w 175"/>
                <a:gd name="T13" fmla="*/ 250 h 402"/>
                <a:gd name="T14" fmla="*/ 120 w 175"/>
                <a:gd name="T15" fmla="*/ 259 h 402"/>
                <a:gd name="T16" fmla="*/ 99 w 175"/>
                <a:gd name="T17" fmla="*/ 285 h 402"/>
                <a:gd name="T18" fmla="*/ 93 w 175"/>
                <a:gd name="T19" fmla="*/ 207 h 402"/>
                <a:gd name="T20" fmla="*/ 102 w 175"/>
                <a:gd name="T21" fmla="*/ 205 h 402"/>
                <a:gd name="T22" fmla="*/ 122 w 175"/>
                <a:gd name="T23" fmla="*/ 200 h 402"/>
                <a:gd name="T24" fmla="*/ 147 w 175"/>
                <a:gd name="T25" fmla="*/ 185 h 402"/>
                <a:gd name="T26" fmla="*/ 163 w 175"/>
                <a:gd name="T27" fmla="*/ 155 h 402"/>
                <a:gd name="T28" fmla="*/ 163 w 175"/>
                <a:gd name="T29" fmla="*/ 134 h 402"/>
                <a:gd name="T30" fmla="*/ 149 w 175"/>
                <a:gd name="T31" fmla="*/ 135 h 402"/>
                <a:gd name="T32" fmla="*/ 129 w 175"/>
                <a:gd name="T33" fmla="*/ 142 h 402"/>
                <a:gd name="T34" fmla="*/ 107 w 175"/>
                <a:gd name="T35" fmla="*/ 162 h 402"/>
                <a:gd name="T36" fmla="*/ 93 w 175"/>
                <a:gd name="T37" fmla="*/ 201 h 402"/>
                <a:gd name="T38" fmla="*/ 95 w 175"/>
                <a:gd name="T39" fmla="*/ 83 h 402"/>
                <a:gd name="T40" fmla="*/ 110 w 175"/>
                <a:gd name="T41" fmla="*/ 81 h 402"/>
                <a:gd name="T42" fmla="*/ 134 w 175"/>
                <a:gd name="T43" fmla="*/ 73 h 402"/>
                <a:gd name="T44" fmla="*/ 157 w 175"/>
                <a:gd name="T45" fmla="*/ 54 h 402"/>
                <a:gd name="T46" fmla="*/ 174 w 175"/>
                <a:gd name="T47" fmla="*/ 23 h 402"/>
                <a:gd name="T48" fmla="*/ 174 w 175"/>
                <a:gd name="T49" fmla="*/ 0 h 402"/>
                <a:gd name="T50" fmla="*/ 157 w 175"/>
                <a:gd name="T51" fmla="*/ 2 h 402"/>
                <a:gd name="T52" fmla="*/ 133 w 175"/>
                <a:gd name="T53" fmla="*/ 10 h 402"/>
                <a:gd name="T54" fmla="*/ 107 w 175"/>
                <a:gd name="T55" fmla="*/ 33 h 402"/>
                <a:gd name="T56" fmla="*/ 87 w 175"/>
                <a:gd name="T57" fmla="*/ 77 h 402"/>
                <a:gd name="T58" fmla="*/ 85 w 175"/>
                <a:gd name="T59" fmla="*/ 68 h 402"/>
                <a:gd name="T60" fmla="*/ 75 w 175"/>
                <a:gd name="T61" fmla="*/ 46 h 402"/>
                <a:gd name="T62" fmla="*/ 55 w 175"/>
                <a:gd name="T63" fmla="*/ 21 h 402"/>
                <a:gd name="T64" fmla="*/ 22 w 175"/>
                <a:gd name="T65" fmla="*/ 3 h 402"/>
                <a:gd name="T66" fmla="*/ 1 w 175"/>
                <a:gd name="T67" fmla="*/ 3 h 402"/>
                <a:gd name="T68" fmla="*/ 4 w 175"/>
                <a:gd name="T69" fmla="*/ 18 h 402"/>
                <a:gd name="T70" fmla="*/ 12 w 175"/>
                <a:gd name="T71" fmla="*/ 42 h 402"/>
                <a:gd name="T72" fmla="*/ 31 w 175"/>
                <a:gd name="T73" fmla="*/ 65 h 402"/>
                <a:gd name="T74" fmla="*/ 62 w 175"/>
                <a:gd name="T75" fmla="*/ 81 h 402"/>
                <a:gd name="T76" fmla="*/ 82 w 175"/>
                <a:gd name="T77" fmla="*/ 238 h 402"/>
                <a:gd name="T78" fmla="*/ 80 w 175"/>
                <a:gd name="T79" fmla="*/ 228 h 402"/>
                <a:gd name="T80" fmla="*/ 72 w 175"/>
                <a:gd name="T81" fmla="*/ 207 h 402"/>
                <a:gd name="T82" fmla="*/ 55 w 175"/>
                <a:gd name="T83" fmla="*/ 185 h 402"/>
                <a:gd name="T84" fmla="*/ 21 w 175"/>
                <a:gd name="T85" fmla="*/ 176 h 402"/>
                <a:gd name="T86" fmla="*/ 22 w 175"/>
                <a:gd name="T87" fmla="*/ 185 h 402"/>
                <a:gd name="T88" fmla="*/ 28 w 175"/>
                <a:gd name="T89" fmla="*/ 205 h 402"/>
                <a:gd name="T90" fmla="*/ 41 w 175"/>
                <a:gd name="T91" fmla="*/ 230 h 402"/>
                <a:gd name="T92" fmla="*/ 66 w 175"/>
                <a:gd name="T93" fmla="*/ 246 h 402"/>
                <a:gd name="T94" fmla="*/ 82 w 175"/>
                <a:gd name="T95" fmla="*/ 402 h 4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29" name="Freeform 22"/>
            <p:cNvSpPr>
              <a:spLocks/>
            </p:cNvSpPr>
            <p:nvPr/>
          </p:nvSpPr>
          <p:spPr bwMode="gray">
            <a:xfrm>
              <a:off x="2161" y="223"/>
              <a:ext cx="97" cy="370"/>
            </a:xfrm>
            <a:custGeom>
              <a:avLst/>
              <a:gdLst>
                <a:gd name="T0" fmla="*/ 52 w 97"/>
                <a:gd name="T1" fmla="*/ 205 h 373"/>
                <a:gd name="T2" fmla="*/ 59 w 97"/>
                <a:gd name="T3" fmla="*/ 205 h 373"/>
                <a:gd name="T4" fmla="*/ 74 w 97"/>
                <a:gd name="T5" fmla="*/ 200 h 373"/>
                <a:gd name="T6" fmla="*/ 90 w 97"/>
                <a:gd name="T7" fmla="*/ 186 h 373"/>
                <a:gd name="T8" fmla="*/ 97 w 97"/>
                <a:gd name="T9" fmla="*/ 173 h 373"/>
                <a:gd name="T10" fmla="*/ 89 w 97"/>
                <a:gd name="T11" fmla="*/ 173 h 373"/>
                <a:gd name="T12" fmla="*/ 71 w 97"/>
                <a:gd name="T13" fmla="*/ 175 h 373"/>
                <a:gd name="T14" fmla="*/ 56 w 97"/>
                <a:gd name="T15" fmla="*/ 184 h 373"/>
                <a:gd name="T16" fmla="*/ 52 w 97"/>
                <a:gd name="T17" fmla="*/ 131 h 373"/>
                <a:gd name="T18" fmla="*/ 59 w 97"/>
                <a:gd name="T19" fmla="*/ 131 h 373"/>
                <a:gd name="T20" fmla="*/ 74 w 97"/>
                <a:gd name="T21" fmla="*/ 125 h 373"/>
                <a:gd name="T22" fmla="*/ 90 w 97"/>
                <a:gd name="T23" fmla="*/ 112 h 373"/>
                <a:gd name="T24" fmla="*/ 97 w 97"/>
                <a:gd name="T25" fmla="*/ 86 h 373"/>
                <a:gd name="T26" fmla="*/ 89 w 97"/>
                <a:gd name="T27" fmla="*/ 86 h 373"/>
                <a:gd name="T28" fmla="*/ 71 w 97"/>
                <a:gd name="T29" fmla="*/ 93 h 373"/>
                <a:gd name="T30" fmla="*/ 56 w 97"/>
                <a:gd name="T31" fmla="*/ 110 h 373"/>
                <a:gd name="T32" fmla="*/ 52 w 97"/>
                <a:gd name="T33" fmla="*/ 46 h 373"/>
                <a:gd name="T34" fmla="*/ 51 w 97"/>
                <a:gd name="T35" fmla="*/ 37 h 373"/>
                <a:gd name="T36" fmla="*/ 45 w 97"/>
                <a:gd name="T37" fmla="*/ 23 h 373"/>
                <a:gd name="T38" fmla="*/ 32 w 97"/>
                <a:gd name="T39" fmla="*/ 6 h 373"/>
                <a:gd name="T40" fmla="*/ 6 w 97"/>
                <a:gd name="T41" fmla="*/ 0 h 373"/>
                <a:gd name="T42" fmla="*/ 8 w 97"/>
                <a:gd name="T43" fmla="*/ 9 h 373"/>
                <a:gd name="T44" fmla="*/ 16 w 97"/>
                <a:gd name="T45" fmla="*/ 27 h 373"/>
                <a:gd name="T46" fmla="*/ 33 w 97"/>
                <a:gd name="T47" fmla="*/ 43 h 373"/>
                <a:gd name="T48" fmla="*/ 45 w 97"/>
                <a:gd name="T49" fmla="*/ 97 h 373"/>
                <a:gd name="T50" fmla="*/ 45 w 97"/>
                <a:gd name="T51" fmla="*/ 90 h 373"/>
                <a:gd name="T52" fmla="*/ 40 w 97"/>
                <a:gd name="T53" fmla="*/ 74 h 373"/>
                <a:gd name="T54" fmla="*/ 27 w 97"/>
                <a:gd name="T55" fmla="*/ 62 h 373"/>
                <a:gd name="T56" fmla="*/ 1 w 97"/>
                <a:gd name="T57" fmla="*/ 62 h 373"/>
                <a:gd name="T58" fmla="*/ 0 w 97"/>
                <a:gd name="T59" fmla="*/ 62 h 373"/>
                <a:gd name="T60" fmla="*/ 2 w 97"/>
                <a:gd name="T61" fmla="*/ 75 h 373"/>
                <a:gd name="T62" fmla="*/ 14 w 97"/>
                <a:gd name="T63" fmla="*/ 93 h 373"/>
                <a:gd name="T64" fmla="*/ 45 w 97"/>
                <a:gd name="T65" fmla="*/ 102 h 373"/>
                <a:gd name="T66" fmla="*/ 45 w 97"/>
                <a:gd name="T67" fmla="*/ 180 h 373"/>
                <a:gd name="T68" fmla="*/ 43 w 97"/>
                <a:gd name="T69" fmla="*/ 174 h 373"/>
                <a:gd name="T70" fmla="*/ 33 w 97"/>
                <a:gd name="T71" fmla="*/ 166 h 373"/>
                <a:gd name="T72" fmla="*/ 12 w 97"/>
                <a:gd name="T73" fmla="*/ 159 h 373"/>
                <a:gd name="T74" fmla="*/ 10 w 97"/>
                <a:gd name="T75" fmla="*/ 166 h 373"/>
                <a:gd name="T76" fmla="*/ 13 w 97"/>
                <a:gd name="T77" fmla="*/ 175 h 373"/>
                <a:gd name="T78" fmla="*/ 29 w 97"/>
                <a:gd name="T79" fmla="*/ 182 h 373"/>
                <a:gd name="T80" fmla="*/ 45 w 97"/>
                <a:gd name="T81" fmla="*/ 325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0" name="Freeform 23"/>
            <p:cNvSpPr>
              <a:spLocks/>
            </p:cNvSpPr>
            <p:nvPr/>
          </p:nvSpPr>
          <p:spPr bwMode="gray">
            <a:xfrm>
              <a:off x="2708" y="223"/>
              <a:ext cx="97" cy="370"/>
            </a:xfrm>
            <a:custGeom>
              <a:avLst/>
              <a:gdLst>
                <a:gd name="T0" fmla="*/ 51 w 97"/>
                <a:gd name="T1" fmla="*/ 205 h 373"/>
                <a:gd name="T2" fmla="*/ 60 w 97"/>
                <a:gd name="T3" fmla="*/ 205 h 373"/>
                <a:gd name="T4" fmla="*/ 74 w 97"/>
                <a:gd name="T5" fmla="*/ 200 h 373"/>
                <a:gd name="T6" fmla="*/ 91 w 97"/>
                <a:gd name="T7" fmla="*/ 186 h 373"/>
                <a:gd name="T8" fmla="*/ 97 w 97"/>
                <a:gd name="T9" fmla="*/ 173 h 373"/>
                <a:gd name="T10" fmla="*/ 89 w 97"/>
                <a:gd name="T11" fmla="*/ 173 h 373"/>
                <a:gd name="T12" fmla="*/ 72 w 97"/>
                <a:gd name="T13" fmla="*/ 175 h 373"/>
                <a:gd name="T14" fmla="*/ 55 w 97"/>
                <a:gd name="T15" fmla="*/ 184 h 373"/>
                <a:gd name="T16" fmla="*/ 51 w 97"/>
                <a:gd name="T17" fmla="*/ 131 h 373"/>
                <a:gd name="T18" fmla="*/ 60 w 97"/>
                <a:gd name="T19" fmla="*/ 131 h 373"/>
                <a:gd name="T20" fmla="*/ 74 w 97"/>
                <a:gd name="T21" fmla="*/ 125 h 373"/>
                <a:gd name="T22" fmla="*/ 91 w 97"/>
                <a:gd name="T23" fmla="*/ 112 h 373"/>
                <a:gd name="T24" fmla="*/ 97 w 97"/>
                <a:gd name="T25" fmla="*/ 86 h 373"/>
                <a:gd name="T26" fmla="*/ 89 w 97"/>
                <a:gd name="T27" fmla="*/ 86 h 373"/>
                <a:gd name="T28" fmla="*/ 72 w 97"/>
                <a:gd name="T29" fmla="*/ 93 h 373"/>
                <a:gd name="T30" fmla="*/ 55 w 97"/>
                <a:gd name="T31" fmla="*/ 110 h 373"/>
                <a:gd name="T32" fmla="*/ 51 w 97"/>
                <a:gd name="T33" fmla="*/ 46 h 373"/>
                <a:gd name="T34" fmla="*/ 51 w 97"/>
                <a:gd name="T35" fmla="*/ 37 h 373"/>
                <a:gd name="T36" fmla="*/ 46 w 97"/>
                <a:gd name="T37" fmla="*/ 23 h 373"/>
                <a:gd name="T38" fmla="*/ 33 w 97"/>
                <a:gd name="T39" fmla="*/ 6 h 373"/>
                <a:gd name="T40" fmla="*/ 7 w 97"/>
                <a:gd name="T41" fmla="*/ 0 h 373"/>
                <a:gd name="T42" fmla="*/ 8 w 97"/>
                <a:gd name="T43" fmla="*/ 9 h 373"/>
                <a:gd name="T44" fmla="*/ 16 w 97"/>
                <a:gd name="T45" fmla="*/ 27 h 373"/>
                <a:gd name="T46" fmla="*/ 34 w 97"/>
                <a:gd name="T47" fmla="*/ 43 h 373"/>
                <a:gd name="T48" fmla="*/ 46 w 97"/>
                <a:gd name="T49" fmla="*/ 97 h 373"/>
                <a:gd name="T50" fmla="*/ 46 w 97"/>
                <a:gd name="T51" fmla="*/ 90 h 373"/>
                <a:gd name="T52" fmla="*/ 41 w 97"/>
                <a:gd name="T53" fmla="*/ 74 h 373"/>
                <a:gd name="T54" fmla="*/ 27 w 97"/>
                <a:gd name="T55" fmla="*/ 62 h 373"/>
                <a:gd name="T56" fmla="*/ 0 w 97"/>
                <a:gd name="T57" fmla="*/ 62 h 373"/>
                <a:gd name="T58" fmla="*/ 0 w 97"/>
                <a:gd name="T59" fmla="*/ 62 h 373"/>
                <a:gd name="T60" fmla="*/ 3 w 97"/>
                <a:gd name="T61" fmla="*/ 75 h 373"/>
                <a:gd name="T62" fmla="*/ 15 w 97"/>
                <a:gd name="T63" fmla="*/ 93 h 373"/>
                <a:gd name="T64" fmla="*/ 46 w 97"/>
                <a:gd name="T65" fmla="*/ 102 h 373"/>
                <a:gd name="T66" fmla="*/ 46 w 97"/>
                <a:gd name="T67" fmla="*/ 180 h 373"/>
                <a:gd name="T68" fmla="*/ 43 w 97"/>
                <a:gd name="T69" fmla="*/ 174 h 373"/>
                <a:gd name="T70" fmla="*/ 34 w 97"/>
                <a:gd name="T71" fmla="*/ 166 h 373"/>
                <a:gd name="T72" fmla="*/ 12 w 97"/>
                <a:gd name="T73" fmla="*/ 159 h 373"/>
                <a:gd name="T74" fmla="*/ 11 w 97"/>
                <a:gd name="T75" fmla="*/ 166 h 373"/>
                <a:gd name="T76" fmla="*/ 14 w 97"/>
                <a:gd name="T77" fmla="*/ 175 h 373"/>
                <a:gd name="T78" fmla="*/ 30 w 97"/>
                <a:gd name="T79" fmla="*/ 182 h 373"/>
                <a:gd name="T80" fmla="*/ 46 w 97"/>
                <a:gd name="T81" fmla="*/ 325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sp>
        <p:nvSpPr>
          <p:cNvPr id="31" name="Freeform 27" descr="Dark upward diagonal"/>
          <p:cNvSpPr>
            <a:spLocks/>
          </p:cNvSpPr>
          <p:nvPr/>
        </p:nvSpPr>
        <p:spPr bwMode="gray">
          <a:xfrm>
            <a:off x="85725" y="76200"/>
            <a:ext cx="8977313" cy="500063"/>
          </a:xfrm>
          <a:custGeom>
            <a:avLst/>
            <a:gdLst>
              <a:gd name="T0" fmla="*/ 0 w 5655"/>
              <a:gd name="T1" fmla="*/ 2147483646 h 315"/>
              <a:gd name="T2" fmla="*/ 2147483646 w 5655"/>
              <a:gd name="T3" fmla="*/ 0 h 315"/>
              <a:gd name="T4" fmla="*/ 2147483646 w 5655"/>
              <a:gd name="T5" fmla="*/ 2147483646 h 315"/>
              <a:gd name="T6" fmla="*/ 2147483646 w 5655"/>
              <a:gd name="T7" fmla="*/ 2147483646 h 315"/>
              <a:gd name="T8" fmla="*/ 2147483646 w 5655"/>
              <a:gd name="T9" fmla="*/ 2147483646 h 315"/>
              <a:gd name="T10" fmla="*/ 0 w 5655"/>
              <a:gd name="T11" fmla="*/ 2147483646 h 3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55" h="315">
                <a:moveTo>
                  <a:pt x="0" y="1"/>
                </a:moveTo>
                <a:lnTo>
                  <a:pt x="5546" y="0"/>
                </a:lnTo>
                <a:cubicBezTo>
                  <a:pt x="5652" y="0"/>
                  <a:pt x="5655" y="84"/>
                  <a:pt x="5655" y="84"/>
                </a:cubicBezTo>
                <a:lnTo>
                  <a:pt x="5649" y="315"/>
                </a:lnTo>
                <a:lnTo>
                  <a:pt x="1" y="314"/>
                </a:lnTo>
                <a:lnTo>
                  <a:pt x="0" y="1"/>
                </a:lnTo>
                <a:close/>
              </a:path>
            </a:pathLst>
          </a:custGeom>
          <a:pattFill prst="dkUpDiag">
            <a:fgClr>
              <a:schemeClr val="bg1">
                <a:alpha val="76862"/>
              </a:schemeClr>
            </a:fgClr>
            <a:bgClr>
              <a:schemeClr val="tx1">
                <a:alpha val="76862"/>
              </a:schemeClr>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2" name="Rectangle 28"/>
          <p:cNvSpPr>
            <a:spLocks noChangeArrowheads="1"/>
          </p:cNvSpPr>
          <p:nvPr/>
        </p:nvSpPr>
        <p:spPr bwMode="gray">
          <a:xfrm>
            <a:off x="114300" y="6610350"/>
            <a:ext cx="8931275" cy="163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grpSp>
        <p:nvGrpSpPr>
          <p:cNvPr id="33" name="Group 74"/>
          <p:cNvGrpSpPr>
            <a:grpSpLocks/>
          </p:cNvGrpSpPr>
          <p:nvPr/>
        </p:nvGrpSpPr>
        <p:grpSpPr bwMode="auto">
          <a:xfrm>
            <a:off x="85725" y="854075"/>
            <a:ext cx="8982075" cy="1131888"/>
            <a:chOff x="54" y="538"/>
            <a:chExt cx="5658" cy="713"/>
          </a:xfrm>
        </p:grpSpPr>
        <p:sp>
          <p:nvSpPr>
            <p:cNvPr id="34" name="Freeform 30"/>
            <p:cNvSpPr>
              <a:spLocks/>
            </p:cNvSpPr>
            <p:nvPr userDrawn="1"/>
          </p:nvSpPr>
          <p:spPr bwMode="gray">
            <a:xfrm>
              <a:off x="54" y="736"/>
              <a:ext cx="5658" cy="515"/>
            </a:xfrm>
            <a:custGeom>
              <a:avLst/>
              <a:gdLst>
                <a:gd name="T0" fmla="*/ 0 w 5446"/>
                <a:gd name="T1" fmla="*/ 0 h 590"/>
                <a:gd name="T2" fmla="*/ 10035 w 5446"/>
                <a:gd name="T3" fmla="*/ 0 h 590"/>
                <a:gd name="T4" fmla="*/ 10035 w 5446"/>
                <a:gd name="T5" fmla="*/ 35 h 590"/>
                <a:gd name="T6" fmla="*/ 10035 w 5446"/>
                <a:gd name="T7" fmla="*/ 52 h 590"/>
                <a:gd name="T8" fmla="*/ 2787 w 5446"/>
                <a:gd name="T9" fmla="*/ 50 h 590"/>
                <a:gd name="T10" fmla="*/ 2370 w 5446"/>
                <a:gd name="T11" fmla="*/ 65 h 590"/>
                <a:gd name="T12" fmla="*/ 0 w 5446"/>
                <a:gd name="T13" fmla="*/ 67 h 590"/>
                <a:gd name="T14" fmla="*/ 0 w 5446"/>
                <a:gd name="T15" fmla="*/ 0 h 5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46" h="590">
                  <a:moveTo>
                    <a:pt x="0" y="0"/>
                  </a:moveTo>
                  <a:lnTo>
                    <a:pt x="5446" y="0"/>
                  </a:lnTo>
                  <a:lnTo>
                    <a:pt x="5446" y="312"/>
                  </a:lnTo>
                  <a:lnTo>
                    <a:pt x="5446" y="451"/>
                  </a:lnTo>
                  <a:cubicBezTo>
                    <a:pt x="4790" y="473"/>
                    <a:pt x="2205" y="421"/>
                    <a:pt x="1512" y="443"/>
                  </a:cubicBezTo>
                  <a:lnTo>
                    <a:pt x="1288" y="584"/>
                  </a:lnTo>
                  <a:lnTo>
                    <a:pt x="0" y="590"/>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5" name="Freeform 31"/>
            <p:cNvSpPr>
              <a:spLocks/>
            </p:cNvSpPr>
            <p:nvPr userDrawn="1"/>
          </p:nvSpPr>
          <p:spPr bwMode="gray">
            <a:xfrm>
              <a:off x="54" y="538"/>
              <a:ext cx="5658" cy="655"/>
            </a:xfrm>
            <a:custGeom>
              <a:avLst/>
              <a:gdLst>
                <a:gd name="T0" fmla="*/ 1 w 5658"/>
                <a:gd name="T1" fmla="*/ 0 h 655"/>
                <a:gd name="T2" fmla="*/ 5657 w 5658"/>
                <a:gd name="T3" fmla="*/ 0 h 655"/>
                <a:gd name="T4" fmla="*/ 5658 w 5658"/>
                <a:gd name="T5" fmla="*/ 534 h 655"/>
                <a:gd name="T6" fmla="*/ 1553 w 5658"/>
                <a:gd name="T7" fmla="*/ 528 h 655"/>
                <a:gd name="T8" fmla="*/ 1317 w 5658"/>
                <a:gd name="T9" fmla="*/ 651 h 655"/>
                <a:gd name="T10" fmla="*/ 0 w 5658"/>
                <a:gd name="T11" fmla="*/ 655 h 655"/>
                <a:gd name="T12" fmla="*/ 1 w 5658"/>
                <a:gd name="T13" fmla="*/ 0 h 65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8" h="655">
                  <a:moveTo>
                    <a:pt x="1" y="0"/>
                  </a:moveTo>
                  <a:lnTo>
                    <a:pt x="5657" y="0"/>
                  </a:lnTo>
                  <a:lnTo>
                    <a:pt x="5658" y="534"/>
                  </a:lnTo>
                  <a:lnTo>
                    <a:pt x="1553" y="528"/>
                  </a:lnTo>
                  <a:lnTo>
                    <a:pt x="1317" y="651"/>
                  </a:lnTo>
                  <a:lnTo>
                    <a:pt x="0" y="655"/>
                  </a:lnTo>
                  <a:lnTo>
                    <a:pt x="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36" name="Freeform 32"/>
            <p:cNvSpPr>
              <a:spLocks/>
            </p:cNvSpPr>
            <p:nvPr userDrawn="1"/>
          </p:nvSpPr>
          <p:spPr bwMode="gray">
            <a:xfrm>
              <a:off x="54" y="1062"/>
              <a:ext cx="1496" cy="98"/>
            </a:xfrm>
            <a:custGeom>
              <a:avLst/>
              <a:gdLst>
                <a:gd name="T0" fmla="*/ 2649 w 1440"/>
                <a:gd name="T1" fmla="*/ 1 h 112"/>
                <a:gd name="T2" fmla="*/ 2324 w 1440"/>
                <a:gd name="T3" fmla="*/ 14 h 112"/>
                <a:gd name="T4" fmla="*/ 0 w 1440"/>
                <a:gd name="T5" fmla="*/ 14 h 112"/>
                <a:gd name="T6" fmla="*/ 0 w 1440"/>
                <a:gd name="T7" fmla="*/ 6 h 112"/>
                <a:gd name="T8" fmla="*/ 1968 w 1440"/>
                <a:gd name="T9" fmla="*/ 7 h 112"/>
                <a:gd name="T10" fmla="*/ 2104 w 1440"/>
                <a:gd name="T11" fmla="*/ 0 h 112"/>
                <a:gd name="T12" fmla="*/ 2649 w 1440"/>
                <a:gd name="T13" fmla="*/ 1 h 1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40" h="112">
                  <a:moveTo>
                    <a:pt x="1440" y="1"/>
                  </a:moveTo>
                  <a:lnTo>
                    <a:pt x="1261" y="112"/>
                  </a:lnTo>
                  <a:lnTo>
                    <a:pt x="0" y="110"/>
                  </a:lnTo>
                  <a:lnTo>
                    <a:pt x="0" y="49"/>
                  </a:lnTo>
                  <a:lnTo>
                    <a:pt x="1069" y="50"/>
                  </a:lnTo>
                  <a:lnTo>
                    <a:pt x="1142" y="0"/>
                  </a:lnTo>
                  <a:lnTo>
                    <a:pt x="1440" y="1"/>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sp>
        <p:nvSpPr>
          <p:cNvPr id="37" name="Rectangle 33"/>
          <p:cNvSpPr>
            <a:spLocks noChangeArrowheads="1"/>
          </p:cNvSpPr>
          <p:nvPr/>
        </p:nvSpPr>
        <p:spPr bwMode="gray">
          <a:xfrm>
            <a:off x="85725" y="609600"/>
            <a:ext cx="8982075" cy="1857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38" name="Rectangle 38" descr="1"/>
          <p:cNvSpPr>
            <a:spLocks noChangeArrowheads="1"/>
          </p:cNvSpPr>
          <p:nvPr/>
        </p:nvSpPr>
        <p:spPr bwMode="gray">
          <a:xfrm>
            <a:off x="4067175" y="4497388"/>
            <a:ext cx="741363" cy="74295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39" name="Rectangle 40" descr="7"/>
          <p:cNvSpPr>
            <a:spLocks noChangeArrowheads="1"/>
          </p:cNvSpPr>
          <p:nvPr/>
        </p:nvSpPr>
        <p:spPr bwMode="gray">
          <a:xfrm>
            <a:off x="3275013" y="5314950"/>
            <a:ext cx="742950" cy="7429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0" name="Rectangle 42"/>
          <p:cNvSpPr>
            <a:spLocks noChangeArrowheads="1"/>
          </p:cNvSpPr>
          <p:nvPr/>
        </p:nvSpPr>
        <p:spPr bwMode="gray">
          <a:xfrm>
            <a:off x="3282950" y="4510088"/>
            <a:ext cx="741363" cy="744537"/>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1" name="Rectangle 37" descr="6"/>
          <p:cNvSpPr>
            <a:spLocks noChangeArrowheads="1"/>
          </p:cNvSpPr>
          <p:nvPr/>
        </p:nvSpPr>
        <p:spPr bwMode="gray">
          <a:xfrm>
            <a:off x="1703388" y="5314950"/>
            <a:ext cx="742950" cy="74295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2" name="Rectangle 49"/>
          <p:cNvSpPr>
            <a:spLocks noChangeArrowheads="1"/>
          </p:cNvSpPr>
          <p:nvPr/>
        </p:nvSpPr>
        <p:spPr bwMode="gray">
          <a:xfrm>
            <a:off x="1703388" y="4511675"/>
            <a:ext cx="742950" cy="742950"/>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3" name="Rectangle 50"/>
          <p:cNvSpPr>
            <a:spLocks noChangeArrowheads="1"/>
          </p:cNvSpPr>
          <p:nvPr/>
        </p:nvSpPr>
        <p:spPr bwMode="gray">
          <a:xfrm>
            <a:off x="128588" y="4511675"/>
            <a:ext cx="741362" cy="74295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44" name="Rectangle 52"/>
          <p:cNvSpPr>
            <a:spLocks noChangeArrowheads="1"/>
          </p:cNvSpPr>
          <p:nvPr/>
        </p:nvSpPr>
        <p:spPr bwMode="gray">
          <a:xfrm>
            <a:off x="2492375" y="5314950"/>
            <a:ext cx="742950" cy="7429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pic>
        <p:nvPicPr>
          <p:cNvPr id="45" name="Picture 43" descr="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130175" y="2911475"/>
            <a:ext cx="1347788"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Rectangle 70" descr="2"/>
          <p:cNvSpPr>
            <a:spLocks noChangeArrowheads="1"/>
          </p:cNvSpPr>
          <p:nvPr/>
        </p:nvSpPr>
        <p:spPr bwMode="gray">
          <a:xfrm>
            <a:off x="1701800" y="3705225"/>
            <a:ext cx="744538" cy="74295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3075" name="Rectangle 3"/>
          <p:cNvSpPr>
            <a:spLocks noGrp="1" noChangeArrowheads="1"/>
          </p:cNvSpPr>
          <p:nvPr>
            <p:ph type="subTitle" idx="1"/>
          </p:nvPr>
        </p:nvSpPr>
        <p:spPr>
          <a:xfrm>
            <a:off x="4114800" y="6196013"/>
            <a:ext cx="4811713" cy="403225"/>
          </a:xfrm>
        </p:spPr>
        <p:txBody>
          <a:bodyPr/>
          <a:lstStyle>
            <a:lvl1pPr marL="0" indent="0" algn="r">
              <a:buFontTx/>
              <a:buNone/>
              <a:defRPr sz="1600" i="1">
                <a:solidFill>
                  <a:srgbClr val="FFFFFF"/>
                </a:solidFill>
                <a:latin typeface="Times New Roman" pitchFamily="18" charset="0"/>
              </a:defRPr>
            </a:lvl1pPr>
          </a:lstStyle>
          <a:p>
            <a:r>
              <a:rPr lang="en-US" altLang="zh-CN"/>
              <a:t>Click to edit Master subtitle style</a:t>
            </a:r>
            <a:endParaRPr lang="zh-CN" altLang="en-US"/>
          </a:p>
        </p:txBody>
      </p:sp>
      <p:sp>
        <p:nvSpPr>
          <p:cNvPr id="3074" name="Rectangle 2"/>
          <p:cNvSpPr>
            <a:spLocks noGrp="1" noChangeArrowheads="1"/>
          </p:cNvSpPr>
          <p:nvPr>
            <p:ph type="ctrTitle"/>
          </p:nvPr>
        </p:nvSpPr>
        <p:spPr>
          <a:xfrm>
            <a:off x="2819400" y="2819400"/>
            <a:ext cx="6019800" cy="1470025"/>
          </a:xfrm>
        </p:spPr>
        <p:txBody>
          <a:bodyPr/>
          <a:lstStyle>
            <a:lvl1pPr algn="r">
              <a:defRPr sz="4800">
                <a:solidFill>
                  <a:srgbClr val="000000"/>
                </a:solidFill>
              </a:defRPr>
            </a:lvl1pPr>
          </a:lstStyle>
          <a:p>
            <a:r>
              <a:rPr lang="en-US" altLang="zh-CN"/>
              <a:t>Click to edit Master title style</a:t>
            </a:r>
            <a:endParaRPr lang="zh-CN" altLang="en-US"/>
          </a:p>
        </p:txBody>
      </p:sp>
      <p:sp>
        <p:nvSpPr>
          <p:cNvPr id="47" name="Rectangle 4"/>
          <p:cNvSpPr>
            <a:spLocks noGrp="1" noChangeArrowheads="1"/>
          </p:cNvSpPr>
          <p:nvPr>
            <p:ph type="dt" sz="half" idx="10"/>
          </p:nvPr>
        </p:nvSpPr>
        <p:spPr>
          <a:xfrm>
            <a:off x="231775" y="6445250"/>
            <a:ext cx="2205038" cy="317500"/>
          </a:xfrm>
        </p:spPr>
        <p:txBody>
          <a:bodyPr/>
          <a:lstStyle>
            <a:lvl1pPr fontAlgn="auto">
              <a:spcBef>
                <a:spcPts val="0"/>
              </a:spcBef>
              <a:spcAft>
                <a:spcPts val="0"/>
              </a:spcAft>
              <a:defRPr/>
            </a:lvl1pPr>
          </a:lstStyle>
          <a:p>
            <a:pPr>
              <a:defRPr/>
            </a:pPr>
            <a:fld id="{0008631F-7F2D-4BC3-876B-66A99698722E}" type="datetime1">
              <a:rPr lang="zh-TW" altLang="en-US"/>
              <a:pPr>
                <a:defRPr/>
              </a:pPr>
              <a:t>2026/2/5</a:t>
            </a:fld>
            <a:endParaRPr lang="en-US" altLang="zh-CN"/>
          </a:p>
        </p:txBody>
      </p:sp>
      <p:sp>
        <p:nvSpPr>
          <p:cNvPr id="48" name="Rectangle 5"/>
          <p:cNvSpPr>
            <a:spLocks noGrp="1" noChangeArrowheads="1"/>
          </p:cNvSpPr>
          <p:nvPr>
            <p:ph type="ftr" sz="quarter" idx="11"/>
          </p:nvPr>
        </p:nvSpPr>
        <p:spPr>
          <a:xfrm>
            <a:off x="2574925" y="6445250"/>
            <a:ext cx="2990850" cy="317500"/>
          </a:xfrm>
        </p:spPr>
        <p:txBody>
          <a:bodyPr/>
          <a:lstStyle>
            <a:lvl1pPr fontAlgn="auto">
              <a:spcBef>
                <a:spcPts val="0"/>
              </a:spcBef>
              <a:spcAft>
                <a:spcPts val="0"/>
              </a:spcAft>
              <a:defRPr/>
            </a:lvl1pPr>
          </a:lstStyle>
          <a:p>
            <a:pPr>
              <a:defRPr/>
            </a:pPr>
            <a:endParaRPr lang="en-US" altLang="zh-CN"/>
          </a:p>
        </p:txBody>
      </p:sp>
      <p:sp>
        <p:nvSpPr>
          <p:cNvPr id="49" name="Rectangle 6"/>
          <p:cNvSpPr>
            <a:spLocks noGrp="1" noChangeArrowheads="1"/>
          </p:cNvSpPr>
          <p:nvPr>
            <p:ph type="sldNum" sz="quarter" idx="12"/>
          </p:nvPr>
        </p:nvSpPr>
        <p:spPr>
          <a:xfrm>
            <a:off x="5700713" y="6445250"/>
            <a:ext cx="2205037" cy="317500"/>
          </a:xfrm>
        </p:spPr>
        <p:txBody>
          <a:bodyPr/>
          <a:lstStyle>
            <a:lvl1pPr>
              <a:defRPr/>
            </a:lvl1pPr>
          </a:lstStyle>
          <a:p>
            <a:fld id="{940352E0-3AE4-4311-8340-2E2BF166B30D}" type="slidenum">
              <a:rPr lang="zh-CN" altLang="en-US"/>
              <a:pPr/>
              <a:t>‹#›</a:t>
            </a:fld>
            <a:endParaRPr lang="en-US" altLang="zh-CN"/>
          </a:p>
        </p:txBody>
      </p:sp>
    </p:spTree>
    <p:extLst>
      <p:ext uri="{BB962C8B-B14F-4D97-AF65-F5344CB8AC3E}">
        <p14:creationId xmlns:p14="http://schemas.microsoft.com/office/powerpoint/2010/main" val="113220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1000" fill="hold"/>
                                        <p:tgtEl>
                                          <p:spTgt spid="31"/>
                                        </p:tgtEl>
                                        <p:attrNameLst>
                                          <p:attrName>ppt_x</p:attrName>
                                        </p:attrNameLst>
                                      </p:cBhvr>
                                      <p:tavLst>
                                        <p:tav tm="0">
                                          <p:val>
                                            <p:strVal val="#ppt_x-.2"/>
                                          </p:val>
                                        </p:tav>
                                        <p:tav tm="100000">
                                          <p:val>
                                            <p:strVal val="#ppt_x"/>
                                          </p:val>
                                        </p:tav>
                                      </p:tavLst>
                                    </p:anim>
                                    <p:anim calcmode="lin" valueType="num">
                                      <p:cBhvr>
                                        <p:cTn id="8" dur="1000" fill="hold"/>
                                        <p:tgtEl>
                                          <p:spTgt spid="31"/>
                                        </p:tgtEl>
                                        <p:attrNameLst>
                                          <p:attrName>ppt_y</p:attrName>
                                        </p:attrNameLst>
                                      </p:cBhvr>
                                      <p:tavLst>
                                        <p:tav tm="0">
                                          <p:val>
                                            <p:strVal val="#ppt_y"/>
                                          </p:val>
                                        </p:tav>
                                        <p:tav tm="100000">
                                          <p:val>
                                            <p:strVal val="#ppt_y"/>
                                          </p:val>
                                        </p:tav>
                                      </p:tavLst>
                                    </p:anim>
                                    <p:animEffect transition="in" filter="wipe(right)" prLst="gradientSize: 0.1">
                                      <p:cBhvr>
                                        <p:cTn id="9" dur="1000"/>
                                        <p:tgtEl>
                                          <p:spTgt spid="31"/>
                                        </p:tgtEl>
                                      </p:cBhvr>
                                    </p:animEffect>
                                  </p:childTnLst>
                                </p:cTn>
                              </p:par>
                            </p:childTnLst>
                          </p:cTn>
                        </p:par>
                        <p:par>
                          <p:cTn id="10" fill="hold">
                            <p:stCondLst>
                              <p:cond delay="1000"/>
                            </p:stCondLst>
                            <p:childTnLst>
                              <p:par>
                                <p:cTn id="11" presetID="22" presetClass="entr" presetSubtype="2"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wipe(right)">
                                      <p:cBhvr>
                                        <p:cTn id="13" dur="500"/>
                                        <p:tgtEl>
                                          <p:spTgt spid="37"/>
                                        </p:tgtEl>
                                      </p:cBhvr>
                                    </p:animEffect>
                                  </p:childTnLst>
                                </p:cTn>
                              </p:par>
                              <p:par>
                                <p:cTn id="14" presetID="22" presetClass="entr" presetSubtype="8"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500"/>
                                        <p:tgtEl>
                                          <p:spTgt spid="3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1000"/>
                                        <p:tgtEl>
                                          <p:spTgt spid="32"/>
                                        </p:tgtEl>
                                      </p:cBhvr>
                                    </p:animEffect>
                                  </p:childTnLst>
                                </p:cTn>
                              </p:par>
                              <p:par>
                                <p:cTn id="20" presetID="22" presetClass="entr" presetSubtype="2"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right)">
                                      <p:cBhvr>
                                        <p:cTn id="22" dur="500"/>
                                        <p:tgtEl>
                                          <p:spTgt spid="10"/>
                                        </p:tgtEl>
                                      </p:cBhvr>
                                    </p:animEffec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500"/>
                                        <p:tgtEl>
                                          <p:spTgt spid="14"/>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fade">
                                      <p:cBhvr>
                                        <p:cTn id="30" dur="1000"/>
                                        <p:tgtEl>
                                          <p:spTgt spid="46"/>
                                        </p:tgtEl>
                                      </p:cBhvr>
                                    </p:animEffect>
                                  </p:childTnLst>
                                </p:cTn>
                              </p:par>
                            </p:childTnLst>
                          </p:cTn>
                        </p:par>
                        <p:par>
                          <p:cTn id="31" fill="hold">
                            <p:stCondLst>
                              <p:cond delay="350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childTnLst>
                                </p:cTn>
                              </p:par>
                            </p:childTnLst>
                          </p:cTn>
                        </p:par>
                        <p:par>
                          <p:cTn id="35" fill="hold">
                            <p:stCondLst>
                              <p:cond delay="4500"/>
                            </p:stCondLst>
                            <p:childTnLst>
                              <p:par>
                                <p:cTn id="36" presetID="10" presetClass="exit" presetSubtype="0" fill="hold" grpId="0" nodeType="afterEffect">
                                  <p:stCondLst>
                                    <p:cond delay="0"/>
                                  </p:stCondLst>
                                  <p:childTnLst>
                                    <p:animEffect transition="out" filter="fade">
                                      <p:cBhvr>
                                        <p:cTn id="37" dur="1000"/>
                                        <p:tgtEl>
                                          <p:spTgt spid="9"/>
                                        </p:tgtEl>
                                      </p:cBhvr>
                                    </p:animEffect>
                                    <p:set>
                                      <p:cBhvr>
                                        <p:cTn id="38" dur="1" fill="hold">
                                          <p:stCondLst>
                                            <p:cond delay="999"/>
                                          </p:stCondLst>
                                        </p:cTn>
                                        <p:tgtEl>
                                          <p:spTgt spid="9"/>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1000"/>
                                        <p:tgtEl>
                                          <p:spTgt spid="41"/>
                                        </p:tgtEl>
                                      </p:cBhvr>
                                    </p:animEffect>
                                  </p:childTnLst>
                                </p:cTn>
                              </p:par>
                              <p:par>
                                <p:cTn id="42" presetID="10" presetClass="entr" presetSubtype="0" fill="hold" nodeType="with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1000"/>
                                        <p:tgtEl>
                                          <p:spTgt spid="45"/>
                                        </p:tgtEl>
                                      </p:cBhvr>
                                    </p:animEffect>
                                  </p:childTnLst>
                                </p:cTn>
                              </p:par>
                            </p:childTnLst>
                          </p:cTn>
                        </p:par>
                        <p:par>
                          <p:cTn id="45" fill="hold">
                            <p:stCondLst>
                              <p:cond delay="5500"/>
                            </p:stCondLst>
                            <p:childTnLst>
                              <p:par>
                                <p:cTn id="46" presetID="10" presetClass="exit" presetSubtype="0" fill="hold" grpId="0" nodeType="afterEffect">
                                  <p:stCondLst>
                                    <p:cond delay="0"/>
                                  </p:stCondLst>
                                  <p:childTnLst>
                                    <p:animEffect transition="out" filter="fade">
                                      <p:cBhvr>
                                        <p:cTn id="47" dur="1000"/>
                                        <p:tgtEl>
                                          <p:spTgt spid="42"/>
                                        </p:tgtEl>
                                      </p:cBhvr>
                                    </p:animEffect>
                                    <p:set>
                                      <p:cBhvr>
                                        <p:cTn id="48" dur="1" fill="hold">
                                          <p:stCondLst>
                                            <p:cond delay="9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31" grpId="0" animBg="1"/>
      <p:bldP spid="32" grpId="0" animBg="1"/>
      <p:bldP spid="37" grpId="0" animBg="1"/>
      <p:bldP spid="41" grpId="0" animBg="1"/>
      <p:bldP spid="42" grpId="0" animBg="1"/>
      <p:bldP spid="46"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468AD67D-76B8-4342-B950-C27D7FAFBC24}"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A38FFA64-2514-4DD8-A37A-C44B06AFDC2F}" type="slidenum">
              <a:rPr lang="zh-CN" altLang="en-US"/>
              <a:pPr/>
              <a:t>‹#›</a:t>
            </a:fld>
            <a:endParaRPr lang="en-US" altLang="zh-CN"/>
          </a:p>
        </p:txBody>
      </p:sp>
    </p:spTree>
    <p:extLst>
      <p:ext uri="{BB962C8B-B14F-4D97-AF65-F5344CB8AC3E}">
        <p14:creationId xmlns:p14="http://schemas.microsoft.com/office/powerpoint/2010/main" val="1524328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Click to edit Master text styles</a:t>
            </a:r>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ADCD929C-1FEA-40E5-B6EE-190233DF8F33}"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AE28FE4A-BCB5-4B83-9990-6D0BF5A60DB4}" type="slidenum">
              <a:rPr lang="zh-CN" altLang="en-US"/>
              <a:pPr/>
              <a:t>‹#›</a:t>
            </a:fld>
            <a:endParaRPr lang="en-US" altLang="zh-CN"/>
          </a:p>
        </p:txBody>
      </p:sp>
    </p:spTree>
    <p:extLst>
      <p:ext uri="{BB962C8B-B14F-4D97-AF65-F5344CB8AC3E}">
        <p14:creationId xmlns:p14="http://schemas.microsoft.com/office/powerpoint/2010/main" val="15184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438275"/>
            <a:ext cx="40386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438275"/>
            <a:ext cx="4038600" cy="4733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B70B9258-DFC0-4EB9-9593-F2A9DD68B02B}" type="datetime1">
              <a:rPr lang="zh-TW" altLang="en-US"/>
              <a:pPr>
                <a:defRPr/>
              </a:pPr>
              <a:t>2026/2/5</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39B6EEB5-46C2-4635-968B-56A690229C7A}" type="slidenum">
              <a:rPr lang="zh-CN" altLang="en-US"/>
              <a:pPr/>
              <a:t>‹#›</a:t>
            </a:fld>
            <a:endParaRPr lang="en-US" altLang="zh-CN"/>
          </a:p>
        </p:txBody>
      </p:sp>
    </p:spTree>
    <p:extLst>
      <p:ext uri="{BB962C8B-B14F-4D97-AF65-F5344CB8AC3E}">
        <p14:creationId xmlns:p14="http://schemas.microsoft.com/office/powerpoint/2010/main" val="59374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63B38B82-D1B2-41C6-B211-7326FFF75994}" type="datetime1">
              <a:rPr lang="zh-TW" altLang="en-US"/>
              <a:pPr>
                <a:defRPr/>
              </a:pPr>
              <a:t>2026/2/5</a:t>
            </a:fld>
            <a:endParaRPr lang="en-US" altLang="zh-CN"/>
          </a:p>
        </p:txBody>
      </p:sp>
      <p:sp>
        <p:nvSpPr>
          <p:cNvPr id="8"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13954BF1-0763-4062-BB73-1A210FDED480}" type="slidenum">
              <a:rPr lang="zh-CN" altLang="en-US"/>
              <a:pPr/>
              <a:t>‹#›</a:t>
            </a:fld>
            <a:endParaRPr lang="en-US" altLang="zh-CN"/>
          </a:p>
        </p:txBody>
      </p:sp>
    </p:spTree>
    <p:extLst>
      <p:ext uri="{BB962C8B-B14F-4D97-AF65-F5344CB8AC3E}">
        <p14:creationId xmlns:p14="http://schemas.microsoft.com/office/powerpoint/2010/main" val="1723613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FA0C2C24-447D-482F-AD8A-256988C728AE}" type="datetime1">
              <a:rPr lang="zh-TW" altLang="en-US"/>
              <a:pPr>
                <a:defRPr/>
              </a:pPr>
              <a:t>2026/2/5</a:t>
            </a:fld>
            <a:endParaRPr lang="en-US" altLang="zh-CN"/>
          </a:p>
        </p:txBody>
      </p:sp>
      <p:sp>
        <p:nvSpPr>
          <p:cNvPr id="4"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44579AF1-A9A3-4318-A439-B14B7DCF669B}" type="slidenum">
              <a:rPr lang="zh-CN" altLang="en-US"/>
              <a:pPr/>
              <a:t>‹#›</a:t>
            </a:fld>
            <a:endParaRPr lang="en-US" altLang="zh-CN"/>
          </a:p>
        </p:txBody>
      </p:sp>
    </p:spTree>
    <p:extLst>
      <p:ext uri="{BB962C8B-B14F-4D97-AF65-F5344CB8AC3E}">
        <p14:creationId xmlns:p14="http://schemas.microsoft.com/office/powerpoint/2010/main" val="3489184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7D299202-F86D-488E-9943-8D94F27F077C}" type="datetime1">
              <a:rPr lang="zh-TW" altLang="en-US"/>
              <a:pPr>
                <a:defRPr/>
              </a:pPr>
              <a:t>2026/2/5</a:t>
            </a:fld>
            <a:endParaRPr lang="en-US" altLang="zh-CN"/>
          </a:p>
        </p:txBody>
      </p:sp>
      <p:sp>
        <p:nvSpPr>
          <p:cNvPr id="3"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5A7D26C0-E06E-469A-9353-7AC9DA196587}" type="slidenum">
              <a:rPr lang="zh-CN" altLang="en-US"/>
              <a:pPr/>
              <a:t>‹#›</a:t>
            </a:fld>
            <a:endParaRPr lang="en-US" altLang="zh-CN"/>
          </a:p>
        </p:txBody>
      </p:sp>
    </p:spTree>
    <p:extLst>
      <p:ext uri="{BB962C8B-B14F-4D97-AF65-F5344CB8AC3E}">
        <p14:creationId xmlns:p14="http://schemas.microsoft.com/office/powerpoint/2010/main" val="492098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29C01313-9DB4-4FBA-BD66-6B094B4FA32C}" type="datetime1">
              <a:rPr lang="zh-TW" altLang="en-US"/>
              <a:pPr>
                <a:defRPr/>
              </a:pPr>
              <a:t>2026/2/5</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97A59706-F68E-48ED-B883-B81A49D7F925}" type="slidenum">
              <a:rPr lang="zh-CN" altLang="en-US"/>
              <a:pPr/>
              <a:t>‹#›</a:t>
            </a:fld>
            <a:endParaRPr lang="en-US" altLang="zh-CN"/>
          </a:p>
        </p:txBody>
      </p:sp>
    </p:spTree>
    <p:extLst>
      <p:ext uri="{BB962C8B-B14F-4D97-AF65-F5344CB8AC3E}">
        <p14:creationId xmlns:p14="http://schemas.microsoft.com/office/powerpoint/2010/main" val="535310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9FE193DC-F83E-465E-8156-D986EDE45A43}" type="datetime1">
              <a:rPr lang="zh-TW" altLang="en-US"/>
              <a:pPr>
                <a:defRPr/>
              </a:pPr>
              <a:t>2026/2/5</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E11C7CFB-8B63-4E66-8FFC-A57A090E5508}" type="slidenum">
              <a:rPr lang="zh-CN" altLang="en-US"/>
              <a:pPr/>
              <a:t>‹#›</a:t>
            </a:fld>
            <a:endParaRPr lang="en-US" altLang="zh-CN"/>
          </a:p>
        </p:txBody>
      </p:sp>
    </p:spTree>
    <p:extLst>
      <p:ext uri="{BB962C8B-B14F-4D97-AF65-F5344CB8AC3E}">
        <p14:creationId xmlns:p14="http://schemas.microsoft.com/office/powerpoint/2010/main" val="2544815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94A364CF-D3AD-4F55-97E3-829973451423}"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702AED7B-36EA-47EC-A969-DC722CA4C1D4}" type="slidenum">
              <a:rPr lang="zh-CN" altLang="en-US"/>
              <a:pPr/>
              <a:t>‹#›</a:t>
            </a:fld>
            <a:endParaRPr lang="en-US" altLang="zh-CN"/>
          </a:p>
        </p:txBody>
      </p:sp>
    </p:spTree>
    <p:extLst>
      <p:ext uri="{BB962C8B-B14F-4D97-AF65-F5344CB8AC3E}">
        <p14:creationId xmlns:p14="http://schemas.microsoft.com/office/powerpoint/2010/main" val="234073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38125"/>
            <a:ext cx="2057400" cy="5934075"/>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38125"/>
            <a:ext cx="6019800" cy="5934075"/>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060EE440-6B16-4BE6-A466-1DF209EE46D3}"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63087C34-C2FC-4E65-9448-1FB42CF0E358}" type="slidenum">
              <a:rPr lang="zh-CN" altLang="en-US"/>
              <a:pPr/>
              <a:t>‹#›</a:t>
            </a:fld>
            <a:endParaRPr lang="en-US" altLang="zh-CN"/>
          </a:p>
        </p:txBody>
      </p:sp>
    </p:spTree>
    <p:extLst>
      <p:ext uri="{BB962C8B-B14F-4D97-AF65-F5344CB8AC3E}">
        <p14:creationId xmlns:p14="http://schemas.microsoft.com/office/powerpoint/2010/main" val="1457049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438275"/>
            <a:ext cx="4038600" cy="473392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438275"/>
            <a:ext cx="4038600" cy="473392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41AAA475-3A45-4C71-840E-1FA45EF4E76E}" type="datetime1">
              <a:rPr lang="zh-TW" altLang="en-US"/>
              <a:pPr>
                <a:defRPr/>
              </a:pPr>
              <a:t>2026/2/5</a:t>
            </a:fld>
            <a:endParaRPr lang="en-US" altLang="zh-CN"/>
          </a:p>
        </p:txBody>
      </p:sp>
      <p:sp>
        <p:nvSpPr>
          <p:cNvPr id="6"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960352BC-5F24-485F-9F6A-8E15DA13BF37}" type="slidenum">
              <a:rPr lang="zh-CN" altLang="en-US"/>
              <a:pPr/>
              <a:t>‹#›</a:t>
            </a:fld>
            <a:endParaRPr lang="en-US" altLang="zh-CN"/>
          </a:p>
        </p:txBody>
      </p:sp>
    </p:spTree>
    <p:extLst>
      <p:ext uri="{BB962C8B-B14F-4D97-AF65-F5344CB8AC3E}">
        <p14:creationId xmlns:p14="http://schemas.microsoft.com/office/powerpoint/2010/main" val="2080584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表格版面配置區 2"/>
          <p:cNvSpPr>
            <a:spLocks noGrp="1"/>
          </p:cNvSpPr>
          <p:nvPr>
            <p:ph type="tbl" idx="1"/>
          </p:nvPr>
        </p:nvSpPr>
        <p:spPr>
          <a:xfrm>
            <a:off x="457200" y="1438275"/>
            <a:ext cx="8229600" cy="4733925"/>
          </a:xfrm>
        </p:spPr>
        <p:txBody>
          <a:bodyPr/>
          <a:lstStyle/>
          <a:p>
            <a:pPr lvl="0"/>
            <a:r>
              <a:rPr lang="en-US" altLang="zh-TW" noProof="0"/>
              <a:t>Click icon to add table</a:t>
            </a:r>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EEAAD236-8915-4732-809F-E30966216F16}"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F70D9D40-0596-4611-88F3-8D7B084590D5}" type="slidenum">
              <a:rPr lang="zh-CN" altLang="en-US"/>
              <a:pPr/>
              <a:t>‹#›</a:t>
            </a:fld>
            <a:endParaRPr lang="en-US" altLang="zh-CN"/>
          </a:p>
        </p:txBody>
      </p:sp>
    </p:spTree>
    <p:extLst>
      <p:ext uri="{BB962C8B-B14F-4D97-AF65-F5344CB8AC3E}">
        <p14:creationId xmlns:p14="http://schemas.microsoft.com/office/powerpoint/2010/main" val="2114484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標題及圖表">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圖表版面配置區 2"/>
          <p:cNvSpPr>
            <a:spLocks noGrp="1"/>
          </p:cNvSpPr>
          <p:nvPr>
            <p:ph type="chart" idx="1"/>
          </p:nvPr>
        </p:nvSpPr>
        <p:spPr>
          <a:xfrm>
            <a:off x="457200" y="1438275"/>
            <a:ext cx="8229600" cy="4733925"/>
          </a:xfrm>
        </p:spPr>
        <p:txBody>
          <a:bodyPr/>
          <a:lstStyle/>
          <a:p>
            <a:pPr lvl="0"/>
            <a:r>
              <a:rPr lang="en-US" altLang="zh-TW" noProof="0"/>
              <a:t>Click icon to add chart</a:t>
            </a:r>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9F0AAB77-7D3D-4A4E-853D-84377DA8FF5A}"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6CC219FA-6E5D-4CA3-B34E-880C0B60F362}" type="slidenum">
              <a:rPr lang="zh-CN" altLang="en-US"/>
              <a:pPr/>
              <a:t>‹#›</a:t>
            </a:fld>
            <a:endParaRPr lang="en-US" altLang="zh-CN"/>
          </a:p>
        </p:txBody>
      </p:sp>
    </p:spTree>
    <p:extLst>
      <p:ext uri="{BB962C8B-B14F-4D97-AF65-F5344CB8AC3E}">
        <p14:creationId xmlns:p14="http://schemas.microsoft.com/office/powerpoint/2010/main" val="29327632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標題及圖表或組織圖">
    <p:spTree>
      <p:nvGrpSpPr>
        <p:cNvPr id="1" name=""/>
        <p:cNvGrpSpPr/>
        <p:nvPr/>
      </p:nvGrpSpPr>
      <p:grpSpPr>
        <a:xfrm>
          <a:off x="0" y="0"/>
          <a:ext cx="0" cy="0"/>
          <a:chOff x="0" y="0"/>
          <a:chExt cx="0" cy="0"/>
        </a:xfrm>
      </p:grpSpPr>
      <p:sp>
        <p:nvSpPr>
          <p:cNvPr id="2" name="標題 1"/>
          <p:cNvSpPr>
            <a:spLocks noGrp="1"/>
          </p:cNvSpPr>
          <p:nvPr>
            <p:ph type="title"/>
          </p:nvPr>
        </p:nvSpPr>
        <p:spPr>
          <a:xfrm>
            <a:off x="457200" y="238125"/>
            <a:ext cx="6477000" cy="868363"/>
          </a:xfrm>
        </p:spPr>
        <p:txBody>
          <a:bodyPr/>
          <a:lstStyle/>
          <a:p>
            <a:r>
              <a:rPr lang="en-US" altLang="zh-TW"/>
              <a:t>Click to edit Master title style</a:t>
            </a:r>
            <a:endParaRPr lang="zh-TW" altLang="en-US"/>
          </a:p>
        </p:txBody>
      </p:sp>
      <p:sp>
        <p:nvSpPr>
          <p:cNvPr id="3" name="SmartArt 版面配置區 2"/>
          <p:cNvSpPr>
            <a:spLocks noGrp="1"/>
          </p:cNvSpPr>
          <p:nvPr>
            <p:ph type="dgm" idx="1"/>
          </p:nvPr>
        </p:nvSpPr>
        <p:spPr>
          <a:xfrm>
            <a:off x="457200" y="1438275"/>
            <a:ext cx="8229600" cy="4733925"/>
          </a:xfrm>
        </p:spPr>
        <p:txBody>
          <a:bodyPr/>
          <a:lstStyle/>
          <a:p>
            <a:pPr lvl="0"/>
            <a:r>
              <a:rPr lang="en-US" altLang="zh-TW" noProof="0"/>
              <a:t>Click icon to add SmartArt graphic</a:t>
            </a:r>
            <a:endParaRPr lang="zh-TW" altLang="en-US" noProof="0"/>
          </a:p>
        </p:txBody>
      </p:sp>
      <p:sp>
        <p:nvSpPr>
          <p:cNvPr id="4" name="Rectangle 4"/>
          <p:cNvSpPr>
            <a:spLocks noGrp="1" noChangeArrowheads="1"/>
          </p:cNvSpPr>
          <p:nvPr>
            <p:ph type="dt" sz="half" idx="10"/>
          </p:nvPr>
        </p:nvSpPr>
        <p:spPr/>
        <p:txBody>
          <a:bodyPr/>
          <a:lstStyle>
            <a:lvl1pPr fontAlgn="auto">
              <a:spcBef>
                <a:spcPts val="0"/>
              </a:spcBef>
              <a:spcAft>
                <a:spcPts val="0"/>
              </a:spcAft>
              <a:defRPr/>
            </a:lvl1pPr>
          </a:lstStyle>
          <a:p>
            <a:pPr>
              <a:defRPr/>
            </a:pPr>
            <a:fld id="{76D167D3-21FF-4A9B-B77D-D2E2EEFC1568}" type="datetime1">
              <a:rPr lang="zh-TW" altLang="en-US"/>
              <a:pPr>
                <a:defRPr/>
              </a:pPr>
              <a:t>2026/2/5</a:t>
            </a:fld>
            <a:endParaRPr lang="en-US" altLang="zh-CN"/>
          </a:p>
        </p:txBody>
      </p:sp>
      <p:sp>
        <p:nvSpPr>
          <p:cNvPr id="5" name="Rectangle 5"/>
          <p:cNvSpPr>
            <a:spLocks noGrp="1" noChangeArrowheads="1"/>
          </p:cNvSpPr>
          <p:nvPr>
            <p:ph type="ftr" sz="quarter" idx="11"/>
          </p:nvPr>
        </p:nvSpPr>
        <p:spPr/>
        <p:txBody>
          <a:bodyPr/>
          <a:lstStyle>
            <a:lvl1pPr fontAlgn="auto">
              <a:spcBef>
                <a:spcPts val="0"/>
              </a:spcBef>
              <a:spcAft>
                <a:spcPts val="0"/>
              </a:spcAft>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16A52AE8-BA4B-4BAC-8E0A-9443A71F26DA}" type="slidenum">
              <a:rPr lang="zh-CN" altLang="en-US"/>
              <a:pPr/>
              <a:t>‹#›</a:t>
            </a:fld>
            <a:endParaRPr lang="en-US" altLang="zh-CN"/>
          </a:p>
        </p:txBody>
      </p:sp>
    </p:spTree>
    <p:extLst>
      <p:ext uri="{BB962C8B-B14F-4D97-AF65-F5344CB8AC3E}">
        <p14:creationId xmlns:p14="http://schemas.microsoft.com/office/powerpoint/2010/main" val="3820262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7170" name="Group 7"/>
          <p:cNvGrpSpPr>
            <a:grpSpLocks/>
          </p:cNvGrpSpPr>
          <p:nvPr/>
        </p:nvGrpSpPr>
        <p:grpSpPr bwMode="auto">
          <a:xfrm>
            <a:off x="6553200" y="6013450"/>
            <a:ext cx="2392363" cy="563563"/>
            <a:chOff x="1566" y="164"/>
            <a:chExt cx="1455" cy="425"/>
          </a:xfrm>
        </p:grpSpPr>
        <p:sp>
          <p:nvSpPr>
            <p:cNvPr id="7187" name="Freeform 8"/>
            <p:cNvSpPr>
              <a:spLocks/>
            </p:cNvSpPr>
            <p:nvPr/>
          </p:nvSpPr>
          <p:spPr bwMode="gray">
            <a:xfrm>
              <a:off x="1892" y="468"/>
              <a:ext cx="39" cy="121"/>
            </a:xfrm>
            <a:custGeom>
              <a:avLst/>
              <a:gdLst>
                <a:gd name="T0" fmla="*/ 37 w 39"/>
                <a:gd name="T1" fmla="*/ 36 h 121"/>
                <a:gd name="T2" fmla="*/ 35 w 39"/>
                <a:gd name="T3" fmla="*/ 36 h 121"/>
                <a:gd name="T4" fmla="*/ 30 w 39"/>
                <a:gd name="T5" fmla="*/ 36 h 121"/>
                <a:gd name="T6" fmla="*/ 22 w 39"/>
                <a:gd name="T7" fmla="*/ 34 h 121"/>
                <a:gd name="T8" fmla="*/ 15 w 39"/>
                <a:gd name="T9" fmla="*/ 30 h 121"/>
                <a:gd name="T10" fmla="*/ 7 w 39"/>
                <a:gd name="T11" fmla="*/ 23 h 121"/>
                <a:gd name="T12" fmla="*/ 3 w 39"/>
                <a:gd name="T13" fmla="*/ 13 h 121"/>
                <a:gd name="T14" fmla="*/ 0 w 39"/>
                <a:gd name="T15" fmla="*/ 0 h 121"/>
                <a:gd name="T16" fmla="*/ 3 w 39"/>
                <a:gd name="T17" fmla="*/ 0 h 121"/>
                <a:gd name="T18" fmla="*/ 7 w 39"/>
                <a:gd name="T19" fmla="*/ 1 h 121"/>
                <a:gd name="T20" fmla="*/ 15 w 39"/>
                <a:gd name="T21" fmla="*/ 3 h 121"/>
                <a:gd name="T22" fmla="*/ 23 w 39"/>
                <a:gd name="T23" fmla="*/ 5 h 121"/>
                <a:gd name="T24" fmla="*/ 30 w 39"/>
                <a:gd name="T25" fmla="*/ 11 h 121"/>
                <a:gd name="T26" fmla="*/ 37 w 39"/>
                <a:gd name="T27" fmla="*/ 20 h 121"/>
                <a:gd name="T28" fmla="*/ 39 w 39"/>
                <a:gd name="T29" fmla="*/ 34 h 121"/>
                <a:gd name="T30" fmla="*/ 39 w 39"/>
                <a:gd name="T31" fmla="*/ 121 h 121"/>
                <a:gd name="T32" fmla="*/ 37 w 39"/>
                <a:gd name="T33" fmla="*/ 121 h 121"/>
                <a:gd name="T34" fmla="*/ 37 w 39"/>
                <a:gd name="T35" fmla="*/ 36 h 1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9" h="121">
                  <a:moveTo>
                    <a:pt x="37" y="36"/>
                  </a:moveTo>
                  <a:lnTo>
                    <a:pt x="35" y="36"/>
                  </a:lnTo>
                  <a:lnTo>
                    <a:pt x="30" y="36"/>
                  </a:lnTo>
                  <a:lnTo>
                    <a:pt x="22" y="34"/>
                  </a:lnTo>
                  <a:lnTo>
                    <a:pt x="15" y="30"/>
                  </a:lnTo>
                  <a:lnTo>
                    <a:pt x="7" y="23"/>
                  </a:lnTo>
                  <a:lnTo>
                    <a:pt x="3" y="13"/>
                  </a:lnTo>
                  <a:lnTo>
                    <a:pt x="0" y="0"/>
                  </a:lnTo>
                  <a:lnTo>
                    <a:pt x="3" y="0"/>
                  </a:lnTo>
                  <a:lnTo>
                    <a:pt x="7" y="1"/>
                  </a:lnTo>
                  <a:lnTo>
                    <a:pt x="15" y="3"/>
                  </a:lnTo>
                  <a:lnTo>
                    <a:pt x="23" y="5"/>
                  </a:lnTo>
                  <a:lnTo>
                    <a:pt x="30" y="11"/>
                  </a:lnTo>
                  <a:lnTo>
                    <a:pt x="37" y="20"/>
                  </a:lnTo>
                  <a:lnTo>
                    <a:pt x="39" y="34"/>
                  </a:lnTo>
                  <a:lnTo>
                    <a:pt x="39" y="121"/>
                  </a:lnTo>
                  <a:lnTo>
                    <a:pt x="37" y="121"/>
                  </a:lnTo>
                  <a:lnTo>
                    <a:pt x="37" y="36"/>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88" name="Freeform 9"/>
            <p:cNvSpPr>
              <a:spLocks/>
            </p:cNvSpPr>
            <p:nvPr/>
          </p:nvSpPr>
          <p:spPr bwMode="gray">
            <a:xfrm>
              <a:off x="2271" y="450"/>
              <a:ext cx="45" cy="139"/>
            </a:xfrm>
            <a:custGeom>
              <a:avLst/>
              <a:gdLst>
                <a:gd name="T0" fmla="*/ 3 w 45"/>
                <a:gd name="T1" fmla="*/ 42 h 139"/>
                <a:gd name="T2" fmla="*/ 6 w 45"/>
                <a:gd name="T3" fmla="*/ 42 h 139"/>
                <a:gd name="T4" fmla="*/ 12 w 45"/>
                <a:gd name="T5" fmla="*/ 42 h 139"/>
                <a:gd name="T6" fmla="*/ 20 w 45"/>
                <a:gd name="T7" fmla="*/ 39 h 139"/>
                <a:gd name="T8" fmla="*/ 29 w 45"/>
                <a:gd name="T9" fmla="*/ 35 h 139"/>
                <a:gd name="T10" fmla="*/ 37 w 45"/>
                <a:gd name="T11" fmla="*/ 27 h 139"/>
                <a:gd name="T12" fmla="*/ 43 w 45"/>
                <a:gd name="T13" fmla="*/ 17 h 139"/>
                <a:gd name="T14" fmla="*/ 45 w 45"/>
                <a:gd name="T15" fmla="*/ 2 h 139"/>
                <a:gd name="T16" fmla="*/ 43 w 45"/>
                <a:gd name="T17" fmla="*/ 0 h 139"/>
                <a:gd name="T18" fmla="*/ 37 w 45"/>
                <a:gd name="T19" fmla="*/ 2 h 139"/>
                <a:gd name="T20" fmla="*/ 29 w 45"/>
                <a:gd name="T21" fmla="*/ 3 h 139"/>
                <a:gd name="T22" fmla="*/ 19 w 45"/>
                <a:gd name="T23" fmla="*/ 7 h 139"/>
                <a:gd name="T24" fmla="*/ 11 w 45"/>
                <a:gd name="T25" fmla="*/ 14 h 139"/>
                <a:gd name="T26" fmla="*/ 4 w 45"/>
                <a:gd name="T27" fmla="*/ 23 h 139"/>
                <a:gd name="T28" fmla="*/ 0 w 45"/>
                <a:gd name="T29" fmla="*/ 39 h 139"/>
                <a:gd name="T30" fmla="*/ 0 w 45"/>
                <a:gd name="T31" fmla="*/ 139 h 139"/>
                <a:gd name="T32" fmla="*/ 3 w 45"/>
                <a:gd name="T33" fmla="*/ 139 h 139"/>
                <a:gd name="T34" fmla="*/ 3 w 45"/>
                <a:gd name="T35" fmla="*/ 42 h 1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 h="139">
                  <a:moveTo>
                    <a:pt x="3" y="42"/>
                  </a:moveTo>
                  <a:lnTo>
                    <a:pt x="6" y="42"/>
                  </a:lnTo>
                  <a:lnTo>
                    <a:pt x="12" y="42"/>
                  </a:lnTo>
                  <a:lnTo>
                    <a:pt x="20" y="39"/>
                  </a:lnTo>
                  <a:lnTo>
                    <a:pt x="29" y="35"/>
                  </a:lnTo>
                  <a:lnTo>
                    <a:pt x="37" y="27"/>
                  </a:lnTo>
                  <a:lnTo>
                    <a:pt x="43" y="17"/>
                  </a:lnTo>
                  <a:lnTo>
                    <a:pt x="45" y="2"/>
                  </a:lnTo>
                  <a:lnTo>
                    <a:pt x="43" y="0"/>
                  </a:lnTo>
                  <a:lnTo>
                    <a:pt x="37" y="2"/>
                  </a:lnTo>
                  <a:lnTo>
                    <a:pt x="29" y="3"/>
                  </a:lnTo>
                  <a:lnTo>
                    <a:pt x="19" y="7"/>
                  </a:lnTo>
                  <a:lnTo>
                    <a:pt x="11" y="14"/>
                  </a:lnTo>
                  <a:lnTo>
                    <a:pt x="4" y="23"/>
                  </a:lnTo>
                  <a:lnTo>
                    <a:pt x="0" y="39"/>
                  </a:lnTo>
                  <a:lnTo>
                    <a:pt x="0" y="139"/>
                  </a:lnTo>
                  <a:lnTo>
                    <a:pt x="3" y="139"/>
                  </a:lnTo>
                  <a:lnTo>
                    <a:pt x="3" y="4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89" name="Freeform 10"/>
            <p:cNvSpPr>
              <a:spLocks/>
            </p:cNvSpPr>
            <p:nvPr/>
          </p:nvSpPr>
          <p:spPr bwMode="gray">
            <a:xfrm>
              <a:off x="1765" y="378"/>
              <a:ext cx="146" cy="211"/>
            </a:xfrm>
            <a:custGeom>
              <a:avLst/>
              <a:gdLst>
                <a:gd name="T0" fmla="*/ 68 w 146"/>
                <a:gd name="T1" fmla="*/ 67 h 211"/>
                <a:gd name="T2" fmla="*/ 67 w 146"/>
                <a:gd name="T3" fmla="*/ 67 h 211"/>
                <a:gd name="T4" fmla="*/ 60 w 146"/>
                <a:gd name="T5" fmla="*/ 66 h 211"/>
                <a:gd name="T6" fmla="*/ 50 w 146"/>
                <a:gd name="T7" fmla="*/ 64 h 211"/>
                <a:gd name="T8" fmla="*/ 41 w 146"/>
                <a:gd name="T9" fmla="*/ 62 h 211"/>
                <a:gd name="T10" fmla="*/ 29 w 146"/>
                <a:gd name="T11" fmla="*/ 55 h 211"/>
                <a:gd name="T12" fmla="*/ 18 w 146"/>
                <a:gd name="T13" fmla="*/ 47 h 211"/>
                <a:gd name="T14" fmla="*/ 10 w 146"/>
                <a:gd name="T15" fmla="*/ 35 h 211"/>
                <a:gd name="T16" fmla="*/ 3 w 146"/>
                <a:gd name="T17" fmla="*/ 20 h 211"/>
                <a:gd name="T18" fmla="*/ 0 w 146"/>
                <a:gd name="T19" fmla="*/ 0 h 211"/>
                <a:gd name="T20" fmla="*/ 3 w 146"/>
                <a:gd name="T21" fmla="*/ 0 h 211"/>
                <a:gd name="T22" fmla="*/ 10 w 146"/>
                <a:gd name="T23" fmla="*/ 0 h 211"/>
                <a:gd name="T24" fmla="*/ 19 w 146"/>
                <a:gd name="T25" fmla="*/ 0 h 211"/>
                <a:gd name="T26" fmla="*/ 30 w 146"/>
                <a:gd name="T27" fmla="*/ 2 h 211"/>
                <a:gd name="T28" fmla="*/ 41 w 146"/>
                <a:gd name="T29" fmla="*/ 6 h 211"/>
                <a:gd name="T30" fmla="*/ 53 w 146"/>
                <a:gd name="T31" fmla="*/ 14 h 211"/>
                <a:gd name="T32" fmla="*/ 62 w 146"/>
                <a:gd name="T33" fmla="*/ 25 h 211"/>
                <a:gd name="T34" fmla="*/ 69 w 146"/>
                <a:gd name="T35" fmla="*/ 41 h 211"/>
                <a:gd name="T36" fmla="*/ 73 w 146"/>
                <a:gd name="T37" fmla="*/ 62 h 211"/>
                <a:gd name="T38" fmla="*/ 73 w 146"/>
                <a:gd name="T39" fmla="*/ 60 h 211"/>
                <a:gd name="T40" fmla="*/ 73 w 146"/>
                <a:gd name="T41" fmla="*/ 55 h 211"/>
                <a:gd name="T42" fmla="*/ 75 w 146"/>
                <a:gd name="T43" fmla="*/ 45 h 211"/>
                <a:gd name="T44" fmla="*/ 79 w 146"/>
                <a:gd name="T45" fmla="*/ 36 h 211"/>
                <a:gd name="T46" fmla="*/ 84 w 146"/>
                <a:gd name="T47" fmla="*/ 25 h 211"/>
                <a:gd name="T48" fmla="*/ 92 w 146"/>
                <a:gd name="T49" fmla="*/ 16 h 211"/>
                <a:gd name="T50" fmla="*/ 106 w 146"/>
                <a:gd name="T51" fmla="*/ 8 h 211"/>
                <a:gd name="T52" fmla="*/ 123 w 146"/>
                <a:gd name="T53" fmla="*/ 2 h 211"/>
                <a:gd name="T54" fmla="*/ 146 w 146"/>
                <a:gd name="T55" fmla="*/ 0 h 211"/>
                <a:gd name="T56" fmla="*/ 145 w 146"/>
                <a:gd name="T57" fmla="*/ 2 h 211"/>
                <a:gd name="T58" fmla="*/ 145 w 146"/>
                <a:gd name="T59" fmla="*/ 8 h 211"/>
                <a:gd name="T60" fmla="*/ 143 w 146"/>
                <a:gd name="T61" fmla="*/ 17 h 211"/>
                <a:gd name="T62" fmla="*/ 139 w 146"/>
                <a:gd name="T63" fmla="*/ 28 h 211"/>
                <a:gd name="T64" fmla="*/ 134 w 146"/>
                <a:gd name="T65" fmla="*/ 39 h 211"/>
                <a:gd name="T66" fmla="*/ 126 w 146"/>
                <a:gd name="T67" fmla="*/ 49 h 211"/>
                <a:gd name="T68" fmla="*/ 114 w 146"/>
                <a:gd name="T69" fmla="*/ 59 h 211"/>
                <a:gd name="T70" fmla="*/ 98 w 146"/>
                <a:gd name="T71" fmla="*/ 64 h 211"/>
                <a:gd name="T72" fmla="*/ 79 w 146"/>
                <a:gd name="T73" fmla="*/ 67 h 211"/>
                <a:gd name="T74" fmla="*/ 79 w 146"/>
                <a:gd name="T75" fmla="*/ 211 h 211"/>
                <a:gd name="T76" fmla="*/ 68 w 146"/>
                <a:gd name="T77" fmla="*/ 211 h 211"/>
                <a:gd name="T78" fmla="*/ 68 w 146"/>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211">
                  <a:moveTo>
                    <a:pt x="68" y="67"/>
                  </a:moveTo>
                  <a:lnTo>
                    <a:pt x="67" y="67"/>
                  </a:lnTo>
                  <a:lnTo>
                    <a:pt x="60" y="66"/>
                  </a:lnTo>
                  <a:lnTo>
                    <a:pt x="50" y="64"/>
                  </a:lnTo>
                  <a:lnTo>
                    <a:pt x="41" y="62"/>
                  </a:lnTo>
                  <a:lnTo>
                    <a:pt x="29" y="55"/>
                  </a:lnTo>
                  <a:lnTo>
                    <a:pt x="18" y="47"/>
                  </a:lnTo>
                  <a:lnTo>
                    <a:pt x="10" y="35"/>
                  </a:lnTo>
                  <a:lnTo>
                    <a:pt x="3" y="20"/>
                  </a:lnTo>
                  <a:lnTo>
                    <a:pt x="0" y="0"/>
                  </a:lnTo>
                  <a:lnTo>
                    <a:pt x="3" y="0"/>
                  </a:lnTo>
                  <a:lnTo>
                    <a:pt x="10" y="0"/>
                  </a:lnTo>
                  <a:lnTo>
                    <a:pt x="19" y="0"/>
                  </a:lnTo>
                  <a:lnTo>
                    <a:pt x="30" y="2"/>
                  </a:lnTo>
                  <a:lnTo>
                    <a:pt x="41" y="6"/>
                  </a:lnTo>
                  <a:lnTo>
                    <a:pt x="53" y="14"/>
                  </a:lnTo>
                  <a:lnTo>
                    <a:pt x="62" y="25"/>
                  </a:lnTo>
                  <a:lnTo>
                    <a:pt x="69" y="41"/>
                  </a:lnTo>
                  <a:lnTo>
                    <a:pt x="73" y="62"/>
                  </a:lnTo>
                  <a:lnTo>
                    <a:pt x="73" y="60"/>
                  </a:lnTo>
                  <a:lnTo>
                    <a:pt x="73" y="55"/>
                  </a:lnTo>
                  <a:lnTo>
                    <a:pt x="75" y="45"/>
                  </a:lnTo>
                  <a:lnTo>
                    <a:pt x="79" y="36"/>
                  </a:lnTo>
                  <a:lnTo>
                    <a:pt x="84" y="25"/>
                  </a:lnTo>
                  <a:lnTo>
                    <a:pt x="92" y="16"/>
                  </a:lnTo>
                  <a:lnTo>
                    <a:pt x="106" y="8"/>
                  </a:lnTo>
                  <a:lnTo>
                    <a:pt x="123" y="2"/>
                  </a:lnTo>
                  <a:lnTo>
                    <a:pt x="146" y="0"/>
                  </a:lnTo>
                  <a:lnTo>
                    <a:pt x="145" y="2"/>
                  </a:lnTo>
                  <a:lnTo>
                    <a:pt x="145" y="8"/>
                  </a:lnTo>
                  <a:lnTo>
                    <a:pt x="143" y="17"/>
                  </a:lnTo>
                  <a:lnTo>
                    <a:pt x="139" y="28"/>
                  </a:lnTo>
                  <a:lnTo>
                    <a:pt x="134" y="39"/>
                  </a:lnTo>
                  <a:lnTo>
                    <a:pt x="126" y="49"/>
                  </a:lnTo>
                  <a:lnTo>
                    <a:pt x="114" y="59"/>
                  </a:lnTo>
                  <a:lnTo>
                    <a:pt x="98" y="64"/>
                  </a:lnTo>
                  <a:lnTo>
                    <a:pt x="79" y="67"/>
                  </a:lnTo>
                  <a:lnTo>
                    <a:pt x="79" y="211"/>
                  </a:lnTo>
                  <a:lnTo>
                    <a:pt x="68" y="211"/>
                  </a:lnTo>
                  <a:lnTo>
                    <a:pt x="68"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0" name="Freeform 11"/>
            <p:cNvSpPr>
              <a:spLocks/>
            </p:cNvSpPr>
            <p:nvPr/>
          </p:nvSpPr>
          <p:spPr bwMode="gray">
            <a:xfrm>
              <a:off x="2792" y="378"/>
              <a:ext cx="144" cy="211"/>
            </a:xfrm>
            <a:custGeom>
              <a:avLst/>
              <a:gdLst>
                <a:gd name="T0" fmla="*/ 67 w 144"/>
                <a:gd name="T1" fmla="*/ 67 h 211"/>
                <a:gd name="T2" fmla="*/ 66 w 144"/>
                <a:gd name="T3" fmla="*/ 67 h 211"/>
                <a:gd name="T4" fmla="*/ 59 w 144"/>
                <a:gd name="T5" fmla="*/ 66 h 211"/>
                <a:gd name="T6" fmla="*/ 50 w 144"/>
                <a:gd name="T7" fmla="*/ 64 h 211"/>
                <a:gd name="T8" fmla="*/ 39 w 144"/>
                <a:gd name="T9" fmla="*/ 62 h 211"/>
                <a:gd name="T10" fmla="*/ 28 w 144"/>
                <a:gd name="T11" fmla="*/ 55 h 211"/>
                <a:gd name="T12" fmla="*/ 17 w 144"/>
                <a:gd name="T13" fmla="*/ 47 h 211"/>
                <a:gd name="T14" fmla="*/ 9 w 144"/>
                <a:gd name="T15" fmla="*/ 35 h 211"/>
                <a:gd name="T16" fmla="*/ 2 w 144"/>
                <a:gd name="T17" fmla="*/ 20 h 211"/>
                <a:gd name="T18" fmla="*/ 0 w 144"/>
                <a:gd name="T19" fmla="*/ 0 h 211"/>
                <a:gd name="T20" fmla="*/ 2 w 144"/>
                <a:gd name="T21" fmla="*/ 0 h 211"/>
                <a:gd name="T22" fmla="*/ 9 w 144"/>
                <a:gd name="T23" fmla="*/ 0 h 211"/>
                <a:gd name="T24" fmla="*/ 17 w 144"/>
                <a:gd name="T25" fmla="*/ 0 h 211"/>
                <a:gd name="T26" fmla="*/ 28 w 144"/>
                <a:gd name="T27" fmla="*/ 2 h 211"/>
                <a:gd name="T28" fmla="*/ 40 w 144"/>
                <a:gd name="T29" fmla="*/ 6 h 211"/>
                <a:gd name="T30" fmla="*/ 51 w 144"/>
                <a:gd name="T31" fmla="*/ 14 h 211"/>
                <a:gd name="T32" fmla="*/ 62 w 144"/>
                <a:gd name="T33" fmla="*/ 25 h 211"/>
                <a:gd name="T34" fmla="*/ 69 w 144"/>
                <a:gd name="T35" fmla="*/ 41 h 211"/>
                <a:gd name="T36" fmla="*/ 73 w 144"/>
                <a:gd name="T37" fmla="*/ 62 h 211"/>
                <a:gd name="T38" fmla="*/ 73 w 144"/>
                <a:gd name="T39" fmla="*/ 60 h 211"/>
                <a:gd name="T40" fmla="*/ 73 w 144"/>
                <a:gd name="T41" fmla="*/ 55 h 211"/>
                <a:gd name="T42" fmla="*/ 74 w 144"/>
                <a:gd name="T43" fmla="*/ 45 h 211"/>
                <a:gd name="T44" fmla="*/ 77 w 144"/>
                <a:gd name="T45" fmla="*/ 36 h 211"/>
                <a:gd name="T46" fmla="*/ 82 w 144"/>
                <a:gd name="T47" fmla="*/ 25 h 211"/>
                <a:gd name="T48" fmla="*/ 91 w 144"/>
                <a:gd name="T49" fmla="*/ 16 h 211"/>
                <a:gd name="T50" fmla="*/ 105 w 144"/>
                <a:gd name="T51" fmla="*/ 8 h 211"/>
                <a:gd name="T52" fmla="*/ 121 w 144"/>
                <a:gd name="T53" fmla="*/ 2 h 211"/>
                <a:gd name="T54" fmla="*/ 144 w 144"/>
                <a:gd name="T55" fmla="*/ 0 h 211"/>
                <a:gd name="T56" fmla="*/ 144 w 144"/>
                <a:gd name="T57" fmla="*/ 2 h 211"/>
                <a:gd name="T58" fmla="*/ 144 w 144"/>
                <a:gd name="T59" fmla="*/ 8 h 211"/>
                <a:gd name="T60" fmla="*/ 141 w 144"/>
                <a:gd name="T61" fmla="*/ 17 h 211"/>
                <a:gd name="T62" fmla="*/ 139 w 144"/>
                <a:gd name="T63" fmla="*/ 28 h 211"/>
                <a:gd name="T64" fmla="*/ 133 w 144"/>
                <a:gd name="T65" fmla="*/ 39 h 211"/>
                <a:gd name="T66" fmla="*/ 125 w 144"/>
                <a:gd name="T67" fmla="*/ 49 h 211"/>
                <a:gd name="T68" fmla="*/ 113 w 144"/>
                <a:gd name="T69" fmla="*/ 59 h 211"/>
                <a:gd name="T70" fmla="*/ 97 w 144"/>
                <a:gd name="T71" fmla="*/ 64 h 211"/>
                <a:gd name="T72" fmla="*/ 77 w 144"/>
                <a:gd name="T73" fmla="*/ 67 h 211"/>
                <a:gd name="T74" fmla="*/ 77 w 144"/>
                <a:gd name="T75" fmla="*/ 211 h 211"/>
                <a:gd name="T76" fmla="*/ 67 w 144"/>
                <a:gd name="T77" fmla="*/ 211 h 211"/>
                <a:gd name="T78" fmla="*/ 67 w 144"/>
                <a:gd name="T79" fmla="*/ 67 h 21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4" h="211">
                  <a:moveTo>
                    <a:pt x="67" y="67"/>
                  </a:moveTo>
                  <a:lnTo>
                    <a:pt x="66" y="67"/>
                  </a:lnTo>
                  <a:lnTo>
                    <a:pt x="59" y="66"/>
                  </a:lnTo>
                  <a:lnTo>
                    <a:pt x="50" y="64"/>
                  </a:lnTo>
                  <a:lnTo>
                    <a:pt x="39" y="62"/>
                  </a:lnTo>
                  <a:lnTo>
                    <a:pt x="28" y="55"/>
                  </a:lnTo>
                  <a:lnTo>
                    <a:pt x="17" y="47"/>
                  </a:lnTo>
                  <a:lnTo>
                    <a:pt x="9" y="35"/>
                  </a:lnTo>
                  <a:lnTo>
                    <a:pt x="2" y="20"/>
                  </a:lnTo>
                  <a:lnTo>
                    <a:pt x="0" y="0"/>
                  </a:lnTo>
                  <a:lnTo>
                    <a:pt x="2" y="0"/>
                  </a:lnTo>
                  <a:lnTo>
                    <a:pt x="9" y="0"/>
                  </a:lnTo>
                  <a:lnTo>
                    <a:pt x="17" y="0"/>
                  </a:lnTo>
                  <a:lnTo>
                    <a:pt x="28" y="2"/>
                  </a:lnTo>
                  <a:lnTo>
                    <a:pt x="40" y="6"/>
                  </a:lnTo>
                  <a:lnTo>
                    <a:pt x="51" y="14"/>
                  </a:lnTo>
                  <a:lnTo>
                    <a:pt x="62" y="25"/>
                  </a:lnTo>
                  <a:lnTo>
                    <a:pt x="69" y="41"/>
                  </a:lnTo>
                  <a:lnTo>
                    <a:pt x="73" y="62"/>
                  </a:lnTo>
                  <a:lnTo>
                    <a:pt x="73" y="60"/>
                  </a:lnTo>
                  <a:lnTo>
                    <a:pt x="73" y="55"/>
                  </a:lnTo>
                  <a:lnTo>
                    <a:pt x="74" y="45"/>
                  </a:lnTo>
                  <a:lnTo>
                    <a:pt x="77" y="36"/>
                  </a:lnTo>
                  <a:lnTo>
                    <a:pt x="82" y="25"/>
                  </a:lnTo>
                  <a:lnTo>
                    <a:pt x="91" y="16"/>
                  </a:lnTo>
                  <a:lnTo>
                    <a:pt x="105" y="8"/>
                  </a:lnTo>
                  <a:lnTo>
                    <a:pt x="121" y="2"/>
                  </a:lnTo>
                  <a:lnTo>
                    <a:pt x="144" y="0"/>
                  </a:lnTo>
                  <a:lnTo>
                    <a:pt x="144" y="2"/>
                  </a:lnTo>
                  <a:lnTo>
                    <a:pt x="144" y="8"/>
                  </a:lnTo>
                  <a:lnTo>
                    <a:pt x="141" y="17"/>
                  </a:lnTo>
                  <a:lnTo>
                    <a:pt x="139" y="28"/>
                  </a:lnTo>
                  <a:lnTo>
                    <a:pt x="133" y="39"/>
                  </a:lnTo>
                  <a:lnTo>
                    <a:pt x="125" y="49"/>
                  </a:lnTo>
                  <a:lnTo>
                    <a:pt x="113" y="59"/>
                  </a:lnTo>
                  <a:lnTo>
                    <a:pt x="97" y="64"/>
                  </a:lnTo>
                  <a:lnTo>
                    <a:pt x="77" y="67"/>
                  </a:lnTo>
                  <a:lnTo>
                    <a:pt x="77" y="211"/>
                  </a:lnTo>
                  <a:lnTo>
                    <a:pt x="67" y="211"/>
                  </a:lnTo>
                  <a:lnTo>
                    <a:pt x="67" y="6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1" name="Freeform 12"/>
            <p:cNvSpPr>
              <a:spLocks/>
            </p:cNvSpPr>
            <p:nvPr/>
          </p:nvSpPr>
          <p:spPr bwMode="gray">
            <a:xfrm>
              <a:off x="2631" y="457"/>
              <a:ext cx="89" cy="132"/>
            </a:xfrm>
            <a:custGeom>
              <a:avLst/>
              <a:gdLst>
                <a:gd name="T0" fmla="*/ 42 w 89"/>
                <a:gd name="T1" fmla="*/ 43 h 132"/>
                <a:gd name="T2" fmla="*/ 39 w 89"/>
                <a:gd name="T3" fmla="*/ 42 h 132"/>
                <a:gd name="T4" fmla="*/ 33 w 89"/>
                <a:gd name="T5" fmla="*/ 42 h 132"/>
                <a:gd name="T6" fmla="*/ 25 w 89"/>
                <a:gd name="T7" fmla="*/ 39 h 132"/>
                <a:gd name="T8" fmla="*/ 16 w 89"/>
                <a:gd name="T9" fmla="*/ 35 h 132"/>
                <a:gd name="T10" fmla="*/ 8 w 89"/>
                <a:gd name="T11" fmla="*/ 27 h 132"/>
                <a:gd name="T12" fmla="*/ 2 w 89"/>
                <a:gd name="T13" fmla="*/ 16 h 132"/>
                <a:gd name="T14" fmla="*/ 0 w 89"/>
                <a:gd name="T15" fmla="*/ 0 h 132"/>
                <a:gd name="T16" fmla="*/ 2 w 89"/>
                <a:gd name="T17" fmla="*/ 0 h 132"/>
                <a:gd name="T18" fmla="*/ 6 w 89"/>
                <a:gd name="T19" fmla="*/ 0 h 132"/>
                <a:gd name="T20" fmla="*/ 12 w 89"/>
                <a:gd name="T21" fmla="*/ 1 h 132"/>
                <a:gd name="T22" fmla="*/ 21 w 89"/>
                <a:gd name="T23" fmla="*/ 3 h 132"/>
                <a:gd name="T24" fmla="*/ 29 w 89"/>
                <a:gd name="T25" fmla="*/ 8 h 132"/>
                <a:gd name="T26" fmla="*/ 37 w 89"/>
                <a:gd name="T27" fmla="*/ 15 h 132"/>
                <a:gd name="T28" fmla="*/ 42 w 89"/>
                <a:gd name="T29" fmla="*/ 26 h 132"/>
                <a:gd name="T30" fmla="*/ 45 w 89"/>
                <a:gd name="T31" fmla="*/ 39 h 132"/>
                <a:gd name="T32" fmla="*/ 45 w 89"/>
                <a:gd name="T33" fmla="*/ 38 h 132"/>
                <a:gd name="T34" fmla="*/ 45 w 89"/>
                <a:gd name="T35" fmla="*/ 34 h 132"/>
                <a:gd name="T36" fmla="*/ 46 w 89"/>
                <a:gd name="T37" fmla="*/ 27 h 132"/>
                <a:gd name="T38" fmla="*/ 49 w 89"/>
                <a:gd name="T39" fmla="*/ 20 h 132"/>
                <a:gd name="T40" fmla="*/ 54 w 89"/>
                <a:gd name="T41" fmla="*/ 14 h 132"/>
                <a:gd name="T42" fmla="*/ 62 w 89"/>
                <a:gd name="T43" fmla="*/ 7 h 132"/>
                <a:gd name="T44" fmla="*/ 73 w 89"/>
                <a:gd name="T45" fmla="*/ 3 h 132"/>
                <a:gd name="T46" fmla="*/ 89 w 89"/>
                <a:gd name="T47" fmla="*/ 0 h 132"/>
                <a:gd name="T48" fmla="*/ 89 w 89"/>
                <a:gd name="T49" fmla="*/ 3 h 132"/>
                <a:gd name="T50" fmla="*/ 88 w 89"/>
                <a:gd name="T51" fmla="*/ 10 h 132"/>
                <a:gd name="T52" fmla="*/ 87 w 89"/>
                <a:gd name="T53" fmla="*/ 18 h 132"/>
                <a:gd name="T54" fmla="*/ 81 w 89"/>
                <a:gd name="T55" fmla="*/ 26 h 132"/>
                <a:gd name="T56" fmla="*/ 74 w 89"/>
                <a:gd name="T57" fmla="*/ 34 h 132"/>
                <a:gd name="T58" fmla="*/ 64 w 89"/>
                <a:gd name="T59" fmla="*/ 41 h 132"/>
                <a:gd name="T60" fmla="*/ 47 w 89"/>
                <a:gd name="T61" fmla="*/ 43 h 132"/>
                <a:gd name="T62" fmla="*/ 47 w 89"/>
                <a:gd name="T63" fmla="*/ 132 h 132"/>
                <a:gd name="T64" fmla="*/ 42 w 89"/>
                <a:gd name="T65" fmla="*/ 132 h 132"/>
                <a:gd name="T66" fmla="*/ 42 w 89"/>
                <a:gd name="T67" fmla="*/ 43 h 13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9" h="132">
                  <a:moveTo>
                    <a:pt x="42" y="43"/>
                  </a:moveTo>
                  <a:lnTo>
                    <a:pt x="39" y="42"/>
                  </a:lnTo>
                  <a:lnTo>
                    <a:pt x="33" y="42"/>
                  </a:lnTo>
                  <a:lnTo>
                    <a:pt x="25" y="39"/>
                  </a:lnTo>
                  <a:lnTo>
                    <a:pt x="16" y="35"/>
                  </a:lnTo>
                  <a:lnTo>
                    <a:pt x="8" y="27"/>
                  </a:lnTo>
                  <a:lnTo>
                    <a:pt x="2" y="16"/>
                  </a:lnTo>
                  <a:lnTo>
                    <a:pt x="0" y="0"/>
                  </a:lnTo>
                  <a:lnTo>
                    <a:pt x="2" y="0"/>
                  </a:lnTo>
                  <a:lnTo>
                    <a:pt x="6" y="0"/>
                  </a:lnTo>
                  <a:lnTo>
                    <a:pt x="12" y="1"/>
                  </a:lnTo>
                  <a:lnTo>
                    <a:pt x="21" y="3"/>
                  </a:lnTo>
                  <a:lnTo>
                    <a:pt x="29" y="8"/>
                  </a:lnTo>
                  <a:lnTo>
                    <a:pt x="37" y="15"/>
                  </a:lnTo>
                  <a:lnTo>
                    <a:pt x="42" y="26"/>
                  </a:lnTo>
                  <a:lnTo>
                    <a:pt x="45" y="39"/>
                  </a:lnTo>
                  <a:lnTo>
                    <a:pt x="45" y="38"/>
                  </a:lnTo>
                  <a:lnTo>
                    <a:pt x="45" y="34"/>
                  </a:lnTo>
                  <a:lnTo>
                    <a:pt x="46" y="27"/>
                  </a:lnTo>
                  <a:lnTo>
                    <a:pt x="49" y="20"/>
                  </a:lnTo>
                  <a:lnTo>
                    <a:pt x="54" y="14"/>
                  </a:lnTo>
                  <a:lnTo>
                    <a:pt x="62" y="7"/>
                  </a:lnTo>
                  <a:lnTo>
                    <a:pt x="73" y="3"/>
                  </a:lnTo>
                  <a:lnTo>
                    <a:pt x="89" y="0"/>
                  </a:lnTo>
                  <a:lnTo>
                    <a:pt x="89" y="3"/>
                  </a:lnTo>
                  <a:lnTo>
                    <a:pt x="88" y="10"/>
                  </a:lnTo>
                  <a:lnTo>
                    <a:pt x="87" y="18"/>
                  </a:lnTo>
                  <a:lnTo>
                    <a:pt x="81" y="26"/>
                  </a:lnTo>
                  <a:lnTo>
                    <a:pt x="74" y="34"/>
                  </a:lnTo>
                  <a:lnTo>
                    <a:pt x="64" y="41"/>
                  </a:lnTo>
                  <a:lnTo>
                    <a:pt x="47" y="43"/>
                  </a:lnTo>
                  <a:lnTo>
                    <a:pt x="47" y="132"/>
                  </a:lnTo>
                  <a:lnTo>
                    <a:pt x="42" y="132"/>
                  </a:lnTo>
                  <a:lnTo>
                    <a:pt x="42"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2" name="Freeform 13"/>
            <p:cNvSpPr>
              <a:spLocks/>
            </p:cNvSpPr>
            <p:nvPr/>
          </p:nvSpPr>
          <p:spPr bwMode="gray">
            <a:xfrm>
              <a:off x="2430" y="403"/>
              <a:ext cx="88" cy="186"/>
            </a:xfrm>
            <a:custGeom>
              <a:avLst/>
              <a:gdLst>
                <a:gd name="T0" fmla="*/ 43 w 88"/>
                <a:gd name="T1" fmla="*/ 43 h 186"/>
                <a:gd name="T2" fmla="*/ 41 w 88"/>
                <a:gd name="T3" fmla="*/ 43 h 186"/>
                <a:gd name="T4" fmla="*/ 35 w 88"/>
                <a:gd name="T5" fmla="*/ 43 h 186"/>
                <a:gd name="T6" fmla="*/ 27 w 88"/>
                <a:gd name="T7" fmla="*/ 41 h 186"/>
                <a:gd name="T8" fmla="*/ 18 w 88"/>
                <a:gd name="T9" fmla="*/ 35 h 186"/>
                <a:gd name="T10" fmla="*/ 8 w 88"/>
                <a:gd name="T11" fmla="*/ 28 h 186"/>
                <a:gd name="T12" fmla="*/ 3 w 88"/>
                <a:gd name="T13" fmla="*/ 16 h 186"/>
                <a:gd name="T14" fmla="*/ 0 w 88"/>
                <a:gd name="T15" fmla="*/ 0 h 186"/>
                <a:gd name="T16" fmla="*/ 3 w 88"/>
                <a:gd name="T17" fmla="*/ 0 h 186"/>
                <a:gd name="T18" fmla="*/ 8 w 88"/>
                <a:gd name="T19" fmla="*/ 0 h 186"/>
                <a:gd name="T20" fmla="*/ 17 w 88"/>
                <a:gd name="T21" fmla="*/ 1 h 186"/>
                <a:gd name="T22" fmla="*/ 26 w 88"/>
                <a:gd name="T23" fmla="*/ 6 h 186"/>
                <a:gd name="T24" fmla="*/ 35 w 88"/>
                <a:gd name="T25" fmla="*/ 12 h 186"/>
                <a:gd name="T26" fmla="*/ 42 w 88"/>
                <a:gd name="T27" fmla="*/ 24 h 186"/>
                <a:gd name="T28" fmla="*/ 48 w 88"/>
                <a:gd name="T29" fmla="*/ 41 h 186"/>
                <a:gd name="T30" fmla="*/ 48 w 88"/>
                <a:gd name="T31" fmla="*/ 90 h 186"/>
                <a:gd name="T32" fmla="*/ 48 w 88"/>
                <a:gd name="T33" fmla="*/ 88 h 186"/>
                <a:gd name="T34" fmla="*/ 48 w 88"/>
                <a:gd name="T35" fmla="*/ 82 h 186"/>
                <a:gd name="T36" fmla="*/ 50 w 88"/>
                <a:gd name="T37" fmla="*/ 74 h 186"/>
                <a:gd name="T38" fmla="*/ 54 w 88"/>
                <a:gd name="T39" fmla="*/ 66 h 186"/>
                <a:gd name="T40" fmla="*/ 61 w 88"/>
                <a:gd name="T41" fmla="*/ 58 h 186"/>
                <a:gd name="T42" fmla="*/ 72 w 88"/>
                <a:gd name="T43" fmla="*/ 53 h 186"/>
                <a:gd name="T44" fmla="*/ 87 w 88"/>
                <a:gd name="T45" fmla="*/ 50 h 186"/>
                <a:gd name="T46" fmla="*/ 88 w 88"/>
                <a:gd name="T47" fmla="*/ 51 h 186"/>
                <a:gd name="T48" fmla="*/ 88 w 88"/>
                <a:gd name="T49" fmla="*/ 57 h 186"/>
                <a:gd name="T50" fmla="*/ 87 w 88"/>
                <a:gd name="T51" fmla="*/ 64 h 186"/>
                <a:gd name="T52" fmla="*/ 84 w 88"/>
                <a:gd name="T53" fmla="*/ 72 h 186"/>
                <a:gd name="T54" fmla="*/ 80 w 88"/>
                <a:gd name="T55" fmla="*/ 80 h 186"/>
                <a:gd name="T56" fmla="*/ 73 w 88"/>
                <a:gd name="T57" fmla="*/ 86 h 186"/>
                <a:gd name="T58" fmla="*/ 62 w 88"/>
                <a:gd name="T59" fmla="*/ 92 h 186"/>
                <a:gd name="T60" fmla="*/ 48 w 88"/>
                <a:gd name="T61" fmla="*/ 93 h 186"/>
                <a:gd name="T62" fmla="*/ 48 w 88"/>
                <a:gd name="T63" fmla="*/ 186 h 186"/>
                <a:gd name="T64" fmla="*/ 43 w 88"/>
                <a:gd name="T65" fmla="*/ 186 h 186"/>
                <a:gd name="T66" fmla="*/ 43 w 88"/>
                <a:gd name="T67" fmla="*/ 143 h 186"/>
                <a:gd name="T68" fmla="*/ 42 w 88"/>
                <a:gd name="T69" fmla="*/ 143 h 186"/>
                <a:gd name="T70" fmla="*/ 37 w 88"/>
                <a:gd name="T71" fmla="*/ 142 h 186"/>
                <a:gd name="T72" fmla="*/ 29 w 88"/>
                <a:gd name="T73" fmla="*/ 140 h 186"/>
                <a:gd name="T74" fmla="*/ 22 w 88"/>
                <a:gd name="T75" fmla="*/ 136 h 186"/>
                <a:gd name="T76" fmla="*/ 14 w 88"/>
                <a:gd name="T77" fmla="*/ 130 h 186"/>
                <a:gd name="T78" fmla="*/ 8 w 88"/>
                <a:gd name="T79" fmla="*/ 120 h 186"/>
                <a:gd name="T80" fmla="*/ 7 w 88"/>
                <a:gd name="T81" fmla="*/ 105 h 186"/>
                <a:gd name="T82" fmla="*/ 8 w 88"/>
                <a:gd name="T83" fmla="*/ 105 h 186"/>
                <a:gd name="T84" fmla="*/ 12 w 88"/>
                <a:gd name="T85" fmla="*/ 107 h 186"/>
                <a:gd name="T86" fmla="*/ 19 w 88"/>
                <a:gd name="T87" fmla="*/ 108 h 186"/>
                <a:gd name="T88" fmla="*/ 26 w 88"/>
                <a:gd name="T89" fmla="*/ 111 h 186"/>
                <a:gd name="T90" fmla="*/ 34 w 88"/>
                <a:gd name="T91" fmla="*/ 117 h 186"/>
                <a:gd name="T92" fmla="*/ 39 w 88"/>
                <a:gd name="T93" fmla="*/ 127 h 186"/>
                <a:gd name="T94" fmla="*/ 43 w 88"/>
                <a:gd name="T95" fmla="*/ 140 h 186"/>
                <a:gd name="T96" fmla="*/ 43 w 88"/>
                <a:gd name="T97" fmla="*/ 43 h 1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8" h="186">
                  <a:moveTo>
                    <a:pt x="43" y="43"/>
                  </a:moveTo>
                  <a:lnTo>
                    <a:pt x="41" y="43"/>
                  </a:lnTo>
                  <a:lnTo>
                    <a:pt x="35" y="43"/>
                  </a:lnTo>
                  <a:lnTo>
                    <a:pt x="27" y="41"/>
                  </a:lnTo>
                  <a:lnTo>
                    <a:pt x="18" y="35"/>
                  </a:lnTo>
                  <a:lnTo>
                    <a:pt x="8" y="28"/>
                  </a:lnTo>
                  <a:lnTo>
                    <a:pt x="3" y="16"/>
                  </a:lnTo>
                  <a:lnTo>
                    <a:pt x="0" y="0"/>
                  </a:lnTo>
                  <a:lnTo>
                    <a:pt x="3" y="0"/>
                  </a:lnTo>
                  <a:lnTo>
                    <a:pt x="8" y="0"/>
                  </a:lnTo>
                  <a:lnTo>
                    <a:pt x="17" y="1"/>
                  </a:lnTo>
                  <a:lnTo>
                    <a:pt x="26" y="6"/>
                  </a:lnTo>
                  <a:lnTo>
                    <a:pt x="35" y="12"/>
                  </a:lnTo>
                  <a:lnTo>
                    <a:pt x="42" y="24"/>
                  </a:lnTo>
                  <a:lnTo>
                    <a:pt x="48" y="41"/>
                  </a:lnTo>
                  <a:lnTo>
                    <a:pt x="48" y="90"/>
                  </a:lnTo>
                  <a:lnTo>
                    <a:pt x="48" y="88"/>
                  </a:lnTo>
                  <a:lnTo>
                    <a:pt x="48" y="82"/>
                  </a:lnTo>
                  <a:lnTo>
                    <a:pt x="50" y="74"/>
                  </a:lnTo>
                  <a:lnTo>
                    <a:pt x="54" y="66"/>
                  </a:lnTo>
                  <a:lnTo>
                    <a:pt x="61" y="58"/>
                  </a:lnTo>
                  <a:lnTo>
                    <a:pt x="72" y="53"/>
                  </a:lnTo>
                  <a:lnTo>
                    <a:pt x="87" y="50"/>
                  </a:lnTo>
                  <a:lnTo>
                    <a:pt x="88" y="51"/>
                  </a:lnTo>
                  <a:lnTo>
                    <a:pt x="88" y="57"/>
                  </a:lnTo>
                  <a:lnTo>
                    <a:pt x="87" y="64"/>
                  </a:lnTo>
                  <a:lnTo>
                    <a:pt x="84" y="72"/>
                  </a:lnTo>
                  <a:lnTo>
                    <a:pt x="80" y="80"/>
                  </a:lnTo>
                  <a:lnTo>
                    <a:pt x="73" y="86"/>
                  </a:lnTo>
                  <a:lnTo>
                    <a:pt x="62" y="92"/>
                  </a:lnTo>
                  <a:lnTo>
                    <a:pt x="48" y="93"/>
                  </a:lnTo>
                  <a:lnTo>
                    <a:pt x="48" y="186"/>
                  </a:lnTo>
                  <a:lnTo>
                    <a:pt x="43" y="186"/>
                  </a:lnTo>
                  <a:lnTo>
                    <a:pt x="43" y="143"/>
                  </a:lnTo>
                  <a:lnTo>
                    <a:pt x="42" y="143"/>
                  </a:lnTo>
                  <a:lnTo>
                    <a:pt x="37" y="142"/>
                  </a:lnTo>
                  <a:lnTo>
                    <a:pt x="29" y="140"/>
                  </a:lnTo>
                  <a:lnTo>
                    <a:pt x="22" y="136"/>
                  </a:lnTo>
                  <a:lnTo>
                    <a:pt x="14" y="130"/>
                  </a:lnTo>
                  <a:lnTo>
                    <a:pt x="8" y="120"/>
                  </a:lnTo>
                  <a:lnTo>
                    <a:pt x="7" y="105"/>
                  </a:lnTo>
                  <a:lnTo>
                    <a:pt x="8" y="105"/>
                  </a:lnTo>
                  <a:lnTo>
                    <a:pt x="12" y="107"/>
                  </a:lnTo>
                  <a:lnTo>
                    <a:pt x="19" y="108"/>
                  </a:lnTo>
                  <a:lnTo>
                    <a:pt x="26" y="111"/>
                  </a:lnTo>
                  <a:lnTo>
                    <a:pt x="34" y="117"/>
                  </a:lnTo>
                  <a:lnTo>
                    <a:pt x="39" y="127"/>
                  </a:lnTo>
                  <a:lnTo>
                    <a:pt x="43" y="140"/>
                  </a:lnTo>
                  <a:lnTo>
                    <a:pt x="43" y="4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3" name="Freeform 14"/>
            <p:cNvSpPr>
              <a:spLocks/>
            </p:cNvSpPr>
            <p:nvPr/>
          </p:nvSpPr>
          <p:spPr bwMode="gray">
            <a:xfrm>
              <a:off x="1914" y="233"/>
              <a:ext cx="166" cy="356"/>
            </a:xfrm>
            <a:custGeom>
              <a:avLst/>
              <a:gdLst>
                <a:gd name="T0" fmla="*/ 85 w 166"/>
                <a:gd name="T1" fmla="*/ 84 h 356"/>
                <a:gd name="T2" fmla="*/ 101 w 166"/>
                <a:gd name="T3" fmla="*/ 81 h 356"/>
                <a:gd name="T4" fmla="*/ 124 w 166"/>
                <a:gd name="T5" fmla="*/ 73 h 356"/>
                <a:gd name="T6" fmla="*/ 148 w 166"/>
                <a:gd name="T7" fmla="*/ 56 h 356"/>
                <a:gd name="T8" fmla="*/ 163 w 166"/>
                <a:gd name="T9" fmla="*/ 23 h 356"/>
                <a:gd name="T10" fmla="*/ 163 w 166"/>
                <a:gd name="T11" fmla="*/ 0 h 356"/>
                <a:gd name="T12" fmla="*/ 148 w 166"/>
                <a:gd name="T13" fmla="*/ 0 h 356"/>
                <a:gd name="T14" fmla="*/ 125 w 166"/>
                <a:gd name="T15" fmla="*/ 6 h 356"/>
                <a:gd name="T16" fmla="*/ 101 w 166"/>
                <a:gd name="T17" fmla="*/ 22 h 356"/>
                <a:gd name="T18" fmla="*/ 82 w 166"/>
                <a:gd name="T19" fmla="*/ 54 h 356"/>
                <a:gd name="T20" fmla="*/ 77 w 166"/>
                <a:gd name="T21" fmla="*/ 173 h 356"/>
                <a:gd name="T22" fmla="*/ 77 w 166"/>
                <a:gd name="T23" fmla="*/ 165 h 356"/>
                <a:gd name="T24" fmla="*/ 71 w 166"/>
                <a:gd name="T25" fmla="*/ 146 h 356"/>
                <a:gd name="T26" fmla="*/ 60 w 166"/>
                <a:gd name="T27" fmla="*/ 123 h 356"/>
                <a:gd name="T28" fmla="*/ 38 w 166"/>
                <a:gd name="T29" fmla="*/ 104 h 356"/>
                <a:gd name="T30" fmla="*/ 0 w 166"/>
                <a:gd name="T31" fmla="*/ 96 h 356"/>
                <a:gd name="T32" fmla="*/ 0 w 166"/>
                <a:gd name="T33" fmla="*/ 103 h 356"/>
                <a:gd name="T34" fmla="*/ 0 w 166"/>
                <a:gd name="T35" fmla="*/ 120 h 356"/>
                <a:gd name="T36" fmla="*/ 8 w 166"/>
                <a:gd name="T37" fmla="*/ 143 h 356"/>
                <a:gd name="T38" fmla="*/ 24 w 166"/>
                <a:gd name="T39" fmla="*/ 163 h 356"/>
                <a:gd name="T40" fmla="*/ 55 w 166"/>
                <a:gd name="T41" fmla="*/ 177 h 356"/>
                <a:gd name="T42" fmla="*/ 77 w 166"/>
                <a:gd name="T43" fmla="*/ 356 h 356"/>
                <a:gd name="T44" fmla="*/ 82 w 166"/>
                <a:gd name="T45" fmla="*/ 274 h 356"/>
                <a:gd name="T46" fmla="*/ 91 w 166"/>
                <a:gd name="T47" fmla="*/ 273 h 356"/>
                <a:gd name="T48" fmla="*/ 112 w 166"/>
                <a:gd name="T49" fmla="*/ 267 h 356"/>
                <a:gd name="T50" fmla="*/ 135 w 166"/>
                <a:gd name="T51" fmla="*/ 252 h 356"/>
                <a:gd name="T52" fmla="*/ 151 w 166"/>
                <a:gd name="T53" fmla="*/ 224 h 356"/>
                <a:gd name="T54" fmla="*/ 152 w 166"/>
                <a:gd name="T55" fmla="*/ 203 h 356"/>
                <a:gd name="T56" fmla="*/ 137 w 166"/>
                <a:gd name="T57" fmla="*/ 204 h 356"/>
                <a:gd name="T58" fmla="*/ 117 w 166"/>
                <a:gd name="T59" fmla="*/ 211 h 356"/>
                <a:gd name="T60" fmla="*/ 97 w 166"/>
                <a:gd name="T61" fmla="*/ 231 h 356"/>
                <a:gd name="T62" fmla="*/ 82 w 166"/>
                <a:gd name="T63" fmla="*/ 267 h 3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66" h="356">
                  <a:moveTo>
                    <a:pt x="82" y="84"/>
                  </a:moveTo>
                  <a:lnTo>
                    <a:pt x="85" y="84"/>
                  </a:lnTo>
                  <a:lnTo>
                    <a:pt x="91" y="84"/>
                  </a:lnTo>
                  <a:lnTo>
                    <a:pt x="101" y="81"/>
                  </a:lnTo>
                  <a:lnTo>
                    <a:pt x="112" y="78"/>
                  </a:lnTo>
                  <a:lnTo>
                    <a:pt x="124" y="73"/>
                  </a:lnTo>
                  <a:lnTo>
                    <a:pt x="136" y="66"/>
                  </a:lnTo>
                  <a:lnTo>
                    <a:pt x="148" y="56"/>
                  </a:lnTo>
                  <a:lnTo>
                    <a:pt x="156" y="42"/>
                  </a:lnTo>
                  <a:lnTo>
                    <a:pt x="163" y="23"/>
                  </a:lnTo>
                  <a:lnTo>
                    <a:pt x="166" y="2"/>
                  </a:lnTo>
                  <a:lnTo>
                    <a:pt x="163" y="0"/>
                  </a:lnTo>
                  <a:lnTo>
                    <a:pt x="158" y="0"/>
                  </a:lnTo>
                  <a:lnTo>
                    <a:pt x="148" y="0"/>
                  </a:lnTo>
                  <a:lnTo>
                    <a:pt x="137" y="3"/>
                  </a:lnTo>
                  <a:lnTo>
                    <a:pt x="125" y="6"/>
                  </a:lnTo>
                  <a:lnTo>
                    <a:pt x="113" y="12"/>
                  </a:lnTo>
                  <a:lnTo>
                    <a:pt x="101" y="22"/>
                  </a:lnTo>
                  <a:lnTo>
                    <a:pt x="90" y="35"/>
                  </a:lnTo>
                  <a:lnTo>
                    <a:pt x="82" y="54"/>
                  </a:lnTo>
                  <a:lnTo>
                    <a:pt x="77" y="78"/>
                  </a:lnTo>
                  <a:lnTo>
                    <a:pt x="77" y="173"/>
                  </a:lnTo>
                  <a:lnTo>
                    <a:pt x="77" y="170"/>
                  </a:lnTo>
                  <a:lnTo>
                    <a:pt x="77" y="165"/>
                  </a:lnTo>
                  <a:lnTo>
                    <a:pt x="74" y="157"/>
                  </a:lnTo>
                  <a:lnTo>
                    <a:pt x="71" y="146"/>
                  </a:lnTo>
                  <a:lnTo>
                    <a:pt x="67" y="134"/>
                  </a:lnTo>
                  <a:lnTo>
                    <a:pt x="60" y="123"/>
                  </a:lnTo>
                  <a:lnTo>
                    <a:pt x="50" y="112"/>
                  </a:lnTo>
                  <a:lnTo>
                    <a:pt x="38" y="104"/>
                  </a:lnTo>
                  <a:lnTo>
                    <a:pt x="20" y="97"/>
                  </a:lnTo>
                  <a:lnTo>
                    <a:pt x="0" y="96"/>
                  </a:lnTo>
                  <a:lnTo>
                    <a:pt x="0" y="97"/>
                  </a:lnTo>
                  <a:lnTo>
                    <a:pt x="0" y="103"/>
                  </a:lnTo>
                  <a:lnTo>
                    <a:pt x="0" y="111"/>
                  </a:lnTo>
                  <a:lnTo>
                    <a:pt x="0" y="120"/>
                  </a:lnTo>
                  <a:lnTo>
                    <a:pt x="2" y="131"/>
                  </a:lnTo>
                  <a:lnTo>
                    <a:pt x="8" y="143"/>
                  </a:lnTo>
                  <a:lnTo>
                    <a:pt x="15" y="154"/>
                  </a:lnTo>
                  <a:lnTo>
                    <a:pt x="24" y="163"/>
                  </a:lnTo>
                  <a:lnTo>
                    <a:pt x="38" y="171"/>
                  </a:lnTo>
                  <a:lnTo>
                    <a:pt x="55" y="177"/>
                  </a:lnTo>
                  <a:lnTo>
                    <a:pt x="77" y="178"/>
                  </a:lnTo>
                  <a:lnTo>
                    <a:pt x="77" y="356"/>
                  </a:lnTo>
                  <a:lnTo>
                    <a:pt x="82" y="356"/>
                  </a:lnTo>
                  <a:lnTo>
                    <a:pt x="82" y="274"/>
                  </a:lnTo>
                  <a:lnTo>
                    <a:pt x="85" y="273"/>
                  </a:lnTo>
                  <a:lnTo>
                    <a:pt x="91" y="273"/>
                  </a:lnTo>
                  <a:lnTo>
                    <a:pt x="101" y="271"/>
                  </a:lnTo>
                  <a:lnTo>
                    <a:pt x="112" y="267"/>
                  </a:lnTo>
                  <a:lnTo>
                    <a:pt x="124" y="262"/>
                  </a:lnTo>
                  <a:lnTo>
                    <a:pt x="135" y="252"/>
                  </a:lnTo>
                  <a:lnTo>
                    <a:pt x="144" y="240"/>
                  </a:lnTo>
                  <a:lnTo>
                    <a:pt x="151" y="224"/>
                  </a:lnTo>
                  <a:lnTo>
                    <a:pt x="154" y="203"/>
                  </a:lnTo>
                  <a:lnTo>
                    <a:pt x="152" y="203"/>
                  </a:lnTo>
                  <a:lnTo>
                    <a:pt x="145" y="203"/>
                  </a:lnTo>
                  <a:lnTo>
                    <a:pt x="137" y="204"/>
                  </a:lnTo>
                  <a:lnTo>
                    <a:pt x="128" y="207"/>
                  </a:lnTo>
                  <a:lnTo>
                    <a:pt x="117" y="211"/>
                  </a:lnTo>
                  <a:lnTo>
                    <a:pt x="106" y="219"/>
                  </a:lnTo>
                  <a:lnTo>
                    <a:pt x="97" y="231"/>
                  </a:lnTo>
                  <a:lnTo>
                    <a:pt x="89" y="247"/>
                  </a:lnTo>
                  <a:lnTo>
                    <a:pt x="82" y="267"/>
                  </a:lnTo>
                  <a:lnTo>
                    <a:pt x="82" y="84"/>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4" name="Freeform 15"/>
            <p:cNvSpPr>
              <a:spLocks/>
            </p:cNvSpPr>
            <p:nvPr/>
          </p:nvSpPr>
          <p:spPr bwMode="gray">
            <a:xfrm>
              <a:off x="2514" y="379"/>
              <a:ext cx="92" cy="210"/>
            </a:xfrm>
            <a:custGeom>
              <a:avLst/>
              <a:gdLst>
                <a:gd name="T0" fmla="*/ 43 w 92"/>
                <a:gd name="T1" fmla="*/ 162 h 210"/>
                <a:gd name="T2" fmla="*/ 36 w 92"/>
                <a:gd name="T3" fmla="*/ 160 h 210"/>
                <a:gd name="T4" fmla="*/ 23 w 92"/>
                <a:gd name="T5" fmla="*/ 155 h 210"/>
                <a:gd name="T6" fmla="*/ 12 w 92"/>
                <a:gd name="T7" fmla="*/ 141 h 210"/>
                <a:gd name="T8" fmla="*/ 12 w 92"/>
                <a:gd name="T9" fmla="*/ 129 h 210"/>
                <a:gd name="T10" fmla="*/ 23 w 92"/>
                <a:gd name="T11" fmla="*/ 132 h 210"/>
                <a:gd name="T12" fmla="*/ 38 w 92"/>
                <a:gd name="T13" fmla="*/ 145 h 210"/>
                <a:gd name="T14" fmla="*/ 43 w 92"/>
                <a:gd name="T15" fmla="*/ 108 h 210"/>
                <a:gd name="T16" fmla="*/ 35 w 92"/>
                <a:gd name="T17" fmla="*/ 106 h 210"/>
                <a:gd name="T18" fmla="*/ 20 w 92"/>
                <a:gd name="T19" fmla="*/ 101 h 210"/>
                <a:gd name="T20" fmla="*/ 7 w 92"/>
                <a:gd name="T21" fmla="*/ 83 h 210"/>
                <a:gd name="T22" fmla="*/ 7 w 92"/>
                <a:gd name="T23" fmla="*/ 70 h 210"/>
                <a:gd name="T24" fmla="*/ 17 w 92"/>
                <a:gd name="T25" fmla="*/ 71 h 210"/>
                <a:gd name="T26" fmla="*/ 31 w 92"/>
                <a:gd name="T27" fmla="*/ 81 h 210"/>
                <a:gd name="T28" fmla="*/ 43 w 92"/>
                <a:gd name="T29" fmla="*/ 105 h 210"/>
                <a:gd name="T30" fmla="*/ 40 w 92"/>
                <a:gd name="T31" fmla="*/ 43 h 210"/>
                <a:gd name="T32" fmla="*/ 26 w 92"/>
                <a:gd name="T33" fmla="*/ 39 h 210"/>
                <a:gd name="T34" fmla="*/ 8 w 92"/>
                <a:gd name="T35" fmla="*/ 27 h 210"/>
                <a:gd name="T36" fmla="*/ 0 w 92"/>
                <a:gd name="T37" fmla="*/ 0 h 210"/>
                <a:gd name="T38" fmla="*/ 7 w 92"/>
                <a:gd name="T39" fmla="*/ 0 h 210"/>
                <a:gd name="T40" fmla="*/ 23 w 92"/>
                <a:gd name="T41" fmla="*/ 5 h 210"/>
                <a:gd name="T42" fmla="*/ 39 w 92"/>
                <a:gd name="T43" fmla="*/ 23 h 210"/>
                <a:gd name="T44" fmla="*/ 46 w 92"/>
                <a:gd name="T45" fmla="*/ 38 h 210"/>
                <a:gd name="T46" fmla="*/ 51 w 92"/>
                <a:gd name="T47" fmla="*/ 24 h 210"/>
                <a:gd name="T48" fmla="*/ 66 w 92"/>
                <a:gd name="T49" fmla="*/ 8 h 210"/>
                <a:gd name="T50" fmla="*/ 92 w 92"/>
                <a:gd name="T51" fmla="*/ 0 h 210"/>
                <a:gd name="T52" fmla="*/ 90 w 92"/>
                <a:gd name="T53" fmla="*/ 8 h 210"/>
                <a:gd name="T54" fmla="*/ 82 w 92"/>
                <a:gd name="T55" fmla="*/ 25 h 210"/>
                <a:gd name="T56" fmla="*/ 63 w 92"/>
                <a:gd name="T57" fmla="*/ 40 h 210"/>
                <a:gd name="T58" fmla="*/ 49 w 92"/>
                <a:gd name="T59" fmla="*/ 124 h 210"/>
                <a:gd name="T60" fmla="*/ 50 w 92"/>
                <a:gd name="T61" fmla="*/ 116 h 210"/>
                <a:gd name="T62" fmla="*/ 59 w 92"/>
                <a:gd name="T63" fmla="*/ 100 h 210"/>
                <a:gd name="T64" fmla="*/ 81 w 92"/>
                <a:gd name="T65" fmla="*/ 92 h 210"/>
                <a:gd name="T66" fmla="*/ 80 w 92"/>
                <a:gd name="T67" fmla="*/ 98 h 210"/>
                <a:gd name="T68" fmla="*/ 73 w 92"/>
                <a:gd name="T69" fmla="*/ 114 h 210"/>
                <a:gd name="T70" fmla="*/ 59 w 92"/>
                <a:gd name="T71" fmla="*/ 127 h 210"/>
                <a:gd name="T72" fmla="*/ 49 w 92"/>
                <a:gd name="T73" fmla="*/ 210 h 21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2" h="210">
                  <a:moveTo>
                    <a:pt x="43" y="210"/>
                  </a:moveTo>
                  <a:lnTo>
                    <a:pt x="43" y="162"/>
                  </a:lnTo>
                  <a:lnTo>
                    <a:pt x="40" y="162"/>
                  </a:lnTo>
                  <a:lnTo>
                    <a:pt x="36" y="160"/>
                  </a:lnTo>
                  <a:lnTo>
                    <a:pt x="30" y="159"/>
                  </a:lnTo>
                  <a:lnTo>
                    <a:pt x="23" y="155"/>
                  </a:lnTo>
                  <a:lnTo>
                    <a:pt x="16" y="150"/>
                  </a:lnTo>
                  <a:lnTo>
                    <a:pt x="12" y="141"/>
                  </a:lnTo>
                  <a:lnTo>
                    <a:pt x="11" y="129"/>
                  </a:lnTo>
                  <a:lnTo>
                    <a:pt x="12" y="129"/>
                  </a:lnTo>
                  <a:lnTo>
                    <a:pt x="16" y="129"/>
                  </a:lnTo>
                  <a:lnTo>
                    <a:pt x="23" y="132"/>
                  </a:lnTo>
                  <a:lnTo>
                    <a:pt x="31" y="137"/>
                  </a:lnTo>
                  <a:lnTo>
                    <a:pt x="38" y="145"/>
                  </a:lnTo>
                  <a:lnTo>
                    <a:pt x="43" y="159"/>
                  </a:lnTo>
                  <a:lnTo>
                    <a:pt x="43" y="108"/>
                  </a:lnTo>
                  <a:lnTo>
                    <a:pt x="40" y="108"/>
                  </a:lnTo>
                  <a:lnTo>
                    <a:pt x="35" y="106"/>
                  </a:lnTo>
                  <a:lnTo>
                    <a:pt x="28" y="105"/>
                  </a:lnTo>
                  <a:lnTo>
                    <a:pt x="20" y="101"/>
                  </a:lnTo>
                  <a:lnTo>
                    <a:pt x="12" y="94"/>
                  </a:lnTo>
                  <a:lnTo>
                    <a:pt x="7" y="83"/>
                  </a:lnTo>
                  <a:lnTo>
                    <a:pt x="5" y="70"/>
                  </a:lnTo>
                  <a:lnTo>
                    <a:pt x="7" y="70"/>
                  </a:lnTo>
                  <a:lnTo>
                    <a:pt x="11" y="70"/>
                  </a:lnTo>
                  <a:lnTo>
                    <a:pt x="17" y="71"/>
                  </a:lnTo>
                  <a:lnTo>
                    <a:pt x="24" y="74"/>
                  </a:lnTo>
                  <a:lnTo>
                    <a:pt x="31" y="81"/>
                  </a:lnTo>
                  <a:lnTo>
                    <a:pt x="38" y="90"/>
                  </a:lnTo>
                  <a:lnTo>
                    <a:pt x="43" y="105"/>
                  </a:lnTo>
                  <a:lnTo>
                    <a:pt x="43" y="43"/>
                  </a:lnTo>
                  <a:lnTo>
                    <a:pt x="40" y="43"/>
                  </a:lnTo>
                  <a:lnTo>
                    <a:pt x="34" y="42"/>
                  </a:lnTo>
                  <a:lnTo>
                    <a:pt x="26" y="39"/>
                  </a:lnTo>
                  <a:lnTo>
                    <a:pt x="16" y="35"/>
                  </a:lnTo>
                  <a:lnTo>
                    <a:pt x="8" y="27"/>
                  </a:lnTo>
                  <a:lnTo>
                    <a:pt x="1" y="16"/>
                  </a:lnTo>
                  <a:lnTo>
                    <a:pt x="0" y="0"/>
                  </a:lnTo>
                  <a:lnTo>
                    <a:pt x="1" y="0"/>
                  </a:lnTo>
                  <a:lnTo>
                    <a:pt x="7" y="0"/>
                  </a:lnTo>
                  <a:lnTo>
                    <a:pt x="13" y="1"/>
                  </a:lnTo>
                  <a:lnTo>
                    <a:pt x="23" y="5"/>
                  </a:lnTo>
                  <a:lnTo>
                    <a:pt x="31" y="12"/>
                  </a:lnTo>
                  <a:lnTo>
                    <a:pt x="39" y="23"/>
                  </a:lnTo>
                  <a:lnTo>
                    <a:pt x="46" y="40"/>
                  </a:lnTo>
                  <a:lnTo>
                    <a:pt x="46" y="38"/>
                  </a:lnTo>
                  <a:lnTo>
                    <a:pt x="49" y="32"/>
                  </a:lnTo>
                  <a:lnTo>
                    <a:pt x="51" y="24"/>
                  </a:lnTo>
                  <a:lnTo>
                    <a:pt x="58" y="15"/>
                  </a:lnTo>
                  <a:lnTo>
                    <a:pt x="66" y="8"/>
                  </a:lnTo>
                  <a:lnTo>
                    <a:pt x="77" y="1"/>
                  </a:lnTo>
                  <a:lnTo>
                    <a:pt x="92" y="0"/>
                  </a:lnTo>
                  <a:lnTo>
                    <a:pt x="92" y="1"/>
                  </a:lnTo>
                  <a:lnTo>
                    <a:pt x="90" y="8"/>
                  </a:lnTo>
                  <a:lnTo>
                    <a:pt x="88" y="16"/>
                  </a:lnTo>
                  <a:lnTo>
                    <a:pt x="82" y="25"/>
                  </a:lnTo>
                  <a:lnTo>
                    <a:pt x="74" y="34"/>
                  </a:lnTo>
                  <a:lnTo>
                    <a:pt x="63" y="40"/>
                  </a:lnTo>
                  <a:lnTo>
                    <a:pt x="49" y="43"/>
                  </a:lnTo>
                  <a:lnTo>
                    <a:pt x="49" y="124"/>
                  </a:lnTo>
                  <a:lnTo>
                    <a:pt x="49" y="121"/>
                  </a:lnTo>
                  <a:lnTo>
                    <a:pt x="50" y="116"/>
                  </a:lnTo>
                  <a:lnTo>
                    <a:pt x="53" y="108"/>
                  </a:lnTo>
                  <a:lnTo>
                    <a:pt x="59" y="100"/>
                  </a:lnTo>
                  <a:lnTo>
                    <a:pt x="67" y="94"/>
                  </a:lnTo>
                  <a:lnTo>
                    <a:pt x="81" y="92"/>
                  </a:lnTo>
                  <a:lnTo>
                    <a:pt x="81" y="93"/>
                  </a:lnTo>
                  <a:lnTo>
                    <a:pt x="80" y="98"/>
                  </a:lnTo>
                  <a:lnTo>
                    <a:pt x="77" y="106"/>
                  </a:lnTo>
                  <a:lnTo>
                    <a:pt x="73" y="114"/>
                  </a:lnTo>
                  <a:lnTo>
                    <a:pt x="67" y="121"/>
                  </a:lnTo>
                  <a:lnTo>
                    <a:pt x="59" y="127"/>
                  </a:lnTo>
                  <a:lnTo>
                    <a:pt x="49" y="129"/>
                  </a:lnTo>
                  <a:lnTo>
                    <a:pt x="49" y="210"/>
                  </a:lnTo>
                  <a:lnTo>
                    <a:pt x="43" y="210"/>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5" name="Freeform 16"/>
            <p:cNvSpPr>
              <a:spLocks/>
            </p:cNvSpPr>
            <p:nvPr/>
          </p:nvSpPr>
          <p:spPr bwMode="gray">
            <a:xfrm>
              <a:off x="1566" y="297"/>
              <a:ext cx="128" cy="292"/>
            </a:xfrm>
            <a:custGeom>
              <a:avLst/>
              <a:gdLst>
                <a:gd name="T0" fmla="*/ 61 w 128"/>
                <a:gd name="T1" fmla="*/ 225 h 292"/>
                <a:gd name="T2" fmla="*/ 54 w 128"/>
                <a:gd name="T3" fmla="*/ 225 h 292"/>
                <a:gd name="T4" fmla="*/ 38 w 128"/>
                <a:gd name="T5" fmla="*/ 219 h 292"/>
                <a:gd name="T6" fmla="*/ 23 w 128"/>
                <a:gd name="T7" fmla="*/ 206 h 292"/>
                <a:gd name="T8" fmla="*/ 15 w 128"/>
                <a:gd name="T9" fmla="*/ 180 h 292"/>
                <a:gd name="T10" fmla="*/ 23 w 128"/>
                <a:gd name="T11" fmla="*/ 180 h 292"/>
                <a:gd name="T12" fmla="*/ 38 w 128"/>
                <a:gd name="T13" fmla="*/ 186 h 292"/>
                <a:gd name="T14" fmla="*/ 54 w 128"/>
                <a:gd name="T15" fmla="*/ 205 h 292"/>
                <a:gd name="T16" fmla="*/ 61 w 128"/>
                <a:gd name="T17" fmla="*/ 151 h 292"/>
                <a:gd name="T18" fmla="*/ 52 w 128"/>
                <a:gd name="T19" fmla="*/ 149 h 292"/>
                <a:gd name="T20" fmla="*/ 34 w 128"/>
                <a:gd name="T21" fmla="*/ 144 h 292"/>
                <a:gd name="T22" fmla="*/ 16 w 128"/>
                <a:gd name="T23" fmla="*/ 128 h 292"/>
                <a:gd name="T24" fmla="*/ 8 w 128"/>
                <a:gd name="T25" fmla="*/ 98 h 292"/>
                <a:gd name="T26" fmla="*/ 15 w 128"/>
                <a:gd name="T27" fmla="*/ 97 h 292"/>
                <a:gd name="T28" fmla="*/ 29 w 128"/>
                <a:gd name="T29" fmla="*/ 101 h 292"/>
                <a:gd name="T30" fmla="*/ 47 w 128"/>
                <a:gd name="T31" fmla="*/ 116 h 292"/>
                <a:gd name="T32" fmla="*/ 61 w 128"/>
                <a:gd name="T33" fmla="*/ 147 h 292"/>
                <a:gd name="T34" fmla="*/ 58 w 128"/>
                <a:gd name="T35" fmla="*/ 60 h 292"/>
                <a:gd name="T36" fmla="*/ 44 w 128"/>
                <a:gd name="T37" fmla="*/ 58 h 292"/>
                <a:gd name="T38" fmla="*/ 25 w 128"/>
                <a:gd name="T39" fmla="*/ 50 h 292"/>
                <a:gd name="T40" fmla="*/ 8 w 128"/>
                <a:gd name="T41" fmla="*/ 32 h 292"/>
                <a:gd name="T42" fmla="*/ 0 w 128"/>
                <a:gd name="T43" fmla="*/ 0 h 292"/>
                <a:gd name="T44" fmla="*/ 8 w 128"/>
                <a:gd name="T45" fmla="*/ 0 h 292"/>
                <a:gd name="T46" fmla="*/ 27 w 128"/>
                <a:gd name="T47" fmla="*/ 5 h 292"/>
                <a:gd name="T48" fmla="*/ 48 w 128"/>
                <a:gd name="T49" fmla="*/ 21 h 292"/>
                <a:gd name="T50" fmla="*/ 65 w 128"/>
                <a:gd name="T51" fmla="*/ 56 h 292"/>
                <a:gd name="T52" fmla="*/ 66 w 128"/>
                <a:gd name="T53" fmla="*/ 48 h 292"/>
                <a:gd name="T54" fmla="*/ 77 w 128"/>
                <a:gd name="T55" fmla="*/ 28 h 292"/>
                <a:gd name="T56" fmla="*/ 96 w 128"/>
                <a:gd name="T57" fmla="*/ 9 h 292"/>
                <a:gd name="T58" fmla="*/ 128 w 128"/>
                <a:gd name="T59" fmla="*/ 0 h 292"/>
                <a:gd name="T60" fmla="*/ 127 w 128"/>
                <a:gd name="T61" fmla="*/ 9 h 292"/>
                <a:gd name="T62" fmla="*/ 119 w 128"/>
                <a:gd name="T63" fmla="*/ 31 h 292"/>
                <a:gd name="T64" fmla="*/ 101 w 128"/>
                <a:gd name="T65" fmla="*/ 51 h 292"/>
                <a:gd name="T66" fmla="*/ 67 w 128"/>
                <a:gd name="T67" fmla="*/ 60 h 292"/>
                <a:gd name="T68" fmla="*/ 69 w 128"/>
                <a:gd name="T69" fmla="*/ 170 h 292"/>
                <a:gd name="T70" fmla="*/ 73 w 128"/>
                <a:gd name="T71" fmla="*/ 155 h 292"/>
                <a:gd name="T72" fmla="*/ 86 w 128"/>
                <a:gd name="T73" fmla="*/ 136 h 292"/>
                <a:gd name="T74" fmla="*/ 113 w 128"/>
                <a:gd name="T75" fmla="*/ 128 h 292"/>
                <a:gd name="T76" fmla="*/ 112 w 128"/>
                <a:gd name="T77" fmla="*/ 136 h 292"/>
                <a:gd name="T78" fmla="*/ 105 w 128"/>
                <a:gd name="T79" fmla="*/ 153 h 292"/>
                <a:gd name="T80" fmla="*/ 92 w 128"/>
                <a:gd name="T81" fmla="*/ 172 h 292"/>
                <a:gd name="T82" fmla="*/ 67 w 128"/>
                <a:gd name="T83" fmla="*/ 180 h 292"/>
                <a:gd name="T84" fmla="*/ 61 w 128"/>
                <a:gd name="T85" fmla="*/ 292 h 29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28" h="292">
                  <a:moveTo>
                    <a:pt x="61" y="292"/>
                  </a:moveTo>
                  <a:lnTo>
                    <a:pt x="61" y="225"/>
                  </a:lnTo>
                  <a:lnTo>
                    <a:pt x="58" y="225"/>
                  </a:lnTo>
                  <a:lnTo>
                    <a:pt x="54" y="225"/>
                  </a:lnTo>
                  <a:lnTo>
                    <a:pt x="46" y="222"/>
                  </a:lnTo>
                  <a:lnTo>
                    <a:pt x="38" y="219"/>
                  </a:lnTo>
                  <a:lnTo>
                    <a:pt x="29" y="214"/>
                  </a:lnTo>
                  <a:lnTo>
                    <a:pt x="23" y="206"/>
                  </a:lnTo>
                  <a:lnTo>
                    <a:pt x="17" y="195"/>
                  </a:lnTo>
                  <a:lnTo>
                    <a:pt x="15" y="180"/>
                  </a:lnTo>
                  <a:lnTo>
                    <a:pt x="17" y="180"/>
                  </a:lnTo>
                  <a:lnTo>
                    <a:pt x="23" y="180"/>
                  </a:lnTo>
                  <a:lnTo>
                    <a:pt x="29" y="182"/>
                  </a:lnTo>
                  <a:lnTo>
                    <a:pt x="38" y="186"/>
                  </a:lnTo>
                  <a:lnTo>
                    <a:pt x="47" y="194"/>
                  </a:lnTo>
                  <a:lnTo>
                    <a:pt x="54" y="205"/>
                  </a:lnTo>
                  <a:lnTo>
                    <a:pt x="61" y="221"/>
                  </a:lnTo>
                  <a:lnTo>
                    <a:pt x="61" y="151"/>
                  </a:lnTo>
                  <a:lnTo>
                    <a:pt x="58" y="149"/>
                  </a:lnTo>
                  <a:lnTo>
                    <a:pt x="52" y="149"/>
                  </a:lnTo>
                  <a:lnTo>
                    <a:pt x="44" y="147"/>
                  </a:lnTo>
                  <a:lnTo>
                    <a:pt x="34" y="144"/>
                  </a:lnTo>
                  <a:lnTo>
                    <a:pt x="24" y="137"/>
                  </a:lnTo>
                  <a:lnTo>
                    <a:pt x="16" y="128"/>
                  </a:lnTo>
                  <a:lnTo>
                    <a:pt x="11" y="114"/>
                  </a:lnTo>
                  <a:lnTo>
                    <a:pt x="8" y="98"/>
                  </a:lnTo>
                  <a:lnTo>
                    <a:pt x="9" y="97"/>
                  </a:lnTo>
                  <a:lnTo>
                    <a:pt x="15" y="97"/>
                  </a:lnTo>
                  <a:lnTo>
                    <a:pt x="21" y="98"/>
                  </a:lnTo>
                  <a:lnTo>
                    <a:pt x="29" y="101"/>
                  </a:lnTo>
                  <a:lnTo>
                    <a:pt x="39" y="106"/>
                  </a:lnTo>
                  <a:lnTo>
                    <a:pt x="47" y="116"/>
                  </a:lnTo>
                  <a:lnTo>
                    <a:pt x="55" y="128"/>
                  </a:lnTo>
                  <a:lnTo>
                    <a:pt x="61" y="147"/>
                  </a:lnTo>
                  <a:lnTo>
                    <a:pt x="61" y="60"/>
                  </a:lnTo>
                  <a:lnTo>
                    <a:pt x="58" y="60"/>
                  </a:lnTo>
                  <a:lnTo>
                    <a:pt x="52" y="59"/>
                  </a:lnTo>
                  <a:lnTo>
                    <a:pt x="44" y="58"/>
                  </a:lnTo>
                  <a:lnTo>
                    <a:pt x="35" y="55"/>
                  </a:lnTo>
                  <a:lnTo>
                    <a:pt x="25" y="50"/>
                  </a:lnTo>
                  <a:lnTo>
                    <a:pt x="16" y="43"/>
                  </a:lnTo>
                  <a:lnTo>
                    <a:pt x="8" y="32"/>
                  </a:lnTo>
                  <a:lnTo>
                    <a:pt x="3" y="19"/>
                  </a:lnTo>
                  <a:lnTo>
                    <a:pt x="0" y="0"/>
                  </a:lnTo>
                  <a:lnTo>
                    <a:pt x="3" y="0"/>
                  </a:lnTo>
                  <a:lnTo>
                    <a:pt x="8" y="0"/>
                  </a:lnTo>
                  <a:lnTo>
                    <a:pt x="16" y="1"/>
                  </a:lnTo>
                  <a:lnTo>
                    <a:pt x="27" y="5"/>
                  </a:lnTo>
                  <a:lnTo>
                    <a:pt x="38" y="10"/>
                  </a:lnTo>
                  <a:lnTo>
                    <a:pt x="48" y="21"/>
                  </a:lnTo>
                  <a:lnTo>
                    <a:pt x="56" y="36"/>
                  </a:lnTo>
                  <a:lnTo>
                    <a:pt x="65" y="56"/>
                  </a:lnTo>
                  <a:lnTo>
                    <a:pt x="65" y="54"/>
                  </a:lnTo>
                  <a:lnTo>
                    <a:pt x="66" y="48"/>
                  </a:lnTo>
                  <a:lnTo>
                    <a:pt x="70" y="39"/>
                  </a:lnTo>
                  <a:lnTo>
                    <a:pt x="77" y="28"/>
                  </a:lnTo>
                  <a:lnTo>
                    <a:pt x="85" y="19"/>
                  </a:lnTo>
                  <a:lnTo>
                    <a:pt x="96" y="9"/>
                  </a:lnTo>
                  <a:lnTo>
                    <a:pt x="110" y="2"/>
                  </a:lnTo>
                  <a:lnTo>
                    <a:pt x="128" y="0"/>
                  </a:lnTo>
                  <a:lnTo>
                    <a:pt x="128" y="2"/>
                  </a:lnTo>
                  <a:lnTo>
                    <a:pt x="127" y="9"/>
                  </a:lnTo>
                  <a:lnTo>
                    <a:pt x="124" y="19"/>
                  </a:lnTo>
                  <a:lnTo>
                    <a:pt x="119" y="31"/>
                  </a:lnTo>
                  <a:lnTo>
                    <a:pt x="112" y="41"/>
                  </a:lnTo>
                  <a:lnTo>
                    <a:pt x="101" y="51"/>
                  </a:lnTo>
                  <a:lnTo>
                    <a:pt x="86" y="58"/>
                  </a:lnTo>
                  <a:lnTo>
                    <a:pt x="67" y="60"/>
                  </a:lnTo>
                  <a:lnTo>
                    <a:pt x="67" y="172"/>
                  </a:lnTo>
                  <a:lnTo>
                    <a:pt x="69" y="170"/>
                  </a:lnTo>
                  <a:lnTo>
                    <a:pt x="70" y="164"/>
                  </a:lnTo>
                  <a:lnTo>
                    <a:pt x="73" y="155"/>
                  </a:lnTo>
                  <a:lnTo>
                    <a:pt x="78" y="145"/>
                  </a:lnTo>
                  <a:lnTo>
                    <a:pt x="86" y="136"/>
                  </a:lnTo>
                  <a:lnTo>
                    <a:pt x="97" y="130"/>
                  </a:lnTo>
                  <a:lnTo>
                    <a:pt x="113" y="128"/>
                  </a:lnTo>
                  <a:lnTo>
                    <a:pt x="113" y="130"/>
                  </a:lnTo>
                  <a:lnTo>
                    <a:pt x="112" y="136"/>
                  </a:lnTo>
                  <a:lnTo>
                    <a:pt x="109" y="144"/>
                  </a:lnTo>
                  <a:lnTo>
                    <a:pt x="105" y="153"/>
                  </a:lnTo>
                  <a:lnTo>
                    <a:pt x="100" y="163"/>
                  </a:lnTo>
                  <a:lnTo>
                    <a:pt x="92" y="172"/>
                  </a:lnTo>
                  <a:lnTo>
                    <a:pt x="82" y="178"/>
                  </a:lnTo>
                  <a:lnTo>
                    <a:pt x="67" y="180"/>
                  </a:lnTo>
                  <a:lnTo>
                    <a:pt x="67" y="292"/>
                  </a:lnTo>
                  <a:lnTo>
                    <a:pt x="61" y="29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6" name="Freeform 17"/>
            <p:cNvSpPr>
              <a:spLocks/>
            </p:cNvSpPr>
            <p:nvPr/>
          </p:nvSpPr>
          <p:spPr bwMode="gray">
            <a:xfrm>
              <a:off x="2596" y="332"/>
              <a:ext cx="68" cy="257"/>
            </a:xfrm>
            <a:custGeom>
              <a:avLst/>
              <a:gdLst>
                <a:gd name="T0" fmla="*/ 31 w 68"/>
                <a:gd name="T1" fmla="*/ 164 h 257"/>
                <a:gd name="T2" fmla="*/ 23 w 68"/>
                <a:gd name="T3" fmla="*/ 163 h 257"/>
                <a:gd name="T4" fmla="*/ 8 w 68"/>
                <a:gd name="T5" fmla="*/ 155 h 257"/>
                <a:gd name="T6" fmla="*/ 0 w 68"/>
                <a:gd name="T7" fmla="*/ 132 h 257"/>
                <a:gd name="T8" fmla="*/ 7 w 68"/>
                <a:gd name="T9" fmla="*/ 132 h 257"/>
                <a:gd name="T10" fmla="*/ 22 w 68"/>
                <a:gd name="T11" fmla="*/ 139 h 257"/>
                <a:gd name="T12" fmla="*/ 31 w 68"/>
                <a:gd name="T13" fmla="*/ 160 h 257"/>
                <a:gd name="T14" fmla="*/ 29 w 68"/>
                <a:gd name="T15" fmla="*/ 101 h 257"/>
                <a:gd name="T16" fmla="*/ 16 w 68"/>
                <a:gd name="T17" fmla="*/ 97 h 257"/>
                <a:gd name="T18" fmla="*/ 3 w 68"/>
                <a:gd name="T19" fmla="*/ 83 h 257"/>
                <a:gd name="T20" fmla="*/ 3 w 68"/>
                <a:gd name="T21" fmla="*/ 70 h 257"/>
                <a:gd name="T22" fmla="*/ 15 w 68"/>
                <a:gd name="T23" fmla="*/ 74 h 257"/>
                <a:gd name="T24" fmla="*/ 27 w 68"/>
                <a:gd name="T25" fmla="*/ 86 h 257"/>
                <a:gd name="T26" fmla="*/ 31 w 68"/>
                <a:gd name="T27" fmla="*/ 31 h 257"/>
                <a:gd name="T28" fmla="*/ 33 w 68"/>
                <a:gd name="T29" fmla="*/ 23 h 257"/>
                <a:gd name="T30" fmla="*/ 41 w 68"/>
                <a:gd name="T31" fmla="*/ 8 h 257"/>
                <a:gd name="T32" fmla="*/ 62 w 68"/>
                <a:gd name="T33" fmla="*/ 0 h 257"/>
                <a:gd name="T34" fmla="*/ 61 w 68"/>
                <a:gd name="T35" fmla="*/ 8 h 257"/>
                <a:gd name="T36" fmla="*/ 53 w 68"/>
                <a:gd name="T37" fmla="*/ 23 h 257"/>
                <a:gd name="T38" fmla="*/ 35 w 68"/>
                <a:gd name="T39" fmla="*/ 31 h 257"/>
                <a:gd name="T40" fmla="*/ 35 w 68"/>
                <a:gd name="T41" fmla="*/ 75 h 257"/>
                <a:gd name="T42" fmla="*/ 39 w 68"/>
                <a:gd name="T43" fmla="*/ 62 h 257"/>
                <a:gd name="T44" fmla="*/ 54 w 68"/>
                <a:gd name="T45" fmla="*/ 48 h 257"/>
                <a:gd name="T46" fmla="*/ 68 w 68"/>
                <a:gd name="T47" fmla="*/ 48 h 257"/>
                <a:gd name="T48" fmla="*/ 66 w 68"/>
                <a:gd name="T49" fmla="*/ 59 h 257"/>
                <a:gd name="T50" fmla="*/ 58 w 68"/>
                <a:gd name="T51" fmla="*/ 72 h 257"/>
                <a:gd name="T52" fmla="*/ 35 w 68"/>
                <a:gd name="T53" fmla="*/ 82 h 257"/>
                <a:gd name="T54" fmla="*/ 35 w 68"/>
                <a:gd name="T55" fmla="*/ 143 h 257"/>
                <a:gd name="T56" fmla="*/ 38 w 68"/>
                <a:gd name="T57" fmla="*/ 132 h 257"/>
                <a:gd name="T58" fmla="*/ 49 w 68"/>
                <a:gd name="T59" fmla="*/ 122 h 257"/>
                <a:gd name="T60" fmla="*/ 60 w 68"/>
                <a:gd name="T61" fmla="*/ 122 h 257"/>
                <a:gd name="T62" fmla="*/ 58 w 68"/>
                <a:gd name="T63" fmla="*/ 133 h 257"/>
                <a:gd name="T64" fmla="*/ 47 w 68"/>
                <a:gd name="T65" fmla="*/ 144 h 257"/>
                <a:gd name="T66" fmla="*/ 35 w 68"/>
                <a:gd name="T67" fmla="*/ 257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8" h="257">
                  <a:moveTo>
                    <a:pt x="31" y="257"/>
                  </a:moveTo>
                  <a:lnTo>
                    <a:pt x="31" y="164"/>
                  </a:lnTo>
                  <a:lnTo>
                    <a:pt x="29" y="163"/>
                  </a:lnTo>
                  <a:lnTo>
                    <a:pt x="23" y="163"/>
                  </a:lnTo>
                  <a:lnTo>
                    <a:pt x="16" y="160"/>
                  </a:lnTo>
                  <a:lnTo>
                    <a:pt x="8" y="155"/>
                  </a:lnTo>
                  <a:lnTo>
                    <a:pt x="3" y="145"/>
                  </a:lnTo>
                  <a:lnTo>
                    <a:pt x="0" y="132"/>
                  </a:lnTo>
                  <a:lnTo>
                    <a:pt x="3" y="132"/>
                  </a:lnTo>
                  <a:lnTo>
                    <a:pt x="7" y="132"/>
                  </a:lnTo>
                  <a:lnTo>
                    <a:pt x="15" y="135"/>
                  </a:lnTo>
                  <a:lnTo>
                    <a:pt x="22" y="139"/>
                  </a:lnTo>
                  <a:lnTo>
                    <a:pt x="27" y="147"/>
                  </a:lnTo>
                  <a:lnTo>
                    <a:pt x="31" y="160"/>
                  </a:lnTo>
                  <a:lnTo>
                    <a:pt x="31" y="101"/>
                  </a:lnTo>
                  <a:lnTo>
                    <a:pt x="29" y="101"/>
                  </a:lnTo>
                  <a:lnTo>
                    <a:pt x="23" y="99"/>
                  </a:lnTo>
                  <a:lnTo>
                    <a:pt x="16" y="97"/>
                  </a:lnTo>
                  <a:lnTo>
                    <a:pt x="8" y="91"/>
                  </a:lnTo>
                  <a:lnTo>
                    <a:pt x="3" y="83"/>
                  </a:lnTo>
                  <a:lnTo>
                    <a:pt x="0" y="70"/>
                  </a:lnTo>
                  <a:lnTo>
                    <a:pt x="3" y="70"/>
                  </a:lnTo>
                  <a:lnTo>
                    <a:pt x="7" y="71"/>
                  </a:lnTo>
                  <a:lnTo>
                    <a:pt x="15" y="74"/>
                  </a:lnTo>
                  <a:lnTo>
                    <a:pt x="22" y="78"/>
                  </a:lnTo>
                  <a:lnTo>
                    <a:pt x="27" y="86"/>
                  </a:lnTo>
                  <a:lnTo>
                    <a:pt x="31" y="97"/>
                  </a:lnTo>
                  <a:lnTo>
                    <a:pt x="31" y="31"/>
                  </a:lnTo>
                  <a:lnTo>
                    <a:pt x="31" y="28"/>
                  </a:lnTo>
                  <a:lnTo>
                    <a:pt x="33" y="23"/>
                  </a:lnTo>
                  <a:lnTo>
                    <a:pt x="35" y="15"/>
                  </a:lnTo>
                  <a:lnTo>
                    <a:pt x="41" y="8"/>
                  </a:lnTo>
                  <a:lnTo>
                    <a:pt x="50" y="2"/>
                  </a:lnTo>
                  <a:lnTo>
                    <a:pt x="62" y="0"/>
                  </a:lnTo>
                  <a:lnTo>
                    <a:pt x="62" y="2"/>
                  </a:lnTo>
                  <a:lnTo>
                    <a:pt x="61" y="8"/>
                  </a:lnTo>
                  <a:lnTo>
                    <a:pt x="58" y="15"/>
                  </a:lnTo>
                  <a:lnTo>
                    <a:pt x="53" y="23"/>
                  </a:lnTo>
                  <a:lnTo>
                    <a:pt x="46" y="28"/>
                  </a:lnTo>
                  <a:lnTo>
                    <a:pt x="35" y="31"/>
                  </a:lnTo>
                  <a:lnTo>
                    <a:pt x="35" y="78"/>
                  </a:lnTo>
                  <a:lnTo>
                    <a:pt x="35" y="75"/>
                  </a:lnTo>
                  <a:lnTo>
                    <a:pt x="37" y="70"/>
                  </a:lnTo>
                  <a:lnTo>
                    <a:pt x="39" y="62"/>
                  </a:lnTo>
                  <a:lnTo>
                    <a:pt x="45" y="55"/>
                  </a:lnTo>
                  <a:lnTo>
                    <a:pt x="54" y="48"/>
                  </a:lnTo>
                  <a:lnTo>
                    <a:pt x="66" y="47"/>
                  </a:lnTo>
                  <a:lnTo>
                    <a:pt x="68" y="48"/>
                  </a:lnTo>
                  <a:lnTo>
                    <a:pt x="68" y="52"/>
                  </a:lnTo>
                  <a:lnTo>
                    <a:pt x="66" y="59"/>
                  </a:lnTo>
                  <a:lnTo>
                    <a:pt x="64" y="66"/>
                  </a:lnTo>
                  <a:lnTo>
                    <a:pt x="58" y="72"/>
                  </a:lnTo>
                  <a:lnTo>
                    <a:pt x="50" y="78"/>
                  </a:lnTo>
                  <a:lnTo>
                    <a:pt x="35" y="82"/>
                  </a:lnTo>
                  <a:lnTo>
                    <a:pt x="35" y="144"/>
                  </a:lnTo>
                  <a:lnTo>
                    <a:pt x="35" y="143"/>
                  </a:lnTo>
                  <a:lnTo>
                    <a:pt x="37" y="139"/>
                  </a:lnTo>
                  <a:lnTo>
                    <a:pt x="38" y="132"/>
                  </a:lnTo>
                  <a:lnTo>
                    <a:pt x="42" y="126"/>
                  </a:lnTo>
                  <a:lnTo>
                    <a:pt x="49" y="122"/>
                  </a:lnTo>
                  <a:lnTo>
                    <a:pt x="58" y="121"/>
                  </a:lnTo>
                  <a:lnTo>
                    <a:pt x="60" y="122"/>
                  </a:lnTo>
                  <a:lnTo>
                    <a:pt x="60" y="126"/>
                  </a:lnTo>
                  <a:lnTo>
                    <a:pt x="58" y="133"/>
                  </a:lnTo>
                  <a:lnTo>
                    <a:pt x="56" y="139"/>
                  </a:lnTo>
                  <a:lnTo>
                    <a:pt x="47" y="144"/>
                  </a:lnTo>
                  <a:lnTo>
                    <a:pt x="35" y="148"/>
                  </a:lnTo>
                  <a:lnTo>
                    <a:pt x="35" y="257"/>
                  </a:lnTo>
                  <a:lnTo>
                    <a:pt x="31" y="257"/>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7" name="Freeform 18"/>
            <p:cNvSpPr>
              <a:spLocks/>
            </p:cNvSpPr>
            <p:nvPr/>
          </p:nvSpPr>
          <p:spPr bwMode="gray">
            <a:xfrm>
              <a:off x="1672" y="164"/>
              <a:ext cx="111" cy="425"/>
            </a:xfrm>
            <a:custGeom>
              <a:avLst/>
              <a:gdLst>
                <a:gd name="T0" fmla="*/ 52 w 111"/>
                <a:gd name="T1" fmla="*/ 272 h 425"/>
                <a:gd name="T2" fmla="*/ 44 w 111"/>
                <a:gd name="T3" fmla="*/ 270 h 425"/>
                <a:gd name="T4" fmla="*/ 26 w 111"/>
                <a:gd name="T5" fmla="*/ 265 h 425"/>
                <a:gd name="T6" fmla="*/ 8 w 111"/>
                <a:gd name="T7" fmla="*/ 249 h 425"/>
                <a:gd name="T8" fmla="*/ 0 w 111"/>
                <a:gd name="T9" fmla="*/ 219 h 425"/>
                <a:gd name="T10" fmla="*/ 8 w 111"/>
                <a:gd name="T11" fmla="*/ 219 h 425"/>
                <a:gd name="T12" fmla="*/ 25 w 111"/>
                <a:gd name="T13" fmla="*/ 223 h 425"/>
                <a:gd name="T14" fmla="*/ 41 w 111"/>
                <a:gd name="T15" fmla="*/ 235 h 425"/>
                <a:gd name="T16" fmla="*/ 52 w 111"/>
                <a:gd name="T17" fmla="*/ 265 h 425"/>
                <a:gd name="T18" fmla="*/ 50 w 111"/>
                <a:gd name="T19" fmla="*/ 168 h 425"/>
                <a:gd name="T20" fmla="*/ 35 w 111"/>
                <a:gd name="T21" fmla="*/ 165 h 425"/>
                <a:gd name="T22" fmla="*/ 17 w 111"/>
                <a:gd name="T23" fmla="*/ 156 h 425"/>
                <a:gd name="T24" fmla="*/ 3 w 111"/>
                <a:gd name="T25" fmla="*/ 134 h 425"/>
                <a:gd name="T26" fmla="*/ 3 w 111"/>
                <a:gd name="T27" fmla="*/ 116 h 425"/>
                <a:gd name="T28" fmla="*/ 19 w 111"/>
                <a:gd name="T29" fmla="*/ 120 h 425"/>
                <a:gd name="T30" fmla="*/ 39 w 111"/>
                <a:gd name="T31" fmla="*/ 133 h 425"/>
                <a:gd name="T32" fmla="*/ 52 w 111"/>
                <a:gd name="T33" fmla="*/ 161 h 425"/>
                <a:gd name="T34" fmla="*/ 53 w 111"/>
                <a:gd name="T35" fmla="*/ 50 h 425"/>
                <a:gd name="T36" fmla="*/ 54 w 111"/>
                <a:gd name="T37" fmla="*/ 36 h 425"/>
                <a:gd name="T38" fmla="*/ 65 w 111"/>
                <a:gd name="T39" fmla="*/ 17 h 425"/>
                <a:gd name="T40" fmla="*/ 87 w 111"/>
                <a:gd name="T41" fmla="*/ 3 h 425"/>
                <a:gd name="T42" fmla="*/ 103 w 111"/>
                <a:gd name="T43" fmla="*/ 3 h 425"/>
                <a:gd name="T44" fmla="*/ 99 w 111"/>
                <a:gd name="T45" fmla="*/ 21 h 425"/>
                <a:gd name="T46" fmla="*/ 84 w 111"/>
                <a:gd name="T47" fmla="*/ 42 h 425"/>
                <a:gd name="T48" fmla="*/ 58 w 111"/>
                <a:gd name="T49" fmla="*/ 52 h 425"/>
                <a:gd name="T50" fmla="*/ 58 w 111"/>
                <a:gd name="T51" fmla="*/ 127 h 425"/>
                <a:gd name="T52" fmla="*/ 61 w 111"/>
                <a:gd name="T53" fmla="*/ 112 h 425"/>
                <a:gd name="T54" fmla="*/ 72 w 111"/>
                <a:gd name="T55" fmla="*/ 94 h 425"/>
                <a:gd name="T56" fmla="*/ 93 w 111"/>
                <a:gd name="T57" fmla="*/ 80 h 425"/>
                <a:gd name="T58" fmla="*/ 111 w 111"/>
                <a:gd name="T59" fmla="*/ 80 h 425"/>
                <a:gd name="T60" fmla="*/ 111 w 111"/>
                <a:gd name="T61" fmla="*/ 91 h 425"/>
                <a:gd name="T62" fmla="*/ 107 w 111"/>
                <a:gd name="T63" fmla="*/ 108 h 425"/>
                <a:gd name="T64" fmla="*/ 91 w 111"/>
                <a:gd name="T65" fmla="*/ 126 h 425"/>
                <a:gd name="T66" fmla="*/ 58 w 111"/>
                <a:gd name="T67" fmla="*/ 135 h 425"/>
                <a:gd name="T68" fmla="*/ 58 w 111"/>
                <a:gd name="T69" fmla="*/ 236 h 425"/>
                <a:gd name="T70" fmla="*/ 61 w 111"/>
                <a:gd name="T71" fmla="*/ 223 h 425"/>
                <a:gd name="T72" fmla="*/ 73 w 111"/>
                <a:gd name="T73" fmla="*/ 208 h 425"/>
                <a:gd name="T74" fmla="*/ 97 w 111"/>
                <a:gd name="T75" fmla="*/ 200 h 425"/>
                <a:gd name="T76" fmla="*/ 99 w 111"/>
                <a:gd name="T77" fmla="*/ 207 h 425"/>
                <a:gd name="T78" fmla="*/ 97 w 111"/>
                <a:gd name="T79" fmla="*/ 220 h 425"/>
                <a:gd name="T80" fmla="*/ 87 w 111"/>
                <a:gd name="T81" fmla="*/ 235 h 425"/>
                <a:gd name="T82" fmla="*/ 58 w 111"/>
                <a:gd name="T83" fmla="*/ 245 h 425"/>
                <a:gd name="T84" fmla="*/ 52 w 111"/>
                <a:gd name="T85" fmla="*/ 425 h 4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 h="425">
                  <a:moveTo>
                    <a:pt x="52" y="425"/>
                  </a:moveTo>
                  <a:lnTo>
                    <a:pt x="52" y="272"/>
                  </a:lnTo>
                  <a:lnTo>
                    <a:pt x="50" y="270"/>
                  </a:lnTo>
                  <a:lnTo>
                    <a:pt x="44" y="270"/>
                  </a:lnTo>
                  <a:lnTo>
                    <a:pt x="35" y="269"/>
                  </a:lnTo>
                  <a:lnTo>
                    <a:pt x="26" y="265"/>
                  </a:lnTo>
                  <a:lnTo>
                    <a:pt x="17" y="258"/>
                  </a:lnTo>
                  <a:lnTo>
                    <a:pt x="8" y="249"/>
                  </a:lnTo>
                  <a:lnTo>
                    <a:pt x="3" y="236"/>
                  </a:lnTo>
                  <a:lnTo>
                    <a:pt x="0" y="219"/>
                  </a:lnTo>
                  <a:lnTo>
                    <a:pt x="3" y="219"/>
                  </a:lnTo>
                  <a:lnTo>
                    <a:pt x="8" y="219"/>
                  </a:lnTo>
                  <a:lnTo>
                    <a:pt x="15" y="220"/>
                  </a:lnTo>
                  <a:lnTo>
                    <a:pt x="25" y="223"/>
                  </a:lnTo>
                  <a:lnTo>
                    <a:pt x="33" y="227"/>
                  </a:lnTo>
                  <a:lnTo>
                    <a:pt x="41" y="235"/>
                  </a:lnTo>
                  <a:lnTo>
                    <a:pt x="48" y="247"/>
                  </a:lnTo>
                  <a:lnTo>
                    <a:pt x="52" y="265"/>
                  </a:lnTo>
                  <a:lnTo>
                    <a:pt x="52" y="168"/>
                  </a:lnTo>
                  <a:lnTo>
                    <a:pt x="50" y="168"/>
                  </a:lnTo>
                  <a:lnTo>
                    <a:pt x="44" y="168"/>
                  </a:lnTo>
                  <a:lnTo>
                    <a:pt x="35" y="165"/>
                  </a:lnTo>
                  <a:lnTo>
                    <a:pt x="26" y="161"/>
                  </a:lnTo>
                  <a:lnTo>
                    <a:pt x="17" y="156"/>
                  </a:lnTo>
                  <a:lnTo>
                    <a:pt x="8" y="146"/>
                  </a:lnTo>
                  <a:lnTo>
                    <a:pt x="3" y="134"/>
                  </a:lnTo>
                  <a:lnTo>
                    <a:pt x="0" y="116"/>
                  </a:lnTo>
                  <a:lnTo>
                    <a:pt x="3" y="116"/>
                  </a:lnTo>
                  <a:lnTo>
                    <a:pt x="10" y="118"/>
                  </a:lnTo>
                  <a:lnTo>
                    <a:pt x="19" y="120"/>
                  </a:lnTo>
                  <a:lnTo>
                    <a:pt x="29" y="125"/>
                  </a:lnTo>
                  <a:lnTo>
                    <a:pt x="39" y="133"/>
                  </a:lnTo>
                  <a:lnTo>
                    <a:pt x="48" y="145"/>
                  </a:lnTo>
                  <a:lnTo>
                    <a:pt x="52" y="161"/>
                  </a:lnTo>
                  <a:lnTo>
                    <a:pt x="52" y="52"/>
                  </a:lnTo>
                  <a:lnTo>
                    <a:pt x="53" y="50"/>
                  </a:lnTo>
                  <a:lnTo>
                    <a:pt x="53" y="44"/>
                  </a:lnTo>
                  <a:lnTo>
                    <a:pt x="54" y="36"/>
                  </a:lnTo>
                  <a:lnTo>
                    <a:pt x="58" y="26"/>
                  </a:lnTo>
                  <a:lnTo>
                    <a:pt x="65" y="17"/>
                  </a:lnTo>
                  <a:lnTo>
                    <a:pt x="75" y="9"/>
                  </a:lnTo>
                  <a:lnTo>
                    <a:pt x="87" y="3"/>
                  </a:lnTo>
                  <a:lnTo>
                    <a:pt x="104" y="0"/>
                  </a:lnTo>
                  <a:lnTo>
                    <a:pt x="103" y="3"/>
                  </a:lnTo>
                  <a:lnTo>
                    <a:pt x="102" y="11"/>
                  </a:lnTo>
                  <a:lnTo>
                    <a:pt x="99" y="21"/>
                  </a:lnTo>
                  <a:lnTo>
                    <a:pt x="92" y="32"/>
                  </a:lnTo>
                  <a:lnTo>
                    <a:pt x="84" y="42"/>
                  </a:lnTo>
                  <a:lnTo>
                    <a:pt x="73" y="49"/>
                  </a:lnTo>
                  <a:lnTo>
                    <a:pt x="58" y="52"/>
                  </a:lnTo>
                  <a:lnTo>
                    <a:pt x="58" y="130"/>
                  </a:lnTo>
                  <a:lnTo>
                    <a:pt x="58" y="127"/>
                  </a:lnTo>
                  <a:lnTo>
                    <a:pt x="60" y="122"/>
                  </a:lnTo>
                  <a:lnTo>
                    <a:pt x="61" y="112"/>
                  </a:lnTo>
                  <a:lnTo>
                    <a:pt x="65" y="103"/>
                  </a:lnTo>
                  <a:lnTo>
                    <a:pt x="72" y="94"/>
                  </a:lnTo>
                  <a:lnTo>
                    <a:pt x="80" y="85"/>
                  </a:lnTo>
                  <a:lnTo>
                    <a:pt x="93" y="80"/>
                  </a:lnTo>
                  <a:lnTo>
                    <a:pt x="110" y="77"/>
                  </a:lnTo>
                  <a:lnTo>
                    <a:pt x="111" y="80"/>
                  </a:lnTo>
                  <a:lnTo>
                    <a:pt x="111" y="84"/>
                  </a:lnTo>
                  <a:lnTo>
                    <a:pt x="111" y="91"/>
                  </a:lnTo>
                  <a:lnTo>
                    <a:pt x="110" y="100"/>
                  </a:lnTo>
                  <a:lnTo>
                    <a:pt x="107" y="108"/>
                  </a:lnTo>
                  <a:lnTo>
                    <a:pt x="100" y="118"/>
                  </a:lnTo>
                  <a:lnTo>
                    <a:pt x="91" y="126"/>
                  </a:lnTo>
                  <a:lnTo>
                    <a:pt x="77" y="133"/>
                  </a:lnTo>
                  <a:lnTo>
                    <a:pt x="58" y="135"/>
                  </a:lnTo>
                  <a:lnTo>
                    <a:pt x="58" y="239"/>
                  </a:lnTo>
                  <a:lnTo>
                    <a:pt x="58" y="236"/>
                  </a:lnTo>
                  <a:lnTo>
                    <a:pt x="60" y="231"/>
                  </a:lnTo>
                  <a:lnTo>
                    <a:pt x="61" y="223"/>
                  </a:lnTo>
                  <a:lnTo>
                    <a:pt x="66" y="215"/>
                  </a:lnTo>
                  <a:lnTo>
                    <a:pt x="73" y="208"/>
                  </a:lnTo>
                  <a:lnTo>
                    <a:pt x="83" y="203"/>
                  </a:lnTo>
                  <a:lnTo>
                    <a:pt x="97" y="200"/>
                  </a:lnTo>
                  <a:lnTo>
                    <a:pt x="97" y="201"/>
                  </a:lnTo>
                  <a:lnTo>
                    <a:pt x="99" y="207"/>
                  </a:lnTo>
                  <a:lnTo>
                    <a:pt x="99" y="212"/>
                  </a:lnTo>
                  <a:lnTo>
                    <a:pt x="97" y="220"/>
                  </a:lnTo>
                  <a:lnTo>
                    <a:pt x="93" y="228"/>
                  </a:lnTo>
                  <a:lnTo>
                    <a:pt x="87" y="235"/>
                  </a:lnTo>
                  <a:lnTo>
                    <a:pt x="75" y="242"/>
                  </a:lnTo>
                  <a:lnTo>
                    <a:pt x="58" y="245"/>
                  </a:lnTo>
                  <a:lnTo>
                    <a:pt x="58" y="425"/>
                  </a:lnTo>
                  <a:lnTo>
                    <a:pt x="52" y="425"/>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8" name="Freeform 19"/>
            <p:cNvSpPr>
              <a:spLocks/>
            </p:cNvSpPr>
            <p:nvPr/>
          </p:nvSpPr>
          <p:spPr bwMode="gray">
            <a:xfrm>
              <a:off x="2065" y="362"/>
              <a:ext cx="98" cy="227"/>
            </a:xfrm>
            <a:custGeom>
              <a:avLst/>
              <a:gdLst>
                <a:gd name="T0" fmla="*/ 36 w 100"/>
                <a:gd name="T1" fmla="*/ 160 h 228"/>
                <a:gd name="T2" fmla="*/ 43 w 100"/>
                <a:gd name="T3" fmla="*/ 160 h 228"/>
                <a:gd name="T4" fmla="*/ 58 w 100"/>
                <a:gd name="T5" fmla="*/ 153 h 228"/>
                <a:gd name="T6" fmla="*/ 64 w 100"/>
                <a:gd name="T7" fmla="*/ 138 h 228"/>
                <a:gd name="T8" fmla="*/ 64 w 100"/>
                <a:gd name="T9" fmla="*/ 125 h 228"/>
                <a:gd name="T10" fmla="*/ 58 w 100"/>
                <a:gd name="T11" fmla="*/ 127 h 228"/>
                <a:gd name="T12" fmla="*/ 42 w 100"/>
                <a:gd name="T13" fmla="*/ 142 h 228"/>
                <a:gd name="T14" fmla="*/ 36 w 100"/>
                <a:gd name="T15" fmla="*/ 114 h 228"/>
                <a:gd name="T16" fmla="*/ 45 w 100"/>
                <a:gd name="T17" fmla="*/ 114 h 228"/>
                <a:gd name="T18" fmla="*/ 60 w 100"/>
                <a:gd name="T19" fmla="*/ 110 h 228"/>
                <a:gd name="T20" fmla="*/ 67 w 100"/>
                <a:gd name="T21" fmla="*/ 92 h 228"/>
                <a:gd name="T22" fmla="*/ 67 w 100"/>
                <a:gd name="T23" fmla="*/ 77 h 228"/>
                <a:gd name="T24" fmla="*/ 62 w 100"/>
                <a:gd name="T25" fmla="*/ 79 h 228"/>
                <a:gd name="T26" fmla="*/ 49 w 100"/>
                <a:gd name="T27" fmla="*/ 88 h 228"/>
                <a:gd name="T28" fmla="*/ 36 w 100"/>
                <a:gd name="T29" fmla="*/ 114 h 228"/>
                <a:gd name="T30" fmla="*/ 39 w 100"/>
                <a:gd name="T31" fmla="*/ 48 h 228"/>
                <a:gd name="T32" fmla="*/ 51 w 100"/>
                <a:gd name="T33" fmla="*/ 45 h 228"/>
                <a:gd name="T34" fmla="*/ 64 w 100"/>
                <a:gd name="T35" fmla="*/ 37 h 228"/>
                <a:gd name="T36" fmla="*/ 70 w 100"/>
                <a:gd name="T37" fmla="*/ 17 h 228"/>
                <a:gd name="T38" fmla="*/ 70 w 100"/>
                <a:gd name="T39" fmla="*/ 0 h 228"/>
                <a:gd name="T40" fmla="*/ 63 w 100"/>
                <a:gd name="T41" fmla="*/ 3 h 228"/>
                <a:gd name="T42" fmla="*/ 49 w 100"/>
                <a:gd name="T43" fmla="*/ 14 h 228"/>
                <a:gd name="T44" fmla="*/ 34 w 100"/>
                <a:gd name="T45" fmla="*/ 45 h 228"/>
                <a:gd name="T46" fmla="*/ 31 w 100"/>
                <a:gd name="T47" fmla="*/ 35 h 228"/>
                <a:gd name="T48" fmla="*/ 25 w 100"/>
                <a:gd name="T49" fmla="*/ 18 h 228"/>
                <a:gd name="T50" fmla="*/ 16 w 100"/>
                <a:gd name="T51" fmla="*/ 3 h 228"/>
                <a:gd name="T52" fmla="*/ 1 w 100"/>
                <a:gd name="T53" fmla="*/ 3 h 228"/>
                <a:gd name="T54" fmla="*/ 5 w 100"/>
                <a:gd name="T55" fmla="*/ 19 h 228"/>
                <a:gd name="T56" fmla="*/ 19 w 100"/>
                <a:gd name="T57" fmla="*/ 38 h 228"/>
                <a:gd name="T58" fmla="*/ 31 w 100"/>
                <a:gd name="T59" fmla="*/ 48 h 228"/>
                <a:gd name="T60" fmla="*/ 31 w 100"/>
                <a:gd name="T61" fmla="*/ 116 h 228"/>
                <a:gd name="T62" fmla="*/ 26 w 100"/>
                <a:gd name="T63" fmla="*/ 114 h 228"/>
                <a:gd name="T64" fmla="*/ 25 w 100"/>
                <a:gd name="T65" fmla="*/ 103 h 228"/>
                <a:gd name="T66" fmla="*/ 12 w 100"/>
                <a:gd name="T67" fmla="*/ 103 h 228"/>
                <a:gd name="T68" fmla="*/ 16 w 100"/>
                <a:gd name="T69" fmla="*/ 114 h 228"/>
                <a:gd name="T70" fmla="*/ 25 w 100"/>
                <a:gd name="T71" fmla="*/ 116 h 228"/>
                <a:gd name="T72" fmla="*/ 31 w 100"/>
                <a:gd name="T73" fmla="*/ 125 h 228"/>
                <a:gd name="T74" fmla="*/ 36 w 100"/>
                <a:gd name="T75" fmla="*/ 212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2" y="228"/>
                  </a:moveTo>
                  <a:lnTo>
                    <a:pt x="52" y="176"/>
                  </a:lnTo>
                  <a:lnTo>
                    <a:pt x="55" y="176"/>
                  </a:lnTo>
                  <a:lnTo>
                    <a:pt x="59" y="176"/>
                  </a:lnTo>
                  <a:lnTo>
                    <a:pt x="67" y="173"/>
                  </a:lnTo>
                  <a:lnTo>
                    <a:pt x="74" y="169"/>
                  </a:lnTo>
                  <a:lnTo>
                    <a:pt x="81" y="163"/>
                  </a:lnTo>
                  <a:lnTo>
                    <a:pt x="86" y="154"/>
                  </a:lnTo>
                  <a:lnTo>
                    <a:pt x="88" y="141"/>
                  </a:lnTo>
                  <a:lnTo>
                    <a:pt x="86" y="141"/>
                  </a:lnTo>
                  <a:lnTo>
                    <a:pt x="81" y="142"/>
                  </a:lnTo>
                  <a:lnTo>
                    <a:pt x="74" y="143"/>
                  </a:lnTo>
                  <a:lnTo>
                    <a:pt x="66" y="149"/>
                  </a:lnTo>
                  <a:lnTo>
                    <a:pt x="58" y="158"/>
                  </a:lnTo>
                  <a:lnTo>
                    <a:pt x="52" y="173"/>
                  </a:lnTo>
                  <a:lnTo>
                    <a:pt x="52" y="118"/>
                  </a:lnTo>
                  <a:lnTo>
                    <a:pt x="55" y="118"/>
                  </a:lnTo>
                  <a:lnTo>
                    <a:pt x="61" y="116"/>
                  </a:lnTo>
                  <a:lnTo>
                    <a:pt x="69" y="115"/>
                  </a:lnTo>
                  <a:lnTo>
                    <a:pt x="78" y="110"/>
                  </a:lnTo>
                  <a:lnTo>
                    <a:pt x="86" y="103"/>
                  </a:lnTo>
                  <a:lnTo>
                    <a:pt x="92" y="92"/>
                  </a:lnTo>
                  <a:lnTo>
                    <a:pt x="94" y="77"/>
                  </a:lnTo>
                  <a:lnTo>
                    <a:pt x="92" y="77"/>
                  </a:lnTo>
                  <a:lnTo>
                    <a:pt x="88" y="77"/>
                  </a:lnTo>
                  <a:lnTo>
                    <a:pt x="81" y="79"/>
                  </a:lnTo>
                  <a:lnTo>
                    <a:pt x="73" y="81"/>
                  </a:lnTo>
                  <a:lnTo>
                    <a:pt x="65" y="88"/>
                  </a:lnTo>
                  <a:lnTo>
                    <a:pt x="58" y="99"/>
                  </a:lnTo>
                  <a:lnTo>
                    <a:pt x="52" y="115"/>
                  </a:lnTo>
                  <a:lnTo>
                    <a:pt x="52" y="48"/>
                  </a:lnTo>
                  <a:lnTo>
                    <a:pt x="55" y="48"/>
                  </a:lnTo>
                  <a:lnTo>
                    <a:pt x="61" y="48"/>
                  </a:lnTo>
                  <a:lnTo>
                    <a:pt x="67" y="45"/>
                  </a:lnTo>
                  <a:lnTo>
                    <a:pt x="77" y="42"/>
                  </a:lnTo>
                  <a:lnTo>
                    <a:pt x="85" y="37"/>
                  </a:lnTo>
                  <a:lnTo>
                    <a:pt x="92" y="27"/>
                  </a:lnTo>
                  <a:lnTo>
                    <a:pt x="97" y="17"/>
                  </a:lnTo>
                  <a:lnTo>
                    <a:pt x="100" y="0"/>
                  </a:lnTo>
                  <a:lnTo>
                    <a:pt x="97" y="0"/>
                  </a:lnTo>
                  <a:lnTo>
                    <a:pt x="92" y="0"/>
                  </a:lnTo>
                  <a:lnTo>
                    <a:pt x="83" y="3"/>
                  </a:lnTo>
                  <a:lnTo>
                    <a:pt x="74" y="7"/>
                  </a:lnTo>
                  <a:lnTo>
                    <a:pt x="65" y="14"/>
                  </a:lnTo>
                  <a:lnTo>
                    <a:pt x="56" y="27"/>
                  </a:lnTo>
                  <a:lnTo>
                    <a:pt x="50" y="45"/>
                  </a:lnTo>
                  <a:lnTo>
                    <a:pt x="50" y="42"/>
                  </a:lnTo>
                  <a:lnTo>
                    <a:pt x="47" y="35"/>
                  </a:lnTo>
                  <a:lnTo>
                    <a:pt x="43" y="27"/>
                  </a:lnTo>
                  <a:lnTo>
                    <a:pt x="38" y="18"/>
                  </a:lnTo>
                  <a:lnTo>
                    <a:pt x="28" y="10"/>
                  </a:lnTo>
                  <a:lnTo>
                    <a:pt x="16" y="3"/>
                  </a:lnTo>
                  <a:lnTo>
                    <a:pt x="0" y="0"/>
                  </a:lnTo>
                  <a:lnTo>
                    <a:pt x="1" y="3"/>
                  </a:lnTo>
                  <a:lnTo>
                    <a:pt x="3" y="10"/>
                  </a:lnTo>
                  <a:lnTo>
                    <a:pt x="5" y="19"/>
                  </a:lnTo>
                  <a:lnTo>
                    <a:pt x="11" y="29"/>
                  </a:lnTo>
                  <a:lnTo>
                    <a:pt x="19" y="38"/>
                  </a:lnTo>
                  <a:lnTo>
                    <a:pt x="31" y="45"/>
                  </a:lnTo>
                  <a:lnTo>
                    <a:pt x="47" y="48"/>
                  </a:lnTo>
                  <a:lnTo>
                    <a:pt x="47" y="135"/>
                  </a:lnTo>
                  <a:lnTo>
                    <a:pt x="47" y="132"/>
                  </a:lnTo>
                  <a:lnTo>
                    <a:pt x="46" y="126"/>
                  </a:lnTo>
                  <a:lnTo>
                    <a:pt x="42" y="118"/>
                  </a:lnTo>
                  <a:lnTo>
                    <a:pt x="35" y="110"/>
                  </a:lnTo>
                  <a:lnTo>
                    <a:pt x="25" y="103"/>
                  </a:lnTo>
                  <a:lnTo>
                    <a:pt x="12" y="100"/>
                  </a:lnTo>
                  <a:lnTo>
                    <a:pt x="12" y="103"/>
                  </a:lnTo>
                  <a:lnTo>
                    <a:pt x="13" y="108"/>
                  </a:lnTo>
                  <a:lnTo>
                    <a:pt x="16" y="116"/>
                  </a:lnTo>
                  <a:lnTo>
                    <a:pt x="20" y="124"/>
                  </a:lnTo>
                  <a:lnTo>
                    <a:pt x="25" y="132"/>
                  </a:lnTo>
                  <a:lnTo>
                    <a:pt x="35" y="139"/>
                  </a:lnTo>
                  <a:lnTo>
                    <a:pt x="47" y="141"/>
                  </a:lnTo>
                  <a:lnTo>
                    <a:pt x="47" y="228"/>
                  </a:lnTo>
                  <a:lnTo>
                    <a:pt x="52"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99" name="Freeform 20"/>
            <p:cNvSpPr>
              <a:spLocks/>
            </p:cNvSpPr>
            <p:nvPr/>
          </p:nvSpPr>
          <p:spPr bwMode="gray">
            <a:xfrm>
              <a:off x="2921" y="362"/>
              <a:ext cx="100" cy="227"/>
            </a:xfrm>
            <a:custGeom>
              <a:avLst/>
              <a:gdLst>
                <a:gd name="T0" fmla="*/ 53 w 100"/>
                <a:gd name="T1" fmla="*/ 160 h 228"/>
                <a:gd name="T2" fmla="*/ 60 w 100"/>
                <a:gd name="T3" fmla="*/ 160 h 228"/>
                <a:gd name="T4" fmla="*/ 74 w 100"/>
                <a:gd name="T5" fmla="*/ 153 h 228"/>
                <a:gd name="T6" fmla="*/ 87 w 100"/>
                <a:gd name="T7" fmla="*/ 138 h 228"/>
                <a:gd name="T8" fmla="*/ 87 w 100"/>
                <a:gd name="T9" fmla="*/ 125 h 228"/>
                <a:gd name="T10" fmla="*/ 74 w 100"/>
                <a:gd name="T11" fmla="*/ 127 h 228"/>
                <a:gd name="T12" fmla="*/ 60 w 100"/>
                <a:gd name="T13" fmla="*/ 142 h 228"/>
                <a:gd name="T14" fmla="*/ 53 w 100"/>
                <a:gd name="T15" fmla="*/ 114 h 228"/>
                <a:gd name="T16" fmla="*/ 61 w 100"/>
                <a:gd name="T17" fmla="*/ 114 h 228"/>
                <a:gd name="T18" fmla="*/ 78 w 100"/>
                <a:gd name="T19" fmla="*/ 110 h 228"/>
                <a:gd name="T20" fmla="*/ 92 w 100"/>
                <a:gd name="T21" fmla="*/ 92 h 228"/>
                <a:gd name="T22" fmla="*/ 92 w 100"/>
                <a:gd name="T23" fmla="*/ 77 h 228"/>
                <a:gd name="T24" fmla="*/ 81 w 100"/>
                <a:gd name="T25" fmla="*/ 79 h 228"/>
                <a:gd name="T26" fmla="*/ 65 w 100"/>
                <a:gd name="T27" fmla="*/ 88 h 228"/>
                <a:gd name="T28" fmla="*/ 53 w 100"/>
                <a:gd name="T29" fmla="*/ 114 h 228"/>
                <a:gd name="T30" fmla="*/ 56 w 100"/>
                <a:gd name="T31" fmla="*/ 48 h 228"/>
                <a:gd name="T32" fmla="*/ 68 w 100"/>
                <a:gd name="T33" fmla="*/ 45 h 228"/>
                <a:gd name="T34" fmla="*/ 85 w 100"/>
                <a:gd name="T35" fmla="*/ 37 h 228"/>
                <a:gd name="T36" fmla="*/ 97 w 100"/>
                <a:gd name="T37" fmla="*/ 17 h 228"/>
                <a:gd name="T38" fmla="*/ 97 w 100"/>
                <a:gd name="T39" fmla="*/ 0 h 228"/>
                <a:gd name="T40" fmla="*/ 84 w 100"/>
                <a:gd name="T41" fmla="*/ 3 h 228"/>
                <a:gd name="T42" fmla="*/ 65 w 100"/>
                <a:gd name="T43" fmla="*/ 14 h 228"/>
                <a:gd name="T44" fmla="*/ 50 w 100"/>
                <a:gd name="T45" fmla="*/ 45 h 228"/>
                <a:gd name="T46" fmla="*/ 47 w 100"/>
                <a:gd name="T47" fmla="*/ 35 h 228"/>
                <a:gd name="T48" fmla="*/ 38 w 100"/>
                <a:gd name="T49" fmla="*/ 18 h 228"/>
                <a:gd name="T50" fmla="*/ 16 w 100"/>
                <a:gd name="T51" fmla="*/ 3 h 228"/>
                <a:gd name="T52" fmla="*/ 2 w 100"/>
                <a:gd name="T53" fmla="*/ 3 h 228"/>
                <a:gd name="T54" fmla="*/ 6 w 100"/>
                <a:gd name="T55" fmla="*/ 19 h 228"/>
                <a:gd name="T56" fmla="*/ 19 w 100"/>
                <a:gd name="T57" fmla="*/ 38 h 228"/>
                <a:gd name="T58" fmla="*/ 47 w 100"/>
                <a:gd name="T59" fmla="*/ 48 h 228"/>
                <a:gd name="T60" fmla="*/ 47 w 100"/>
                <a:gd name="T61" fmla="*/ 116 h 228"/>
                <a:gd name="T62" fmla="*/ 42 w 100"/>
                <a:gd name="T63" fmla="*/ 114 h 228"/>
                <a:gd name="T64" fmla="*/ 26 w 100"/>
                <a:gd name="T65" fmla="*/ 103 h 228"/>
                <a:gd name="T66" fmla="*/ 12 w 100"/>
                <a:gd name="T67" fmla="*/ 103 h 228"/>
                <a:gd name="T68" fmla="*/ 16 w 100"/>
                <a:gd name="T69" fmla="*/ 114 h 228"/>
                <a:gd name="T70" fmla="*/ 26 w 100"/>
                <a:gd name="T71" fmla="*/ 116 h 228"/>
                <a:gd name="T72" fmla="*/ 47 w 100"/>
                <a:gd name="T73" fmla="*/ 125 h 228"/>
                <a:gd name="T74" fmla="*/ 53 w 100"/>
                <a:gd name="T75" fmla="*/ 212 h 22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00" h="228">
                  <a:moveTo>
                    <a:pt x="53" y="228"/>
                  </a:moveTo>
                  <a:lnTo>
                    <a:pt x="53" y="176"/>
                  </a:lnTo>
                  <a:lnTo>
                    <a:pt x="56" y="176"/>
                  </a:lnTo>
                  <a:lnTo>
                    <a:pt x="60" y="176"/>
                  </a:lnTo>
                  <a:lnTo>
                    <a:pt x="68" y="173"/>
                  </a:lnTo>
                  <a:lnTo>
                    <a:pt x="74" y="169"/>
                  </a:lnTo>
                  <a:lnTo>
                    <a:pt x="81" y="163"/>
                  </a:lnTo>
                  <a:lnTo>
                    <a:pt x="87" y="154"/>
                  </a:lnTo>
                  <a:lnTo>
                    <a:pt x="88" y="141"/>
                  </a:lnTo>
                  <a:lnTo>
                    <a:pt x="87" y="141"/>
                  </a:lnTo>
                  <a:lnTo>
                    <a:pt x="81" y="142"/>
                  </a:lnTo>
                  <a:lnTo>
                    <a:pt x="74" y="143"/>
                  </a:lnTo>
                  <a:lnTo>
                    <a:pt x="66" y="149"/>
                  </a:lnTo>
                  <a:lnTo>
                    <a:pt x="60" y="158"/>
                  </a:lnTo>
                  <a:lnTo>
                    <a:pt x="53" y="173"/>
                  </a:lnTo>
                  <a:lnTo>
                    <a:pt x="53" y="118"/>
                  </a:lnTo>
                  <a:lnTo>
                    <a:pt x="56" y="118"/>
                  </a:lnTo>
                  <a:lnTo>
                    <a:pt x="61" y="116"/>
                  </a:lnTo>
                  <a:lnTo>
                    <a:pt x="69" y="115"/>
                  </a:lnTo>
                  <a:lnTo>
                    <a:pt x="78" y="110"/>
                  </a:lnTo>
                  <a:lnTo>
                    <a:pt x="87" y="103"/>
                  </a:lnTo>
                  <a:lnTo>
                    <a:pt x="92" y="92"/>
                  </a:lnTo>
                  <a:lnTo>
                    <a:pt x="95" y="77"/>
                  </a:lnTo>
                  <a:lnTo>
                    <a:pt x="92" y="77"/>
                  </a:lnTo>
                  <a:lnTo>
                    <a:pt x="88" y="77"/>
                  </a:lnTo>
                  <a:lnTo>
                    <a:pt x="81" y="79"/>
                  </a:lnTo>
                  <a:lnTo>
                    <a:pt x="73" y="81"/>
                  </a:lnTo>
                  <a:lnTo>
                    <a:pt x="65" y="88"/>
                  </a:lnTo>
                  <a:lnTo>
                    <a:pt x="58" y="99"/>
                  </a:lnTo>
                  <a:lnTo>
                    <a:pt x="53" y="115"/>
                  </a:lnTo>
                  <a:lnTo>
                    <a:pt x="53" y="48"/>
                  </a:lnTo>
                  <a:lnTo>
                    <a:pt x="56" y="48"/>
                  </a:lnTo>
                  <a:lnTo>
                    <a:pt x="61" y="48"/>
                  </a:lnTo>
                  <a:lnTo>
                    <a:pt x="68" y="45"/>
                  </a:lnTo>
                  <a:lnTo>
                    <a:pt x="77" y="42"/>
                  </a:lnTo>
                  <a:lnTo>
                    <a:pt x="85" y="37"/>
                  </a:lnTo>
                  <a:lnTo>
                    <a:pt x="93" y="27"/>
                  </a:lnTo>
                  <a:lnTo>
                    <a:pt x="97" y="17"/>
                  </a:lnTo>
                  <a:lnTo>
                    <a:pt x="100" y="0"/>
                  </a:lnTo>
                  <a:lnTo>
                    <a:pt x="97" y="0"/>
                  </a:lnTo>
                  <a:lnTo>
                    <a:pt x="92" y="0"/>
                  </a:lnTo>
                  <a:lnTo>
                    <a:pt x="84" y="3"/>
                  </a:lnTo>
                  <a:lnTo>
                    <a:pt x="74" y="7"/>
                  </a:lnTo>
                  <a:lnTo>
                    <a:pt x="65" y="14"/>
                  </a:lnTo>
                  <a:lnTo>
                    <a:pt x="57" y="27"/>
                  </a:lnTo>
                  <a:lnTo>
                    <a:pt x="50" y="45"/>
                  </a:lnTo>
                  <a:lnTo>
                    <a:pt x="50" y="42"/>
                  </a:lnTo>
                  <a:lnTo>
                    <a:pt x="47" y="35"/>
                  </a:lnTo>
                  <a:lnTo>
                    <a:pt x="43" y="27"/>
                  </a:lnTo>
                  <a:lnTo>
                    <a:pt x="38" y="18"/>
                  </a:lnTo>
                  <a:lnTo>
                    <a:pt x="29" y="10"/>
                  </a:lnTo>
                  <a:lnTo>
                    <a:pt x="16" y="3"/>
                  </a:lnTo>
                  <a:lnTo>
                    <a:pt x="0" y="0"/>
                  </a:lnTo>
                  <a:lnTo>
                    <a:pt x="2" y="3"/>
                  </a:lnTo>
                  <a:lnTo>
                    <a:pt x="3" y="10"/>
                  </a:lnTo>
                  <a:lnTo>
                    <a:pt x="6" y="19"/>
                  </a:lnTo>
                  <a:lnTo>
                    <a:pt x="11" y="29"/>
                  </a:lnTo>
                  <a:lnTo>
                    <a:pt x="19" y="38"/>
                  </a:lnTo>
                  <a:lnTo>
                    <a:pt x="31" y="45"/>
                  </a:lnTo>
                  <a:lnTo>
                    <a:pt x="47" y="48"/>
                  </a:lnTo>
                  <a:lnTo>
                    <a:pt x="47" y="135"/>
                  </a:lnTo>
                  <a:lnTo>
                    <a:pt x="47" y="132"/>
                  </a:lnTo>
                  <a:lnTo>
                    <a:pt x="46" y="126"/>
                  </a:lnTo>
                  <a:lnTo>
                    <a:pt x="42" y="118"/>
                  </a:lnTo>
                  <a:lnTo>
                    <a:pt x="35" y="110"/>
                  </a:lnTo>
                  <a:lnTo>
                    <a:pt x="26" y="103"/>
                  </a:lnTo>
                  <a:lnTo>
                    <a:pt x="12" y="100"/>
                  </a:lnTo>
                  <a:lnTo>
                    <a:pt x="12" y="103"/>
                  </a:lnTo>
                  <a:lnTo>
                    <a:pt x="14" y="108"/>
                  </a:lnTo>
                  <a:lnTo>
                    <a:pt x="16" y="116"/>
                  </a:lnTo>
                  <a:lnTo>
                    <a:pt x="20" y="124"/>
                  </a:lnTo>
                  <a:lnTo>
                    <a:pt x="26" y="132"/>
                  </a:lnTo>
                  <a:lnTo>
                    <a:pt x="35" y="139"/>
                  </a:lnTo>
                  <a:lnTo>
                    <a:pt x="47" y="141"/>
                  </a:lnTo>
                  <a:lnTo>
                    <a:pt x="47" y="228"/>
                  </a:lnTo>
                  <a:lnTo>
                    <a:pt x="53" y="228"/>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200" name="Freeform 21"/>
            <p:cNvSpPr>
              <a:spLocks/>
            </p:cNvSpPr>
            <p:nvPr/>
          </p:nvSpPr>
          <p:spPr bwMode="gray">
            <a:xfrm>
              <a:off x="2273" y="187"/>
              <a:ext cx="182" cy="402"/>
            </a:xfrm>
            <a:custGeom>
              <a:avLst/>
              <a:gdLst>
                <a:gd name="T0" fmla="*/ 175 w 175"/>
                <a:gd name="T1" fmla="*/ 309 h 402"/>
                <a:gd name="T2" fmla="*/ 189 w 175"/>
                <a:gd name="T3" fmla="*/ 309 h 402"/>
                <a:gd name="T4" fmla="*/ 222 w 175"/>
                <a:gd name="T5" fmla="*/ 304 h 402"/>
                <a:gd name="T6" fmla="*/ 260 w 175"/>
                <a:gd name="T7" fmla="*/ 292 h 402"/>
                <a:gd name="T8" fmla="*/ 285 w 175"/>
                <a:gd name="T9" fmla="*/ 266 h 402"/>
                <a:gd name="T10" fmla="*/ 285 w 175"/>
                <a:gd name="T11" fmla="*/ 247 h 402"/>
                <a:gd name="T12" fmla="*/ 260 w 175"/>
                <a:gd name="T13" fmla="*/ 250 h 402"/>
                <a:gd name="T14" fmla="*/ 225 w 175"/>
                <a:gd name="T15" fmla="*/ 259 h 402"/>
                <a:gd name="T16" fmla="*/ 185 w 175"/>
                <a:gd name="T17" fmla="*/ 285 h 402"/>
                <a:gd name="T18" fmla="*/ 175 w 175"/>
                <a:gd name="T19" fmla="*/ 207 h 402"/>
                <a:gd name="T20" fmla="*/ 191 w 175"/>
                <a:gd name="T21" fmla="*/ 205 h 402"/>
                <a:gd name="T22" fmla="*/ 227 w 175"/>
                <a:gd name="T23" fmla="*/ 200 h 402"/>
                <a:gd name="T24" fmla="*/ 275 w 175"/>
                <a:gd name="T25" fmla="*/ 185 h 402"/>
                <a:gd name="T26" fmla="*/ 306 w 175"/>
                <a:gd name="T27" fmla="*/ 155 h 402"/>
                <a:gd name="T28" fmla="*/ 306 w 175"/>
                <a:gd name="T29" fmla="*/ 134 h 402"/>
                <a:gd name="T30" fmla="*/ 279 w 175"/>
                <a:gd name="T31" fmla="*/ 135 h 402"/>
                <a:gd name="T32" fmla="*/ 242 w 175"/>
                <a:gd name="T33" fmla="*/ 142 h 402"/>
                <a:gd name="T34" fmla="*/ 200 w 175"/>
                <a:gd name="T35" fmla="*/ 162 h 402"/>
                <a:gd name="T36" fmla="*/ 175 w 175"/>
                <a:gd name="T37" fmla="*/ 201 h 402"/>
                <a:gd name="T38" fmla="*/ 178 w 175"/>
                <a:gd name="T39" fmla="*/ 83 h 402"/>
                <a:gd name="T40" fmla="*/ 207 w 175"/>
                <a:gd name="T41" fmla="*/ 81 h 402"/>
                <a:gd name="T42" fmla="*/ 252 w 175"/>
                <a:gd name="T43" fmla="*/ 73 h 402"/>
                <a:gd name="T44" fmla="*/ 294 w 175"/>
                <a:gd name="T45" fmla="*/ 54 h 402"/>
                <a:gd name="T46" fmla="*/ 327 w 175"/>
                <a:gd name="T47" fmla="*/ 23 h 402"/>
                <a:gd name="T48" fmla="*/ 327 w 175"/>
                <a:gd name="T49" fmla="*/ 0 h 402"/>
                <a:gd name="T50" fmla="*/ 294 w 175"/>
                <a:gd name="T51" fmla="*/ 2 h 402"/>
                <a:gd name="T52" fmla="*/ 250 w 175"/>
                <a:gd name="T53" fmla="*/ 10 h 402"/>
                <a:gd name="T54" fmla="*/ 200 w 175"/>
                <a:gd name="T55" fmla="*/ 33 h 402"/>
                <a:gd name="T56" fmla="*/ 163 w 175"/>
                <a:gd name="T57" fmla="*/ 77 h 402"/>
                <a:gd name="T58" fmla="*/ 159 w 175"/>
                <a:gd name="T59" fmla="*/ 68 h 402"/>
                <a:gd name="T60" fmla="*/ 139 w 175"/>
                <a:gd name="T61" fmla="*/ 46 h 402"/>
                <a:gd name="T62" fmla="*/ 102 w 175"/>
                <a:gd name="T63" fmla="*/ 21 h 402"/>
                <a:gd name="T64" fmla="*/ 38 w 175"/>
                <a:gd name="T65" fmla="*/ 3 h 402"/>
                <a:gd name="T66" fmla="*/ 1 w 175"/>
                <a:gd name="T67" fmla="*/ 3 h 402"/>
                <a:gd name="T68" fmla="*/ 4 w 175"/>
                <a:gd name="T69" fmla="*/ 18 h 402"/>
                <a:gd name="T70" fmla="*/ 12 w 175"/>
                <a:gd name="T71" fmla="*/ 42 h 402"/>
                <a:gd name="T72" fmla="*/ 56 w 175"/>
                <a:gd name="T73" fmla="*/ 65 h 402"/>
                <a:gd name="T74" fmla="*/ 116 w 175"/>
                <a:gd name="T75" fmla="*/ 81 h 402"/>
                <a:gd name="T76" fmla="*/ 153 w 175"/>
                <a:gd name="T77" fmla="*/ 238 h 402"/>
                <a:gd name="T78" fmla="*/ 150 w 175"/>
                <a:gd name="T79" fmla="*/ 228 h 402"/>
                <a:gd name="T80" fmla="*/ 134 w 175"/>
                <a:gd name="T81" fmla="*/ 207 h 402"/>
                <a:gd name="T82" fmla="*/ 102 w 175"/>
                <a:gd name="T83" fmla="*/ 185 h 402"/>
                <a:gd name="T84" fmla="*/ 37 w 175"/>
                <a:gd name="T85" fmla="*/ 176 h 402"/>
                <a:gd name="T86" fmla="*/ 38 w 175"/>
                <a:gd name="T87" fmla="*/ 185 h 402"/>
                <a:gd name="T88" fmla="*/ 50 w 175"/>
                <a:gd name="T89" fmla="*/ 205 h 402"/>
                <a:gd name="T90" fmla="*/ 78 w 175"/>
                <a:gd name="T91" fmla="*/ 230 h 402"/>
                <a:gd name="T92" fmla="*/ 124 w 175"/>
                <a:gd name="T93" fmla="*/ 246 h 402"/>
                <a:gd name="T94" fmla="*/ 153 w 175"/>
                <a:gd name="T95" fmla="*/ 402 h 4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5" h="402">
                  <a:moveTo>
                    <a:pt x="93" y="402"/>
                  </a:moveTo>
                  <a:lnTo>
                    <a:pt x="93" y="309"/>
                  </a:lnTo>
                  <a:lnTo>
                    <a:pt x="95" y="309"/>
                  </a:lnTo>
                  <a:lnTo>
                    <a:pt x="101" y="309"/>
                  </a:lnTo>
                  <a:lnTo>
                    <a:pt x="109" y="308"/>
                  </a:lnTo>
                  <a:lnTo>
                    <a:pt x="118" y="304"/>
                  </a:lnTo>
                  <a:lnTo>
                    <a:pt x="129" y="298"/>
                  </a:lnTo>
                  <a:lnTo>
                    <a:pt x="138" y="292"/>
                  </a:lnTo>
                  <a:lnTo>
                    <a:pt x="147" y="281"/>
                  </a:lnTo>
                  <a:lnTo>
                    <a:pt x="152" y="266"/>
                  </a:lnTo>
                  <a:lnTo>
                    <a:pt x="155" y="247"/>
                  </a:lnTo>
                  <a:lnTo>
                    <a:pt x="152" y="247"/>
                  </a:lnTo>
                  <a:lnTo>
                    <a:pt x="147" y="249"/>
                  </a:lnTo>
                  <a:lnTo>
                    <a:pt x="138" y="250"/>
                  </a:lnTo>
                  <a:lnTo>
                    <a:pt x="129" y="253"/>
                  </a:lnTo>
                  <a:lnTo>
                    <a:pt x="120" y="259"/>
                  </a:lnTo>
                  <a:lnTo>
                    <a:pt x="109" y="270"/>
                  </a:lnTo>
                  <a:lnTo>
                    <a:pt x="99" y="285"/>
                  </a:lnTo>
                  <a:lnTo>
                    <a:pt x="93" y="304"/>
                  </a:lnTo>
                  <a:lnTo>
                    <a:pt x="93" y="207"/>
                  </a:lnTo>
                  <a:lnTo>
                    <a:pt x="95" y="207"/>
                  </a:lnTo>
                  <a:lnTo>
                    <a:pt x="102" y="205"/>
                  </a:lnTo>
                  <a:lnTo>
                    <a:pt x="111" y="204"/>
                  </a:lnTo>
                  <a:lnTo>
                    <a:pt x="122" y="200"/>
                  </a:lnTo>
                  <a:lnTo>
                    <a:pt x="134" y="195"/>
                  </a:lnTo>
                  <a:lnTo>
                    <a:pt x="147" y="185"/>
                  </a:lnTo>
                  <a:lnTo>
                    <a:pt x="156" y="173"/>
                  </a:lnTo>
                  <a:lnTo>
                    <a:pt x="163" y="155"/>
                  </a:lnTo>
                  <a:lnTo>
                    <a:pt x="165" y="134"/>
                  </a:lnTo>
                  <a:lnTo>
                    <a:pt x="163" y="134"/>
                  </a:lnTo>
                  <a:lnTo>
                    <a:pt x="157" y="134"/>
                  </a:lnTo>
                  <a:lnTo>
                    <a:pt x="149" y="135"/>
                  </a:lnTo>
                  <a:lnTo>
                    <a:pt x="140" y="137"/>
                  </a:lnTo>
                  <a:lnTo>
                    <a:pt x="129" y="142"/>
                  </a:lnTo>
                  <a:lnTo>
                    <a:pt x="118" y="150"/>
                  </a:lnTo>
                  <a:lnTo>
                    <a:pt x="107" y="162"/>
                  </a:lnTo>
                  <a:lnTo>
                    <a:pt x="99" y="178"/>
                  </a:lnTo>
                  <a:lnTo>
                    <a:pt x="93" y="201"/>
                  </a:lnTo>
                  <a:lnTo>
                    <a:pt x="93" y="83"/>
                  </a:lnTo>
                  <a:lnTo>
                    <a:pt x="95" y="83"/>
                  </a:lnTo>
                  <a:lnTo>
                    <a:pt x="101" y="83"/>
                  </a:lnTo>
                  <a:lnTo>
                    <a:pt x="110" y="81"/>
                  </a:lnTo>
                  <a:lnTo>
                    <a:pt x="122" y="77"/>
                  </a:lnTo>
                  <a:lnTo>
                    <a:pt x="134" y="73"/>
                  </a:lnTo>
                  <a:lnTo>
                    <a:pt x="147" y="65"/>
                  </a:lnTo>
                  <a:lnTo>
                    <a:pt x="157" y="54"/>
                  </a:lnTo>
                  <a:lnTo>
                    <a:pt x="167" y="41"/>
                  </a:lnTo>
                  <a:lnTo>
                    <a:pt x="174" y="23"/>
                  </a:lnTo>
                  <a:lnTo>
                    <a:pt x="175" y="0"/>
                  </a:lnTo>
                  <a:lnTo>
                    <a:pt x="174" y="0"/>
                  </a:lnTo>
                  <a:lnTo>
                    <a:pt x="167" y="0"/>
                  </a:lnTo>
                  <a:lnTo>
                    <a:pt x="157" y="2"/>
                  </a:lnTo>
                  <a:lnTo>
                    <a:pt x="145" y="4"/>
                  </a:lnTo>
                  <a:lnTo>
                    <a:pt x="133" y="10"/>
                  </a:lnTo>
                  <a:lnTo>
                    <a:pt x="120" y="19"/>
                  </a:lnTo>
                  <a:lnTo>
                    <a:pt x="107" y="33"/>
                  </a:lnTo>
                  <a:lnTo>
                    <a:pt x="97" y="52"/>
                  </a:lnTo>
                  <a:lnTo>
                    <a:pt x="87" y="77"/>
                  </a:lnTo>
                  <a:lnTo>
                    <a:pt x="87" y="75"/>
                  </a:lnTo>
                  <a:lnTo>
                    <a:pt x="85" y="68"/>
                  </a:lnTo>
                  <a:lnTo>
                    <a:pt x="80" y="58"/>
                  </a:lnTo>
                  <a:lnTo>
                    <a:pt x="75" y="46"/>
                  </a:lnTo>
                  <a:lnTo>
                    <a:pt x="66" y="33"/>
                  </a:lnTo>
                  <a:lnTo>
                    <a:pt x="55" y="21"/>
                  </a:lnTo>
                  <a:lnTo>
                    <a:pt x="40" y="10"/>
                  </a:lnTo>
                  <a:lnTo>
                    <a:pt x="22" y="3"/>
                  </a:lnTo>
                  <a:lnTo>
                    <a:pt x="0" y="0"/>
                  </a:lnTo>
                  <a:lnTo>
                    <a:pt x="1" y="3"/>
                  </a:lnTo>
                  <a:lnTo>
                    <a:pt x="1" y="10"/>
                  </a:lnTo>
                  <a:lnTo>
                    <a:pt x="4" y="18"/>
                  </a:lnTo>
                  <a:lnTo>
                    <a:pt x="6" y="30"/>
                  </a:lnTo>
                  <a:lnTo>
                    <a:pt x="12" y="42"/>
                  </a:lnTo>
                  <a:lnTo>
                    <a:pt x="20" y="54"/>
                  </a:lnTo>
                  <a:lnTo>
                    <a:pt x="31" y="65"/>
                  </a:lnTo>
                  <a:lnTo>
                    <a:pt x="44" y="75"/>
                  </a:lnTo>
                  <a:lnTo>
                    <a:pt x="62" y="81"/>
                  </a:lnTo>
                  <a:lnTo>
                    <a:pt x="82" y="83"/>
                  </a:lnTo>
                  <a:lnTo>
                    <a:pt x="82" y="238"/>
                  </a:lnTo>
                  <a:lnTo>
                    <a:pt x="82" y="235"/>
                  </a:lnTo>
                  <a:lnTo>
                    <a:pt x="80" y="228"/>
                  </a:lnTo>
                  <a:lnTo>
                    <a:pt x="78" y="217"/>
                  </a:lnTo>
                  <a:lnTo>
                    <a:pt x="72" y="207"/>
                  </a:lnTo>
                  <a:lnTo>
                    <a:pt x="66" y="196"/>
                  </a:lnTo>
                  <a:lnTo>
                    <a:pt x="55" y="185"/>
                  </a:lnTo>
                  <a:lnTo>
                    <a:pt x="40" y="178"/>
                  </a:lnTo>
                  <a:lnTo>
                    <a:pt x="21" y="176"/>
                  </a:lnTo>
                  <a:lnTo>
                    <a:pt x="21" y="178"/>
                  </a:lnTo>
                  <a:lnTo>
                    <a:pt x="22" y="185"/>
                  </a:lnTo>
                  <a:lnTo>
                    <a:pt x="24" y="195"/>
                  </a:lnTo>
                  <a:lnTo>
                    <a:pt x="28" y="205"/>
                  </a:lnTo>
                  <a:lnTo>
                    <a:pt x="33" y="217"/>
                  </a:lnTo>
                  <a:lnTo>
                    <a:pt x="41" y="230"/>
                  </a:lnTo>
                  <a:lnTo>
                    <a:pt x="52" y="239"/>
                  </a:lnTo>
                  <a:lnTo>
                    <a:pt x="66" y="246"/>
                  </a:lnTo>
                  <a:lnTo>
                    <a:pt x="82" y="247"/>
                  </a:lnTo>
                  <a:lnTo>
                    <a:pt x="82" y="402"/>
                  </a:lnTo>
                  <a:lnTo>
                    <a:pt x="93" y="402"/>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201" name="Freeform 22"/>
            <p:cNvSpPr>
              <a:spLocks/>
            </p:cNvSpPr>
            <p:nvPr/>
          </p:nvSpPr>
          <p:spPr bwMode="gray">
            <a:xfrm>
              <a:off x="2161" y="215"/>
              <a:ext cx="98" cy="374"/>
            </a:xfrm>
            <a:custGeom>
              <a:avLst/>
              <a:gdLst>
                <a:gd name="T0" fmla="*/ 68 w 97"/>
                <a:gd name="T1" fmla="*/ 253 h 373"/>
                <a:gd name="T2" fmla="*/ 75 w 97"/>
                <a:gd name="T3" fmla="*/ 253 h 373"/>
                <a:gd name="T4" fmla="*/ 90 w 97"/>
                <a:gd name="T5" fmla="*/ 248 h 373"/>
                <a:gd name="T6" fmla="*/ 106 w 97"/>
                <a:gd name="T7" fmla="*/ 234 h 373"/>
                <a:gd name="T8" fmla="*/ 113 w 97"/>
                <a:gd name="T9" fmla="*/ 209 h 373"/>
                <a:gd name="T10" fmla="*/ 105 w 97"/>
                <a:gd name="T11" fmla="*/ 209 h 373"/>
                <a:gd name="T12" fmla="*/ 87 w 97"/>
                <a:gd name="T13" fmla="*/ 213 h 373"/>
                <a:gd name="T14" fmla="*/ 72 w 97"/>
                <a:gd name="T15" fmla="*/ 231 h 373"/>
                <a:gd name="T16" fmla="*/ 68 w 97"/>
                <a:gd name="T17" fmla="*/ 147 h 373"/>
                <a:gd name="T18" fmla="*/ 75 w 97"/>
                <a:gd name="T19" fmla="*/ 147 h 373"/>
                <a:gd name="T20" fmla="*/ 90 w 97"/>
                <a:gd name="T21" fmla="*/ 141 h 373"/>
                <a:gd name="T22" fmla="*/ 106 w 97"/>
                <a:gd name="T23" fmla="*/ 128 h 373"/>
                <a:gd name="T24" fmla="*/ 113 w 97"/>
                <a:gd name="T25" fmla="*/ 102 h 373"/>
                <a:gd name="T26" fmla="*/ 105 w 97"/>
                <a:gd name="T27" fmla="*/ 102 h 373"/>
                <a:gd name="T28" fmla="*/ 87 w 97"/>
                <a:gd name="T29" fmla="*/ 109 h 373"/>
                <a:gd name="T30" fmla="*/ 72 w 97"/>
                <a:gd name="T31" fmla="*/ 126 h 373"/>
                <a:gd name="T32" fmla="*/ 68 w 97"/>
                <a:gd name="T33" fmla="*/ 46 h 373"/>
                <a:gd name="T34" fmla="*/ 67 w 97"/>
                <a:gd name="T35" fmla="*/ 37 h 373"/>
                <a:gd name="T36" fmla="*/ 45 w 97"/>
                <a:gd name="T37" fmla="*/ 23 h 373"/>
                <a:gd name="T38" fmla="*/ 32 w 97"/>
                <a:gd name="T39" fmla="*/ 6 h 373"/>
                <a:gd name="T40" fmla="*/ 6 w 97"/>
                <a:gd name="T41" fmla="*/ 0 h 373"/>
                <a:gd name="T42" fmla="*/ 8 w 97"/>
                <a:gd name="T43" fmla="*/ 9 h 373"/>
                <a:gd name="T44" fmla="*/ 16 w 97"/>
                <a:gd name="T45" fmla="*/ 27 h 373"/>
                <a:gd name="T46" fmla="*/ 33 w 97"/>
                <a:gd name="T47" fmla="*/ 43 h 373"/>
                <a:gd name="T48" fmla="*/ 45 w 97"/>
                <a:gd name="T49" fmla="*/ 113 h 373"/>
                <a:gd name="T50" fmla="*/ 45 w 97"/>
                <a:gd name="T51" fmla="*/ 106 h 373"/>
                <a:gd name="T52" fmla="*/ 40 w 97"/>
                <a:gd name="T53" fmla="*/ 90 h 373"/>
                <a:gd name="T54" fmla="*/ 27 w 97"/>
                <a:gd name="T55" fmla="*/ 75 h 373"/>
                <a:gd name="T56" fmla="*/ 1 w 97"/>
                <a:gd name="T57" fmla="*/ 67 h 373"/>
                <a:gd name="T58" fmla="*/ 0 w 97"/>
                <a:gd name="T59" fmla="*/ 75 h 373"/>
                <a:gd name="T60" fmla="*/ 2 w 97"/>
                <a:gd name="T61" fmla="*/ 91 h 373"/>
                <a:gd name="T62" fmla="*/ 14 w 97"/>
                <a:gd name="T63" fmla="*/ 109 h 373"/>
                <a:gd name="T64" fmla="*/ 45 w 97"/>
                <a:gd name="T65" fmla="*/ 118 h 373"/>
                <a:gd name="T66" fmla="*/ 45 w 97"/>
                <a:gd name="T67" fmla="*/ 223 h 373"/>
                <a:gd name="T68" fmla="*/ 43 w 97"/>
                <a:gd name="T69" fmla="*/ 211 h 373"/>
                <a:gd name="T70" fmla="*/ 33 w 97"/>
                <a:gd name="T71" fmla="*/ 182 h 373"/>
                <a:gd name="T72" fmla="*/ 12 w 97"/>
                <a:gd name="T73" fmla="*/ 175 h 373"/>
                <a:gd name="T74" fmla="*/ 10 w 97"/>
                <a:gd name="T75" fmla="*/ 182 h 373"/>
                <a:gd name="T76" fmla="*/ 13 w 97"/>
                <a:gd name="T77" fmla="*/ 213 h 373"/>
                <a:gd name="T78" fmla="*/ 29 w 97"/>
                <a:gd name="T79" fmla="*/ 227 h 373"/>
                <a:gd name="T80" fmla="*/ 45 w 97"/>
                <a:gd name="T81" fmla="*/ 389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2" y="373"/>
                  </a:moveTo>
                  <a:lnTo>
                    <a:pt x="52" y="237"/>
                  </a:lnTo>
                  <a:lnTo>
                    <a:pt x="54" y="237"/>
                  </a:lnTo>
                  <a:lnTo>
                    <a:pt x="59" y="237"/>
                  </a:lnTo>
                  <a:lnTo>
                    <a:pt x="66" y="236"/>
                  </a:lnTo>
                  <a:lnTo>
                    <a:pt x="74" y="232"/>
                  </a:lnTo>
                  <a:lnTo>
                    <a:pt x="82" y="226"/>
                  </a:lnTo>
                  <a:lnTo>
                    <a:pt x="90" y="218"/>
                  </a:lnTo>
                  <a:lnTo>
                    <a:pt x="95" y="207"/>
                  </a:lnTo>
                  <a:lnTo>
                    <a:pt x="97" y="193"/>
                  </a:lnTo>
                  <a:lnTo>
                    <a:pt x="94" y="193"/>
                  </a:lnTo>
                  <a:lnTo>
                    <a:pt x="89" y="193"/>
                  </a:lnTo>
                  <a:lnTo>
                    <a:pt x="81" y="194"/>
                  </a:lnTo>
                  <a:lnTo>
                    <a:pt x="71" y="197"/>
                  </a:lnTo>
                  <a:lnTo>
                    <a:pt x="63" y="205"/>
                  </a:lnTo>
                  <a:lnTo>
                    <a:pt x="56" y="215"/>
                  </a:lnTo>
                  <a:lnTo>
                    <a:pt x="52" y="232"/>
                  </a:lnTo>
                  <a:lnTo>
                    <a:pt x="52" y="147"/>
                  </a:lnTo>
                  <a:lnTo>
                    <a:pt x="54" y="147"/>
                  </a:lnTo>
                  <a:lnTo>
                    <a:pt x="59" y="147"/>
                  </a:lnTo>
                  <a:lnTo>
                    <a:pt x="66" y="144"/>
                  </a:lnTo>
                  <a:lnTo>
                    <a:pt x="74" y="141"/>
                  </a:lnTo>
                  <a:lnTo>
                    <a:pt x="82" y="136"/>
                  </a:lnTo>
                  <a:lnTo>
                    <a:pt x="90" y="128"/>
                  </a:lnTo>
                  <a:lnTo>
                    <a:pt x="95" y="117"/>
                  </a:lnTo>
                  <a:lnTo>
                    <a:pt x="97" y="102"/>
                  </a:lnTo>
                  <a:lnTo>
                    <a:pt x="94" y="102"/>
                  </a:lnTo>
                  <a:lnTo>
                    <a:pt x="89" y="102"/>
                  </a:lnTo>
                  <a:lnTo>
                    <a:pt x="81" y="105"/>
                  </a:lnTo>
                  <a:lnTo>
                    <a:pt x="71" y="109"/>
                  </a:lnTo>
                  <a:lnTo>
                    <a:pt x="63" y="116"/>
                  </a:lnTo>
                  <a:lnTo>
                    <a:pt x="56" y="126"/>
                  </a:lnTo>
                  <a:lnTo>
                    <a:pt x="52" y="141"/>
                  </a:lnTo>
                  <a:lnTo>
                    <a:pt x="52" y="46"/>
                  </a:lnTo>
                  <a:lnTo>
                    <a:pt x="51" y="43"/>
                  </a:lnTo>
                  <a:lnTo>
                    <a:pt x="51" y="37"/>
                  </a:lnTo>
                  <a:lnTo>
                    <a:pt x="49" y="31"/>
                  </a:lnTo>
                  <a:lnTo>
                    <a:pt x="45" y="23"/>
                  </a:lnTo>
                  <a:lnTo>
                    <a:pt x="40" y="15"/>
                  </a:lnTo>
                  <a:lnTo>
                    <a:pt x="32" y="6"/>
                  </a:lnTo>
                  <a:lnTo>
                    <a:pt x="21" y="2"/>
                  </a:lnTo>
                  <a:lnTo>
                    <a:pt x="6" y="0"/>
                  </a:lnTo>
                  <a:lnTo>
                    <a:pt x="6" y="2"/>
                  </a:lnTo>
                  <a:lnTo>
                    <a:pt x="8" y="9"/>
                  </a:lnTo>
                  <a:lnTo>
                    <a:pt x="12" y="17"/>
                  </a:lnTo>
                  <a:lnTo>
                    <a:pt x="16" y="27"/>
                  </a:lnTo>
                  <a:lnTo>
                    <a:pt x="23" y="36"/>
                  </a:lnTo>
                  <a:lnTo>
                    <a:pt x="33" y="43"/>
                  </a:lnTo>
                  <a:lnTo>
                    <a:pt x="45" y="46"/>
                  </a:lnTo>
                  <a:lnTo>
                    <a:pt x="45" y="113"/>
                  </a:lnTo>
                  <a:lnTo>
                    <a:pt x="45" y="112"/>
                  </a:lnTo>
                  <a:lnTo>
                    <a:pt x="45" y="106"/>
                  </a:lnTo>
                  <a:lnTo>
                    <a:pt x="44" y="98"/>
                  </a:lnTo>
                  <a:lnTo>
                    <a:pt x="40" y="90"/>
                  </a:lnTo>
                  <a:lnTo>
                    <a:pt x="35" y="82"/>
                  </a:lnTo>
                  <a:lnTo>
                    <a:pt x="27" y="75"/>
                  </a:lnTo>
                  <a:lnTo>
                    <a:pt x="16" y="70"/>
                  </a:lnTo>
                  <a:lnTo>
                    <a:pt x="1" y="67"/>
                  </a:lnTo>
                  <a:lnTo>
                    <a:pt x="0" y="70"/>
                  </a:lnTo>
                  <a:lnTo>
                    <a:pt x="0" y="75"/>
                  </a:lnTo>
                  <a:lnTo>
                    <a:pt x="0" y="82"/>
                  </a:lnTo>
                  <a:lnTo>
                    <a:pt x="2" y="91"/>
                  </a:lnTo>
                  <a:lnTo>
                    <a:pt x="6" y="100"/>
                  </a:lnTo>
                  <a:lnTo>
                    <a:pt x="14" y="109"/>
                  </a:lnTo>
                  <a:lnTo>
                    <a:pt x="28" y="114"/>
                  </a:lnTo>
                  <a:lnTo>
                    <a:pt x="45" y="118"/>
                  </a:lnTo>
                  <a:lnTo>
                    <a:pt x="45" y="209"/>
                  </a:lnTo>
                  <a:lnTo>
                    <a:pt x="45" y="207"/>
                  </a:lnTo>
                  <a:lnTo>
                    <a:pt x="45" y="202"/>
                  </a:lnTo>
                  <a:lnTo>
                    <a:pt x="43" y="195"/>
                  </a:lnTo>
                  <a:lnTo>
                    <a:pt x="40" y="188"/>
                  </a:lnTo>
                  <a:lnTo>
                    <a:pt x="33" y="182"/>
                  </a:lnTo>
                  <a:lnTo>
                    <a:pt x="24" y="178"/>
                  </a:lnTo>
                  <a:lnTo>
                    <a:pt x="12" y="175"/>
                  </a:lnTo>
                  <a:lnTo>
                    <a:pt x="12" y="178"/>
                  </a:lnTo>
                  <a:lnTo>
                    <a:pt x="10" y="182"/>
                  </a:lnTo>
                  <a:lnTo>
                    <a:pt x="10" y="188"/>
                  </a:lnTo>
                  <a:lnTo>
                    <a:pt x="13" y="197"/>
                  </a:lnTo>
                  <a:lnTo>
                    <a:pt x="20" y="205"/>
                  </a:lnTo>
                  <a:lnTo>
                    <a:pt x="29" y="211"/>
                  </a:lnTo>
                  <a:lnTo>
                    <a:pt x="45" y="215"/>
                  </a:lnTo>
                  <a:lnTo>
                    <a:pt x="45" y="373"/>
                  </a:lnTo>
                  <a:lnTo>
                    <a:pt x="52"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202" name="Freeform 23"/>
            <p:cNvSpPr>
              <a:spLocks/>
            </p:cNvSpPr>
            <p:nvPr/>
          </p:nvSpPr>
          <p:spPr bwMode="gray">
            <a:xfrm>
              <a:off x="2708" y="215"/>
              <a:ext cx="97" cy="374"/>
            </a:xfrm>
            <a:custGeom>
              <a:avLst/>
              <a:gdLst>
                <a:gd name="T0" fmla="*/ 51 w 97"/>
                <a:gd name="T1" fmla="*/ 253 h 373"/>
                <a:gd name="T2" fmla="*/ 60 w 97"/>
                <a:gd name="T3" fmla="*/ 253 h 373"/>
                <a:gd name="T4" fmla="*/ 74 w 97"/>
                <a:gd name="T5" fmla="*/ 248 h 373"/>
                <a:gd name="T6" fmla="*/ 91 w 97"/>
                <a:gd name="T7" fmla="*/ 234 h 373"/>
                <a:gd name="T8" fmla="*/ 97 w 97"/>
                <a:gd name="T9" fmla="*/ 209 h 373"/>
                <a:gd name="T10" fmla="*/ 89 w 97"/>
                <a:gd name="T11" fmla="*/ 209 h 373"/>
                <a:gd name="T12" fmla="*/ 72 w 97"/>
                <a:gd name="T13" fmla="*/ 213 h 373"/>
                <a:gd name="T14" fmla="*/ 55 w 97"/>
                <a:gd name="T15" fmla="*/ 231 h 373"/>
                <a:gd name="T16" fmla="*/ 51 w 97"/>
                <a:gd name="T17" fmla="*/ 147 h 373"/>
                <a:gd name="T18" fmla="*/ 60 w 97"/>
                <a:gd name="T19" fmla="*/ 147 h 373"/>
                <a:gd name="T20" fmla="*/ 74 w 97"/>
                <a:gd name="T21" fmla="*/ 141 h 373"/>
                <a:gd name="T22" fmla="*/ 91 w 97"/>
                <a:gd name="T23" fmla="*/ 128 h 373"/>
                <a:gd name="T24" fmla="*/ 97 w 97"/>
                <a:gd name="T25" fmla="*/ 102 h 373"/>
                <a:gd name="T26" fmla="*/ 89 w 97"/>
                <a:gd name="T27" fmla="*/ 102 h 373"/>
                <a:gd name="T28" fmla="*/ 72 w 97"/>
                <a:gd name="T29" fmla="*/ 109 h 373"/>
                <a:gd name="T30" fmla="*/ 55 w 97"/>
                <a:gd name="T31" fmla="*/ 126 h 373"/>
                <a:gd name="T32" fmla="*/ 51 w 97"/>
                <a:gd name="T33" fmla="*/ 46 h 373"/>
                <a:gd name="T34" fmla="*/ 51 w 97"/>
                <a:gd name="T35" fmla="*/ 37 h 373"/>
                <a:gd name="T36" fmla="*/ 46 w 97"/>
                <a:gd name="T37" fmla="*/ 23 h 373"/>
                <a:gd name="T38" fmla="*/ 33 w 97"/>
                <a:gd name="T39" fmla="*/ 6 h 373"/>
                <a:gd name="T40" fmla="*/ 7 w 97"/>
                <a:gd name="T41" fmla="*/ 0 h 373"/>
                <a:gd name="T42" fmla="*/ 8 w 97"/>
                <a:gd name="T43" fmla="*/ 9 h 373"/>
                <a:gd name="T44" fmla="*/ 16 w 97"/>
                <a:gd name="T45" fmla="*/ 27 h 373"/>
                <a:gd name="T46" fmla="*/ 34 w 97"/>
                <a:gd name="T47" fmla="*/ 43 h 373"/>
                <a:gd name="T48" fmla="*/ 46 w 97"/>
                <a:gd name="T49" fmla="*/ 113 h 373"/>
                <a:gd name="T50" fmla="*/ 46 w 97"/>
                <a:gd name="T51" fmla="*/ 106 h 373"/>
                <a:gd name="T52" fmla="*/ 41 w 97"/>
                <a:gd name="T53" fmla="*/ 90 h 373"/>
                <a:gd name="T54" fmla="*/ 27 w 97"/>
                <a:gd name="T55" fmla="*/ 75 h 373"/>
                <a:gd name="T56" fmla="*/ 0 w 97"/>
                <a:gd name="T57" fmla="*/ 67 h 373"/>
                <a:gd name="T58" fmla="*/ 0 w 97"/>
                <a:gd name="T59" fmla="*/ 75 h 373"/>
                <a:gd name="T60" fmla="*/ 3 w 97"/>
                <a:gd name="T61" fmla="*/ 91 h 373"/>
                <a:gd name="T62" fmla="*/ 15 w 97"/>
                <a:gd name="T63" fmla="*/ 109 h 373"/>
                <a:gd name="T64" fmla="*/ 46 w 97"/>
                <a:gd name="T65" fmla="*/ 118 h 373"/>
                <a:gd name="T66" fmla="*/ 46 w 97"/>
                <a:gd name="T67" fmla="*/ 223 h 373"/>
                <a:gd name="T68" fmla="*/ 43 w 97"/>
                <a:gd name="T69" fmla="*/ 211 h 373"/>
                <a:gd name="T70" fmla="*/ 34 w 97"/>
                <a:gd name="T71" fmla="*/ 182 h 373"/>
                <a:gd name="T72" fmla="*/ 12 w 97"/>
                <a:gd name="T73" fmla="*/ 175 h 373"/>
                <a:gd name="T74" fmla="*/ 11 w 97"/>
                <a:gd name="T75" fmla="*/ 182 h 373"/>
                <a:gd name="T76" fmla="*/ 14 w 97"/>
                <a:gd name="T77" fmla="*/ 213 h 373"/>
                <a:gd name="T78" fmla="*/ 30 w 97"/>
                <a:gd name="T79" fmla="*/ 227 h 373"/>
                <a:gd name="T80" fmla="*/ 46 w 97"/>
                <a:gd name="T81" fmla="*/ 389 h 37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7" h="373">
                  <a:moveTo>
                    <a:pt x="51" y="373"/>
                  </a:moveTo>
                  <a:lnTo>
                    <a:pt x="51" y="237"/>
                  </a:lnTo>
                  <a:lnTo>
                    <a:pt x="54" y="237"/>
                  </a:lnTo>
                  <a:lnTo>
                    <a:pt x="60" y="237"/>
                  </a:lnTo>
                  <a:lnTo>
                    <a:pt x="66" y="236"/>
                  </a:lnTo>
                  <a:lnTo>
                    <a:pt x="74" y="232"/>
                  </a:lnTo>
                  <a:lnTo>
                    <a:pt x="82" y="226"/>
                  </a:lnTo>
                  <a:lnTo>
                    <a:pt x="91" y="218"/>
                  </a:lnTo>
                  <a:lnTo>
                    <a:pt x="95" y="207"/>
                  </a:lnTo>
                  <a:lnTo>
                    <a:pt x="97" y="193"/>
                  </a:lnTo>
                  <a:lnTo>
                    <a:pt x="95" y="193"/>
                  </a:lnTo>
                  <a:lnTo>
                    <a:pt x="89" y="193"/>
                  </a:lnTo>
                  <a:lnTo>
                    <a:pt x="81" y="194"/>
                  </a:lnTo>
                  <a:lnTo>
                    <a:pt x="72" y="197"/>
                  </a:lnTo>
                  <a:lnTo>
                    <a:pt x="64" y="205"/>
                  </a:lnTo>
                  <a:lnTo>
                    <a:pt x="55" y="215"/>
                  </a:lnTo>
                  <a:lnTo>
                    <a:pt x="51" y="232"/>
                  </a:lnTo>
                  <a:lnTo>
                    <a:pt x="51" y="147"/>
                  </a:lnTo>
                  <a:lnTo>
                    <a:pt x="54" y="147"/>
                  </a:lnTo>
                  <a:lnTo>
                    <a:pt x="60" y="147"/>
                  </a:lnTo>
                  <a:lnTo>
                    <a:pt x="66" y="144"/>
                  </a:lnTo>
                  <a:lnTo>
                    <a:pt x="74" y="141"/>
                  </a:lnTo>
                  <a:lnTo>
                    <a:pt x="82" y="136"/>
                  </a:lnTo>
                  <a:lnTo>
                    <a:pt x="91" y="128"/>
                  </a:lnTo>
                  <a:lnTo>
                    <a:pt x="95" y="117"/>
                  </a:lnTo>
                  <a:lnTo>
                    <a:pt x="97" y="102"/>
                  </a:lnTo>
                  <a:lnTo>
                    <a:pt x="95" y="102"/>
                  </a:lnTo>
                  <a:lnTo>
                    <a:pt x="89" y="102"/>
                  </a:lnTo>
                  <a:lnTo>
                    <a:pt x="81" y="105"/>
                  </a:lnTo>
                  <a:lnTo>
                    <a:pt x="72" y="109"/>
                  </a:lnTo>
                  <a:lnTo>
                    <a:pt x="64" y="116"/>
                  </a:lnTo>
                  <a:lnTo>
                    <a:pt x="55" y="126"/>
                  </a:lnTo>
                  <a:lnTo>
                    <a:pt x="51" y="141"/>
                  </a:lnTo>
                  <a:lnTo>
                    <a:pt x="51" y="46"/>
                  </a:lnTo>
                  <a:lnTo>
                    <a:pt x="51" y="43"/>
                  </a:lnTo>
                  <a:lnTo>
                    <a:pt x="51" y="37"/>
                  </a:lnTo>
                  <a:lnTo>
                    <a:pt x="49" y="31"/>
                  </a:lnTo>
                  <a:lnTo>
                    <a:pt x="46" y="23"/>
                  </a:lnTo>
                  <a:lnTo>
                    <a:pt x="41" y="15"/>
                  </a:lnTo>
                  <a:lnTo>
                    <a:pt x="33" y="6"/>
                  </a:lnTo>
                  <a:lnTo>
                    <a:pt x="22" y="2"/>
                  </a:lnTo>
                  <a:lnTo>
                    <a:pt x="7" y="0"/>
                  </a:lnTo>
                  <a:lnTo>
                    <a:pt x="7" y="2"/>
                  </a:lnTo>
                  <a:lnTo>
                    <a:pt x="8" y="9"/>
                  </a:lnTo>
                  <a:lnTo>
                    <a:pt x="11" y="17"/>
                  </a:lnTo>
                  <a:lnTo>
                    <a:pt x="16" y="27"/>
                  </a:lnTo>
                  <a:lnTo>
                    <a:pt x="23" y="36"/>
                  </a:lnTo>
                  <a:lnTo>
                    <a:pt x="34" y="43"/>
                  </a:lnTo>
                  <a:lnTo>
                    <a:pt x="46" y="46"/>
                  </a:lnTo>
                  <a:lnTo>
                    <a:pt x="46" y="113"/>
                  </a:lnTo>
                  <a:lnTo>
                    <a:pt x="46" y="112"/>
                  </a:lnTo>
                  <a:lnTo>
                    <a:pt x="46" y="106"/>
                  </a:lnTo>
                  <a:lnTo>
                    <a:pt x="43" y="98"/>
                  </a:lnTo>
                  <a:lnTo>
                    <a:pt x="41" y="90"/>
                  </a:lnTo>
                  <a:lnTo>
                    <a:pt x="35" y="82"/>
                  </a:lnTo>
                  <a:lnTo>
                    <a:pt x="27" y="75"/>
                  </a:lnTo>
                  <a:lnTo>
                    <a:pt x="16" y="70"/>
                  </a:lnTo>
                  <a:lnTo>
                    <a:pt x="0" y="67"/>
                  </a:lnTo>
                  <a:lnTo>
                    <a:pt x="0" y="70"/>
                  </a:lnTo>
                  <a:lnTo>
                    <a:pt x="0" y="75"/>
                  </a:lnTo>
                  <a:lnTo>
                    <a:pt x="0" y="82"/>
                  </a:lnTo>
                  <a:lnTo>
                    <a:pt x="3" y="91"/>
                  </a:lnTo>
                  <a:lnTo>
                    <a:pt x="7" y="100"/>
                  </a:lnTo>
                  <a:lnTo>
                    <a:pt x="15" y="109"/>
                  </a:lnTo>
                  <a:lnTo>
                    <a:pt x="28" y="114"/>
                  </a:lnTo>
                  <a:lnTo>
                    <a:pt x="46" y="118"/>
                  </a:lnTo>
                  <a:lnTo>
                    <a:pt x="46" y="209"/>
                  </a:lnTo>
                  <a:lnTo>
                    <a:pt x="46" y="207"/>
                  </a:lnTo>
                  <a:lnTo>
                    <a:pt x="45" y="202"/>
                  </a:lnTo>
                  <a:lnTo>
                    <a:pt x="43" y="195"/>
                  </a:lnTo>
                  <a:lnTo>
                    <a:pt x="39" y="188"/>
                  </a:lnTo>
                  <a:lnTo>
                    <a:pt x="34" y="182"/>
                  </a:lnTo>
                  <a:lnTo>
                    <a:pt x="24" y="178"/>
                  </a:lnTo>
                  <a:lnTo>
                    <a:pt x="12" y="175"/>
                  </a:lnTo>
                  <a:lnTo>
                    <a:pt x="12" y="178"/>
                  </a:lnTo>
                  <a:lnTo>
                    <a:pt x="11" y="182"/>
                  </a:lnTo>
                  <a:lnTo>
                    <a:pt x="11" y="188"/>
                  </a:lnTo>
                  <a:lnTo>
                    <a:pt x="14" y="197"/>
                  </a:lnTo>
                  <a:lnTo>
                    <a:pt x="19" y="205"/>
                  </a:lnTo>
                  <a:lnTo>
                    <a:pt x="30" y="211"/>
                  </a:lnTo>
                  <a:lnTo>
                    <a:pt x="46" y="215"/>
                  </a:lnTo>
                  <a:lnTo>
                    <a:pt x="46" y="373"/>
                  </a:lnTo>
                  <a:lnTo>
                    <a:pt x="51" y="373"/>
                  </a:lnTo>
                  <a:close/>
                </a:path>
              </a:pathLst>
            </a:custGeom>
            <a:solidFill>
              <a:srgbClr val="D7D7D7"/>
            </a:solidFill>
            <a:ln w="0">
              <a:solidFill>
                <a:srgbClr val="D7D7D7"/>
              </a:solidFill>
              <a:prstDash val="solid"/>
              <a:round/>
              <a:headEnd/>
              <a:tailEnd/>
            </a:ln>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grpSp>
      <p:sp>
        <p:nvSpPr>
          <p:cNvPr id="7171" name="Freeform 25"/>
          <p:cNvSpPr>
            <a:spLocks/>
          </p:cNvSpPr>
          <p:nvPr/>
        </p:nvSpPr>
        <p:spPr bwMode="gray">
          <a:xfrm>
            <a:off x="95250" y="6446838"/>
            <a:ext cx="8970963" cy="314325"/>
          </a:xfrm>
          <a:custGeom>
            <a:avLst/>
            <a:gdLst>
              <a:gd name="T0" fmla="*/ 2147483646 w 5651"/>
              <a:gd name="T1" fmla="*/ 2147483646 h 198"/>
              <a:gd name="T2" fmla="*/ 2147483646 w 5651"/>
              <a:gd name="T3" fmla="*/ 2147483646 h 198"/>
              <a:gd name="T4" fmla="*/ 2147483646 w 5651"/>
              <a:gd name="T5" fmla="*/ 2147483646 h 198"/>
              <a:gd name="T6" fmla="*/ 2147483646 w 5651"/>
              <a:gd name="T7" fmla="*/ 2147483646 h 198"/>
              <a:gd name="T8" fmla="*/ 2147483646 w 5651"/>
              <a:gd name="T9" fmla="*/ 2147483646 h 198"/>
              <a:gd name="T10" fmla="*/ 0 w 5651"/>
              <a:gd name="T11" fmla="*/ 0 h 198"/>
              <a:gd name="T12" fmla="*/ 2147483646 w 5651"/>
              <a:gd name="T13" fmla="*/ 2147483646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1" h="198">
                <a:moveTo>
                  <a:pt x="4" y="198"/>
                </a:moveTo>
                <a:lnTo>
                  <a:pt x="5651" y="198"/>
                </a:lnTo>
                <a:lnTo>
                  <a:pt x="5646" y="94"/>
                </a:lnTo>
                <a:lnTo>
                  <a:pt x="1491" y="94"/>
                </a:lnTo>
                <a:lnTo>
                  <a:pt x="1343" y="2"/>
                </a:lnTo>
                <a:lnTo>
                  <a:pt x="0" y="0"/>
                </a:lnTo>
                <a:lnTo>
                  <a:pt x="4" y="19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2" name="Freeform 26"/>
          <p:cNvSpPr>
            <a:spLocks/>
          </p:cNvSpPr>
          <p:nvPr/>
        </p:nvSpPr>
        <p:spPr bwMode="gray">
          <a:xfrm>
            <a:off x="95250" y="6491288"/>
            <a:ext cx="8975725" cy="279400"/>
          </a:xfrm>
          <a:custGeom>
            <a:avLst/>
            <a:gdLst>
              <a:gd name="T0" fmla="*/ 0 w 5650"/>
              <a:gd name="T1" fmla="*/ 2147483646 h 176"/>
              <a:gd name="T2" fmla="*/ 2147483646 w 5650"/>
              <a:gd name="T3" fmla="*/ 2147483646 h 176"/>
              <a:gd name="T4" fmla="*/ 2147483646 w 5650"/>
              <a:gd name="T5" fmla="*/ 2147483646 h 176"/>
              <a:gd name="T6" fmla="*/ 2147483646 w 5650"/>
              <a:gd name="T7" fmla="*/ 2147483646 h 176"/>
              <a:gd name="T8" fmla="*/ 2147483646 w 5650"/>
              <a:gd name="T9" fmla="*/ 2147483646 h 176"/>
              <a:gd name="T10" fmla="*/ 0 w 5650"/>
              <a:gd name="T11" fmla="*/ 0 h 176"/>
              <a:gd name="T12" fmla="*/ 0 w 5650"/>
              <a:gd name="T13" fmla="*/ 2147483646 h 1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50" h="176">
                <a:moveTo>
                  <a:pt x="0" y="176"/>
                </a:moveTo>
                <a:lnTo>
                  <a:pt x="5650" y="169"/>
                </a:lnTo>
                <a:lnTo>
                  <a:pt x="5646" y="95"/>
                </a:lnTo>
                <a:lnTo>
                  <a:pt x="1478" y="95"/>
                </a:lnTo>
                <a:lnTo>
                  <a:pt x="1317" y="3"/>
                </a:lnTo>
                <a:lnTo>
                  <a:pt x="0" y="0"/>
                </a:lnTo>
                <a:lnTo>
                  <a:pt x="0" y="1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3" name="Freeform 27" descr="Dark upward diagonal"/>
          <p:cNvSpPr>
            <a:spLocks/>
          </p:cNvSpPr>
          <p:nvPr/>
        </p:nvSpPr>
        <p:spPr bwMode="gray">
          <a:xfrm>
            <a:off x="92075" y="98425"/>
            <a:ext cx="8956675" cy="179388"/>
          </a:xfrm>
          <a:custGeom>
            <a:avLst/>
            <a:gdLst>
              <a:gd name="T0" fmla="*/ 0 w 5639"/>
              <a:gd name="T1" fmla="*/ 0 h 113"/>
              <a:gd name="T2" fmla="*/ 2147483646 w 5639"/>
              <a:gd name="T3" fmla="*/ 0 h 113"/>
              <a:gd name="T4" fmla="*/ 2147483646 w 5639"/>
              <a:gd name="T5" fmla="*/ 2147483646 h 113"/>
              <a:gd name="T6" fmla="*/ 2147483646 w 5639"/>
              <a:gd name="T7" fmla="*/ 2147483646 h 113"/>
              <a:gd name="T8" fmla="*/ 0 w 5639"/>
              <a:gd name="T9" fmla="*/ 2147483646 h 113"/>
              <a:gd name="T10" fmla="*/ 0 w 5639"/>
              <a:gd name="T11" fmla="*/ 0 h 1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639" h="113">
                <a:moveTo>
                  <a:pt x="0" y="0"/>
                </a:moveTo>
                <a:lnTo>
                  <a:pt x="5582" y="0"/>
                </a:lnTo>
                <a:cubicBezTo>
                  <a:pt x="5630" y="3"/>
                  <a:pt x="5639" y="45"/>
                  <a:pt x="5639" y="45"/>
                </a:cubicBezTo>
                <a:lnTo>
                  <a:pt x="5636" y="113"/>
                </a:lnTo>
                <a:lnTo>
                  <a:pt x="0" y="113"/>
                </a:lnTo>
                <a:lnTo>
                  <a:pt x="0" y="0"/>
                </a:lnTo>
                <a:close/>
              </a:path>
            </a:pathLst>
          </a:custGeom>
          <a:pattFill prst="dkUpDiag">
            <a:fgClr>
              <a:schemeClr val="accent1"/>
            </a:fgClr>
            <a:bgClr>
              <a:schemeClr val="bg1"/>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4" name="Freeform 28"/>
          <p:cNvSpPr>
            <a:spLocks/>
          </p:cNvSpPr>
          <p:nvPr/>
        </p:nvSpPr>
        <p:spPr bwMode="gray">
          <a:xfrm>
            <a:off x="92075" y="307975"/>
            <a:ext cx="8955088" cy="938213"/>
          </a:xfrm>
          <a:custGeom>
            <a:avLst/>
            <a:gdLst>
              <a:gd name="T0" fmla="*/ 2147483646 w 5446"/>
              <a:gd name="T1" fmla="*/ 0 h 531"/>
              <a:gd name="T2" fmla="*/ 0 w 5446"/>
              <a:gd name="T3" fmla="*/ 0 h 531"/>
              <a:gd name="T4" fmla="*/ 2147483646 w 5446"/>
              <a:gd name="T5" fmla="*/ 2147483646 h 531"/>
              <a:gd name="T6" fmla="*/ 2147483646 w 5446"/>
              <a:gd name="T7" fmla="*/ 2147483646 h 531"/>
              <a:gd name="T8" fmla="*/ 2147483646 w 5446"/>
              <a:gd name="T9" fmla="*/ 2147483646 h 531"/>
              <a:gd name="T10" fmla="*/ 2147483646 w 5446"/>
              <a:gd name="T11" fmla="*/ 2147483646 h 531"/>
              <a:gd name="T12" fmla="*/ 2147483646 w 5446"/>
              <a:gd name="T13" fmla="*/ 0 h 5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46" h="531">
                <a:moveTo>
                  <a:pt x="5446" y="0"/>
                </a:moveTo>
                <a:lnTo>
                  <a:pt x="0" y="0"/>
                </a:lnTo>
                <a:lnTo>
                  <a:pt x="2" y="470"/>
                </a:lnTo>
                <a:lnTo>
                  <a:pt x="4078" y="474"/>
                </a:lnTo>
                <a:lnTo>
                  <a:pt x="4178" y="527"/>
                </a:lnTo>
                <a:lnTo>
                  <a:pt x="5446" y="531"/>
                </a:lnTo>
                <a:lnTo>
                  <a:pt x="5446"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1053" name="Freeform 29"/>
          <p:cNvSpPr>
            <a:spLocks/>
          </p:cNvSpPr>
          <p:nvPr/>
        </p:nvSpPr>
        <p:spPr bwMode="gray">
          <a:xfrm>
            <a:off x="92075" y="306388"/>
            <a:ext cx="8955088" cy="836612"/>
          </a:xfrm>
          <a:custGeom>
            <a:avLst/>
            <a:gdLst/>
            <a:ahLst/>
            <a:cxnLst>
              <a:cxn ang="0">
                <a:pos x="5446" y="0"/>
              </a:cxn>
              <a:cxn ang="0">
                <a:pos x="0" y="0"/>
              </a:cxn>
              <a:cxn ang="0">
                <a:pos x="2" y="470"/>
              </a:cxn>
              <a:cxn ang="0">
                <a:pos x="4078" y="474"/>
              </a:cxn>
              <a:cxn ang="0">
                <a:pos x="4178" y="527"/>
              </a:cxn>
              <a:cxn ang="0">
                <a:pos x="5446" y="531"/>
              </a:cxn>
              <a:cxn ang="0">
                <a:pos x="5446" y="0"/>
              </a:cxn>
            </a:cxnLst>
            <a:rect l="0" t="0" r="r" b="b"/>
            <a:pathLst>
              <a:path w="5446" h="531">
                <a:moveTo>
                  <a:pt x="5446" y="0"/>
                </a:moveTo>
                <a:lnTo>
                  <a:pt x="0" y="0"/>
                </a:lnTo>
                <a:lnTo>
                  <a:pt x="2" y="470"/>
                </a:lnTo>
                <a:lnTo>
                  <a:pt x="4078" y="474"/>
                </a:lnTo>
                <a:lnTo>
                  <a:pt x="4178" y="527"/>
                </a:lnTo>
                <a:lnTo>
                  <a:pt x="5446" y="531"/>
                </a:lnTo>
                <a:lnTo>
                  <a:pt x="5446" y="0"/>
                </a:lnTo>
                <a:close/>
              </a:path>
            </a:pathLst>
          </a:custGeom>
          <a:gradFill rotWithShape="0">
            <a:gsLst>
              <a:gs pos="0">
                <a:schemeClr val="bg1"/>
              </a:gs>
              <a:gs pos="100000">
                <a:schemeClr val="bg1">
                  <a:gamma/>
                  <a:tint val="66667"/>
                  <a:invGamma/>
                </a:schemeClr>
              </a:gs>
            </a:gsLst>
            <a:lin ang="0" scaled="1"/>
          </a:gradFill>
          <a:ln w="9525">
            <a:noFill/>
            <a:round/>
            <a:headEnd/>
            <a:tailEnd/>
          </a:ln>
          <a:effectLst/>
        </p:spPr>
        <p:txBody>
          <a:bodyPr/>
          <a:lstStyle/>
          <a:p>
            <a:pPr algn="l" rtl="0" fontAlgn="base">
              <a:spcBef>
                <a:spcPct val="0"/>
              </a:spcBef>
              <a:spcAft>
                <a:spcPct val="0"/>
              </a:spcAft>
              <a:defRPr/>
            </a:pPr>
            <a:endParaRPr lang="zh-TW" altLang="en-US">
              <a:solidFill>
                <a:srgbClr val="DDE89A"/>
              </a:solidFill>
              <a:cs typeface="B Mitra" pitchFamily="2" charset="-78"/>
            </a:endParaRPr>
          </a:p>
        </p:txBody>
      </p:sp>
      <p:sp>
        <p:nvSpPr>
          <p:cNvPr id="7176" name="Rectangle 32"/>
          <p:cNvSpPr>
            <a:spLocks noChangeArrowheads="1"/>
          </p:cNvSpPr>
          <p:nvPr/>
        </p:nvSpPr>
        <p:spPr bwMode="gray">
          <a:xfrm flipV="1">
            <a:off x="95250" y="6723063"/>
            <a:ext cx="8977313" cy="555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177" name="Freeform 35"/>
          <p:cNvSpPr>
            <a:spLocks/>
          </p:cNvSpPr>
          <p:nvPr/>
        </p:nvSpPr>
        <p:spPr bwMode="gray">
          <a:xfrm>
            <a:off x="6896100" y="1047750"/>
            <a:ext cx="2155825" cy="52388"/>
          </a:xfrm>
          <a:custGeom>
            <a:avLst/>
            <a:gdLst>
              <a:gd name="T0" fmla="*/ 0 w 1358"/>
              <a:gd name="T1" fmla="*/ 2147483646 h 33"/>
              <a:gd name="T2" fmla="*/ 2147483646 w 1358"/>
              <a:gd name="T3" fmla="*/ 0 h 33"/>
              <a:gd name="T4" fmla="*/ 2147483646 w 1358"/>
              <a:gd name="T5" fmla="*/ 2147483646 h 33"/>
              <a:gd name="T6" fmla="*/ 2147483646 w 1358"/>
              <a:gd name="T7" fmla="*/ 2147483646 h 33"/>
              <a:gd name="T8" fmla="*/ 0 w 1358"/>
              <a:gd name="T9" fmla="*/ 2147483646 h 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8" h="33">
                <a:moveTo>
                  <a:pt x="0" y="2"/>
                </a:moveTo>
                <a:lnTo>
                  <a:pt x="1358" y="0"/>
                </a:lnTo>
                <a:lnTo>
                  <a:pt x="1356" y="32"/>
                </a:lnTo>
                <a:lnTo>
                  <a:pt x="60" y="33"/>
                </a:lnTo>
                <a:lnTo>
                  <a:pt x="0" y="2"/>
                </a:lnTo>
                <a:close/>
              </a:path>
            </a:pathLst>
          </a:custGeom>
          <a:solidFill>
            <a:srgbClr val="FFFFFF">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rtl="0" eaLnBrk="0" fontAlgn="base" hangingPunct="0">
              <a:spcBef>
                <a:spcPct val="0"/>
              </a:spcBef>
              <a:spcAft>
                <a:spcPct val="0"/>
              </a:spcAft>
            </a:pPr>
            <a:endParaRPr lang="fa-IR">
              <a:solidFill>
                <a:srgbClr val="DDE89A"/>
              </a:solidFill>
              <a:latin typeface="Calibri" pitchFamily="34" charset="0"/>
              <a:cs typeface="B Mitra" pitchFamily="2" charset="-78"/>
            </a:endParaRPr>
          </a:p>
        </p:txBody>
      </p:sp>
      <p:sp>
        <p:nvSpPr>
          <p:cNvPr id="7178" name="Rectangle 2"/>
          <p:cNvSpPr>
            <a:spLocks noGrp="1" noChangeArrowheads="1"/>
          </p:cNvSpPr>
          <p:nvPr>
            <p:ph type="title"/>
          </p:nvPr>
        </p:nvSpPr>
        <p:spPr bwMode="gray">
          <a:xfrm>
            <a:off x="457200" y="238125"/>
            <a:ext cx="64770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179" name="Rectangle 3"/>
          <p:cNvSpPr>
            <a:spLocks noGrp="1" noChangeArrowheads="1"/>
          </p:cNvSpPr>
          <p:nvPr>
            <p:ph type="body" idx="1"/>
          </p:nvPr>
        </p:nvSpPr>
        <p:spPr bwMode="gray">
          <a:xfrm>
            <a:off x="457200" y="1438275"/>
            <a:ext cx="822960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gray">
          <a:xfrm>
            <a:off x="3048000" y="6311900"/>
            <a:ext cx="1712913" cy="290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hangingPunct="1">
              <a:defRPr sz="1000">
                <a:solidFill>
                  <a:srgbClr val="000000"/>
                </a:solidFill>
                <a:latin typeface="Arial" charset="0"/>
                <a:ea typeface="SimSun" pitchFamily="2" charset="-122"/>
                <a:cs typeface="+mn-cs"/>
              </a:defRPr>
            </a:lvl1pPr>
          </a:lstStyle>
          <a:p>
            <a:pPr fontAlgn="base">
              <a:spcBef>
                <a:spcPct val="0"/>
              </a:spcBef>
              <a:spcAft>
                <a:spcPct val="0"/>
              </a:spcAft>
              <a:defRPr/>
            </a:pPr>
            <a:fld id="{C190AA9D-AB6F-4E2D-97B8-B36297FC6603}" type="datetime1">
              <a:rPr lang="zh-TW" altLang="en-US"/>
              <a:pPr fontAlgn="base">
                <a:spcBef>
                  <a:spcPct val="0"/>
                </a:spcBef>
                <a:spcAft>
                  <a:spcPct val="0"/>
                </a:spcAft>
                <a:defRPr/>
              </a:pPr>
              <a:t>2026/2/5</a:t>
            </a:fld>
            <a:endParaRPr lang="en-US" altLang="zh-CN"/>
          </a:p>
        </p:txBody>
      </p:sp>
      <p:sp>
        <p:nvSpPr>
          <p:cNvPr id="1029" name="Rectangle 5"/>
          <p:cNvSpPr>
            <a:spLocks noGrp="1" noChangeArrowheads="1"/>
          </p:cNvSpPr>
          <p:nvPr>
            <p:ph type="ftr" sz="quarter" idx="3"/>
          </p:nvPr>
        </p:nvSpPr>
        <p:spPr bwMode="gray">
          <a:xfrm>
            <a:off x="4830763" y="6323013"/>
            <a:ext cx="2311400" cy="2905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eaLnBrk="1" hangingPunct="1">
              <a:defRPr sz="1000">
                <a:solidFill>
                  <a:srgbClr val="000000"/>
                </a:solidFill>
                <a:latin typeface="Arial" charset="0"/>
                <a:ea typeface="SimSun" pitchFamily="2" charset="-122"/>
                <a:cs typeface="+mn-cs"/>
              </a:defRPr>
            </a:lvl1pPr>
          </a:lstStyle>
          <a:p>
            <a:pPr fontAlgn="base">
              <a:spcBef>
                <a:spcPct val="0"/>
              </a:spcBef>
              <a:spcAft>
                <a:spcPct val="0"/>
              </a:spcAft>
              <a:defRPr/>
            </a:pPr>
            <a:endParaRPr lang="en-US" altLang="zh-CN"/>
          </a:p>
        </p:txBody>
      </p:sp>
      <p:sp>
        <p:nvSpPr>
          <p:cNvPr id="1030" name="Rectangle 6"/>
          <p:cNvSpPr>
            <a:spLocks noGrp="1" noChangeArrowheads="1"/>
          </p:cNvSpPr>
          <p:nvPr>
            <p:ph type="sldNum" sz="quarter" idx="4"/>
          </p:nvPr>
        </p:nvSpPr>
        <p:spPr bwMode="gray">
          <a:xfrm>
            <a:off x="7116763" y="6323013"/>
            <a:ext cx="1616075" cy="2905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rgbClr val="000000"/>
                </a:solidFill>
                <a:latin typeface="Arial" pitchFamily="34" charset="0"/>
                <a:ea typeface="SimSun" pitchFamily="2" charset="-122"/>
              </a:defRPr>
            </a:lvl1pPr>
          </a:lstStyle>
          <a:p>
            <a:pPr rtl="0" fontAlgn="base">
              <a:spcBef>
                <a:spcPct val="0"/>
              </a:spcBef>
              <a:spcAft>
                <a:spcPct val="0"/>
              </a:spcAft>
            </a:pPr>
            <a:fld id="{65E2C72D-077E-4321-A938-193DAA24D98B}" type="slidenum">
              <a:rPr lang="zh-CN" altLang="en-US">
                <a:cs typeface="B Mitra" pitchFamily="2" charset="-78"/>
              </a:rPr>
              <a:pPr rtl="0" fontAlgn="base">
                <a:spcBef>
                  <a:spcPct val="0"/>
                </a:spcBef>
                <a:spcAft>
                  <a:spcPct val="0"/>
                </a:spcAft>
              </a:pPr>
              <a:t>‹#›</a:t>
            </a:fld>
            <a:endParaRPr lang="en-US" altLang="zh-CN">
              <a:cs typeface="B Mitra" pitchFamily="2" charset="-78"/>
            </a:endParaRPr>
          </a:p>
        </p:txBody>
      </p:sp>
      <p:sp>
        <p:nvSpPr>
          <p:cNvPr id="7183" name="Text Box 37"/>
          <p:cNvSpPr txBox="1">
            <a:spLocks noChangeArrowheads="1"/>
          </p:cNvSpPr>
          <p:nvPr/>
        </p:nvSpPr>
        <p:spPr bwMode="gray">
          <a:xfrm>
            <a:off x="144463" y="6443663"/>
            <a:ext cx="1841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rtl="0">
              <a:defRPr>
                <a:solidFill>
                  <a:schemeClr val="tx1"/>
                </a:solidFill>
                <a:latin typeface="Calibri" pitchFamily="34" charset="0"/>
                <a:cs typeface="B Mitra" pitchFamily="2" charset="-78"/>
              </a:defRPr>
            </a:lvl1pPr>
            <a:lvl2pPr marL="742950" indent="-285750" algn="l" rtl="0">
              <a:defRPr>
                <a:solidFill>
                  <a:schemeClr val="tx1"/>
                </a:solidFill>
                <a:latin typeface="Calibri" pitchFamily="34" charset="0"/>
                <a:cs typeface="B Mitra" pitchFamily="2" charset="-78"/>
              </a:defRPr>
            </a:lvl2pPr>
            <a:lvl3pPr marL="1143000" indent="-228600" algn="l" rtl="0">
              <a:defRPr>
                <a:solidFill>
                  <a:schemeClr val="tx1"/>
                </a:solidFill>
                <a:latin typeface="Calibri" pitchFamily="34" charset="0"/>
                <a:cs typeface="B Mitra" pitchFamily="2" charset="-78"/>
              </a:defRPr>
            </a:lvl3pPr>
            <a:lvl4pPr marL="1600200" indent="-228600" algn="l" rtl="0">
              <a:defRPr>
                <a:solidFill>
                  <a:schemeClr val="tx1"/>
                </a:solidFill>
                <a:latin typeface="Calibri" pitchFamily="34" charset="0"/>
                <a:cs typeface="B Mitra" pitchFamily="2" charset="-78"/>
              </a:defRPr>
            </a:lvl4pPr>
            <a:lvl5pPr marL="2057400" indent="-228600" algn="l" rtl="0">
              <a:defRPr>
                <a:solidFill>
                  <a:schemeClr val="tx1"/>
                </a:solidFill>
                <a:latin typeface="Calibri" pitchFamily="34" charset="0"/>
                <a:cs typeface="B Mitra" pitchFamily="2" charset="-78"/>
              </a:defRPr>
            </a:lvl5pPr>
            <a:lvl6pPr marL="2514600" indent="-228600" fontAlgn="base">
              <a:spcBef>
                <a:spcPct val="0"/>
              </a:spcBef>
              <a:spcAft>
                <a:spcPct val="0"/>
              </a:spcAft>
              <a:defRPr>
                <a:solidFill>
                  <a:schemeClr val="tx1"/>
                </a:solidFill>
                <a:latin typeface="Calibri" pitchFamily="34" charset="0"/>
                <a:cs typeface="B Mitra" pitchFamily="2" charset="-78"/>
              </a:defRPr>
            </a:lvl6pPr>
            <a:lvl7pPr marL="2971800" indent="-228600" fontAlgn="base">
              <a:spcBef>
                <a:spcPct val="0"/>
              </a:spcBef>
              <a:spcAft>
                <a:spcPct val="0"/>
              </a:spcAft>
              <a:defRPr>
                <a:solidFill>
                  <a:schemeClr val="tx1"/>
                </a:solidFill>
                <a:latin typeface="Calibri" pitchFamily="34" charset="0"/>
                <a:cs typeface="B Mitra" pitchFamily="2" charset="-78"/>
              </a:defRPr>
            </a:lvl7pPr>
            <a:lvl8pPr marL="3429000" indent="-228600" fontAlgn="base">
              <a:spcBef>
                <a:spcPct val="0"/>
              </a:spcBef>
              <a:spcAft>
                <a:spcPct val="0"/>
              </a:spcAft>
              <a:defRPr>
                <a:solidFill>
                  <a:schemeClr val="tx1"/>
                </a:solidFill>
                <a:latin typeface="Calibri" pitchFamily="34" charset="0"/>
                <a:cs typeface="B Mitra" pitchFamily="2" charset="-78"/>
              </a:defRPr>
            </a:lvl8pPr>
            <a:lvl9pPr marL="3886200" indent="-228600" fontAlgn="base">
              <a:spcBef>
                <a:spcPct val="0"/>
              </a:spcBef>
              <a:spcAft>
                <a:spcPct val="0"/>
              </a:spcAft>
              <a:defRPr>
                <a:solidFill>
                  <a:schemeClr val="tx1"/>
                </a:solidFill>
                <a:latin typeface="Calibri" pitchFamily="34" charset="0"/>
                <a:cs typeface="B Mitra" pitchFamily="2" charset="-78"/>
              </a:defRPr>
            </a:lvl9pPr>
          </a:lstStyle>
          <a:p>
            <a:pPr fontAlgn="base">
              <a:spcBef>
                <a:spcPct val="0"/>
              </a:spcBef>
              <a:spcAft>
                <a:spcPct val="0"/>
              </a:spcAft>
              <a:defRPr/>
            </a:pPr>
            <a:endParaRPr lang="en-US" altLang="zh-CN" sz="1100" i="1">
              <a:solidFill>
                <a:srgbClr val="FFFFFF"/>
              </a:solidFill>
              <a:latin typeface="Times New Roman" pitchFamily="18" charset="0"/>
              <a:ea typeface="SimSun" pitchFamily="2" charset="-122"/>
            </a:endParaRPr>
          </a:p>
        </p:txBody>
      </p:sp>
      <p:sp>
        <p:nvSpPr>
          <p:cNvPr id="7184" name="Rectangle 30" descr="7"/>
          <p:cNvSpPr>
            <a:spLocks noChangeArrowheads="1"/>
          </p:cNvSpPr>
          <p:nvPr/>
        </p:nvSpPr>
        <p:spPr bwMode="gray">
          <a:xfrm>
            <a:off x="8245475" y="415925"/>
            <a:ext cx="534988" cy="546100"/>
          </a:xfrm>
          <a:prstGeom prst="rect">
            <a:avLst/>
          </a:prstGeom>
          <a:blipFill dpi="0" rotWithShape="1">
            <a:blip r:embed="rId17"/>
            <a:srcRect/>
            <a:stretch>
              <a:fillRect/>
            </a:stretch>
          </a:blipFill>
          <a:ln w="9525">
            <a:solidFill>
              <a:srgbClr val="FFFFFF"/>
            </a:solidFill>
            <a:miter lim="800000"/>
            <a:headEnd/>
            <a:tailEnd/>
          </a:ln>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185" name="Rectangle 31" descr="4"/>
          <p:cNvSpPr>
            <a:spLocks noChangeArrowheads="1"/>
          </p:cNvSpPr>
          <p:nvPr/>
        </p:nvSpPr>
        <p:spPr bwMode="gray">
          <a:xfrm>
            <a:off x="7620000" y="415925"/>
            <a:ext cx="534988" cy="546100"/>
          </a:xfrm>
          <a:prstGeom prst="rect">
            <a:avLst/>
          </a:prstGeom>
          <a:blipFill dpi="0" rotWithShape="1">
            <a:blip r:embed="rId18"/>
            <a:srcRect/>
            <a:stretch>
              <a:fillRect/>
            </a:stretch>
          </a:blipFill>
          <a:ln w="9525">
            <a:solidFill>
              <a:srgbClr val="FFFFFF"/>
            </a:solidFill>
            <a:miter lim="800000"/>
            <a:headEnd/>
            <a:tailEnd/>
          </a:ln>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
        <p:nvSpPr>
          <p:cNvPr id="7186" name="Rectangle 36"/>
          <p:cNvSpPr>
            <a:spLocks noChangeArrowheads="1"/>
          </p:cNvSpPr>
          <p:nvPr/>
        </p:nvSpPr>
        <p:spPr bwMode="gray">
          <a:xfrm>
            <a:off x="7000875" y="415925"/>
            <a:ext cx="534988" cy="546100"/>
          </a:xfrm>
          <a:prstGeom prst="rect">
            <a:avLst/>
          </a:prstGeom>
          <a:solidFill>
            <a:srgbClr val="FFFFFF">
              <a:alpha val="30196"/>
            </a:srgbClr>
          </a:solidFill>
          <a:ln w="9525">
            <a:solidFill>
              <a:srgbClr val="FFFFFF"/>
            </a:solidFill>
            <a:miter lim="800000"/>
            <a:headEnd/>
            <a:tailEnd/>
          </a:ln>
        </p:spPr>
        <p:txBody>
          <a:bodyPr wrap="none" anchor="ctr"/>
          <a:lstStyle>
            <a:lvl1pPr algn="r" rtl="1" eaLnBrk="0" hangingPunct="0">
              <a:defRPr>
                <a:solidFill>
                  <a:schemeClr val="tx1"/>
                </a:solidFill>
                <a:latin typeface="Calibri" panose="020F0502020204030204" pitchFamily="34" charset="0"/>
                <a:cs typeface="B Mitra" panose="00000400000000000000" pitchFamily="2" charset="-78"/>
              </a:defRPr>
            </a:lvl1pPr>
            <a:lvl2pPr marL="742950" indent="-285750" algn="r" rtl="1" eaLnBrk="0" hangingPunct="0">
              <a:defRPr>
                <a:solidFill>
                  <a:schemeClr val="tx1"/>
                </a:solidFill>
                <a:latin typeface="Calibri" panose="020F0502020204030204" pitchFamily="34" charset="0"/>
                <a:cs typeface="B Mitra" panose="00000400000000000000" pitchFamily="2" charset="-78"/>
              </a:defRPr>
            </a:lvl2pPr>
            <a:lvl3pPr marL="1143000" indent="-228600" algn="r" rtl="1" eaLnBrk="0" hangingPunct="0">
              <a:defRPr>
                <a:solidFill>
                  <a:schemeClr val="tx1"/>
                </a:solidFill>
                <a:latin typeface="Calibri" panose="020F0502020204030204" pitchFamily="34" charset="0"/>
                <a:cs typeface="B Mitra" panose="00000400000000000000" pitchFamily="2" charset="-78"/>
              </a:defRPr>
            </a:lvl3pPr>
            <a:lvl4pPr marL="1600200" indent="-228600" algn="r" rtl="1" eaLnBrk="0" hangingPunct="0">
              <a:defRPr>
                <a:solidFill>
                  <a:schemeClr val="tx1"/>
                </a:solidFill>
                <a:latin typeface="Calibri" panose="020F0502020204030204" pitchFamily="34" charset="0"/>
                <a:cs typeface="B Mitra" panose="00000400000000000000" pitchFamily="2" charset="-78"/>
              </a:defRPr>
            </a:lvl4pPr>
            <a:lvl5pPr marL="2057400" indent="-228600" algn="r" rtl="1" eaLnBrk="0" hangingPunct="0">
              <a:defRPr>
                <a:solidFill>
                  <a:schemeClr val="tx1"/>
                </a:solidFill>
                <a:latin typeface="Calibri" panose="020F0502020204030204" pitchFamily="34" charset="0"/>
                <a:cs typeface="B Mitra" panose="00000400000000000000" pitchFamily="2" charset="-78"/>
              </a:defRPr>
            </a:lvl5pPr>
            <a:lvl6pPr marL="25146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6pPr>
            <a:lvl7pPr marL="29718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7pPr>
            <a:lvl8pPr marL="34290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8pPr>
            <a:lvl9pPr marL="3886200" indent="-228600" algn="r" rtl="1" eaLnBrk="0" fontAlgn="base" hangingPunct="0">
              <a:spcBef>
                <a:spcPct val="0"/>
              </a:spcBef>
              <a:spcAft>
                <a:spcPct val="0"/>
              </a:spcAft>
              <a:defRPr>
                <a:solidFill>
                  <a:schemeClr val="tx1"/>
                </a:solidFill>
                <a:latin typeface="Calibri" panose="020F0502020204030204" pitchFamily="34" charset="0"/>
                <a:cs typeface="B Mitra" panose="00000400000000000000" pitchFamily="2" charset="-78"/>
              </a:defRPr>
            </a:lvl9pPr>
          </a:lstStyle>
          <a:p>
            <a:pPr algn="l" rtl="0" eaLnBrk="1" fontAlgn="base" hangingPunct="1">
              <a:spcBef>
                <a:spcPct val="0"/>
              </a:spcBef>
              <a:spcAft>
                <a:spcPct val="0"/>
              </a:spcAft>
              <a:defRPr/>
            </a:pPr>
            <a:endParaRPr lang="zh-TW" altLang="en-US">
              <a:solidFill>
                <a:srgbClr val="DDE89A"/>
              </a:solidFill>
              <a:latin typeface="Arial" panose="020B0604020202020204" pitchFamily="34" charset="0"/>
            </a:endParaRPr>
          </a:p>
        </p:txBody>
      </p:sp>
    </p:spTree>
    <p:extLst>
      <p:ext uri="{BB962C8B-B14F-4D97-AF65-F5344CB8AC3E}">
        <p14:creationId xmlns:p14="http://schemas.microsoft.com/office/powerpoint/2010/main" val="1968298701"/>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ftr="0" dt="0"/>
  <p:txStyles>
    <p:titleStyle>
      <a:lvl1pPr algn="l" rtl="0" eaLnBrk="0" fontAlgn="base" hangingPunct="0">
        <a:spcBef>
          <a:spcPct val="0"/>
        </a:spcBef>
        <a:spcAft>
          <a:spcPct val="0"/>
        </a:spcAft>
        <a:defRPr sz="4400" b="1">
          <a:solidFill>
            <a:srgbClr val="FFFFFF"/>
          </a:solidFill>
          <a:latin typeface="+mj-lt"/>
          <a:ea typeface="DFKai-SB" pitchFamily="65" charset="-120"/>
          <a:cs typeface="+mj-cs"/>
        </a:defRPr>
      </a:lvl1pPr>
      <a:lvl2pPr algn="l" rtl="0" eaLnBrk="0" fontAlgn="base" hangingPunct="0">
        <a:spcBef>
          <a:spcPct val="0"/>
        </a:spcBef>
        <a:spcAft>
          <a:spcPct val="0"/>
        </a:spcAft>
        <a:defRPr sz="4400" b="1">
          <a:solidFill>
            <a:srgbClr val="FFFFFF"/>
          </a:solidFill>
          <a:latin typeface="Arial" pitchFamily="34" charset="0"/>
          <a:ea typeface="DFKai-SB" pitchFamily="65" charset="-120"/>
        </a:defRPr>
      </a:lvl2pPr>
      <a:lvl3pPr algn="l" rtl="0" eaLnBrk="0" fontAlgn="base" hangingPunct="0">
        <a:spcBef>
          <a:spcPct val="0"/>
        </a:spcBef>
        <a:spcAft>
          <a:spcPct val="0"/>
        </a:spcAft>
        <a:defRPr sz="4400" b="1">
          <a:solidFill>
            <a:srgbClr val="FFFFFF"/>
          </a:solidFill>
          <a:latin typeface="Arial" pitchFamily="34" charset="0"/>
          <a:ea typeface="DFKai-SB" pitchFamily="65" charset="-120"/>
        </a:defRPr>
      </a:lvl3pPr>
      <a:lvl4pPr algn="l" rtl="0" eaLnBrk="0" fontAlgn="base" hangingPunct="0">
        <a:spcBef>
          <a:spcPct val="0"/>
        </a:spcBef>
        <a:spcAft>
          <a:spcPct val="0"/>
        </a:spcAft>
        <a:defRPr sz="4400" b="1">
          <a:solidFill>
            <a:srgbClr val="FFFFFF"/>
          </a:solidFill>
          <a:latin typeface="Arial" pitchFamily="34" charset="0"/>
          <a:ea typeface="DFKai-SB" pitchFamily="65" charset="-120"/>
        </a:defRPr>
      </a:lvl4pPr>
      <a:lvl5pPr algn="l" rtl="0" eaLnBrk="0" fontAlgn="base" hangingPunct="0">
        <a:spcBef>
          <a:spcPct val="0"/>
        </a:spcBef>
        <a:spcAft>
          <a:spcPct val="0"/>
        </a:spcAft>
        <a:defRPr sz="4400" b="1">
          <a:solidFill>
            <a:srgbClr val="FFFFFF"/>
          </a:solidFill>
          <a:latin typeface="Arial" pitchFamily="34" charset="0"/>
          <a:ea typeface="DFKai-SB" pitchFamily="65" charset="-120"/>
        </a:defRPr>
      </a:lvl5pPr>
      <a:lvl6pPr marL="457200" algn="l" rtl="0" eaLnBrk="1" fontAlgn="base" hangingPunct="1">
        <a:spcBef>
          <a:spcPct val="0"/>
        </a:spcBef>
        <a:spcAft>
          <a:spcPct val="0"/>
        </a:spcAft>
        <a:defRPr sz="4400" b="1">
          <a:solidFill>
            <a:srgbClr val="FFFFFF"/>
          </a:solidFill>
          <a:latin typeface="Arial" pitchFamily="34" charset="0"/>
        </a:defRPr>
      </a:lvl6pPr>
      <a:lvl7pPr marL="914400" algn="l" rtl="0" eaLnBrk="1" fontAlgn="base" hangingPunct="1">
        <a:spcBef>
          <a:spcPct val="0"/>
        </a:spcBef>
        <a:spcAft>
          <a:spcPct val="0"/>
        </a:spcAft>
        <a:defRPr sz="4400" b="1">
          <a:solidFill>
            <a:srgbClr val="FFFFFF"/>
          </a:solidFill>
          <a:latin typeface="Arial" pitchFamily="34" charset="0"/>
        </a:defRPr>
      </a:lvl7pPr>
      <a:lvl8pPr marL="1371600" algn="l" rtl="0" eaLnBrk="1" fontAlgn="base" hangingPunct="1">
        <a:spcBef>
          <a:spcPct val="0"/>
        </a:spcBef>
        <a:spcAft>
          <a:spcPct val="0"/>
        </a:spcAft>
        <a:defRPr sz="4400" b="1">
          <a:solidFill>
            <a:srgbClr val="FFFFFF"/>
          </a:solidFill>
          <a:latin typeface="Arial" pitchFamily="34" charset="0"/>
        </a:defRPr>
      </a:lvl8pPr>
      <a:lvl9pPr marL="1828800" algn="l" rtl="0" eaLnBrk="1" fontAlgn="base" hangingPunct="1">
        <a:spcBef>
          <a:spcPct val="0"/>
        </a:spcBef>
        <a:spcAft>
          <a:spcPct val="0"/>
        </a:spcAft>
        <a:defRPr sz="4400" b="1">
          <a:solidFill>
            <a:srgbClr val="FFFFFF"/>
          </a:solidFill>
          <a:latin typeface="Arial" pitchFamily="34" charset="0"/>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DFKai-SB" pitchFamily="65" charset="-120"/>
          <a:cs typeface="+mn-cs"/>
        </a:defRPr>
      </a:lvl1pPr>
      <a:lvl2pPr marL="742950" indent="-285750" algn="l" rtl="0" eaLnBrk="0" fontAlgn="base" hangingPunct="0">
        <a:spcBef>
          <a:spcPct val="20000"/>
        </a:spcBef>
        <a:spcAft>
          <a:spcPct val="0"/>
        </a:spcAft>
        <a:buChar char="–"/>
        <a:defRPr sz="2800">
          <a:solidFill>
            <a:srgbClr val="000000"/>
          </a:solidFill>
          <a:latin typeface="+mn-lt"/>
          <a:ea typeface="DFKai-SB" pitchFamily="65" charset="-120"/>
        </a:defRPr>
      </a:lvl2pPr>
      <a:lvl3pPr marL="1143000" indent="-228600" algn="l" rtl="0" eaLnBrk="0" fontAlgn="base" hangingPunct="0">
        <a:spcBef>
          <a:spcPct val="20000"/>
        </a:spcBef>
        <a:spcAft>
          <a:spcPct val="0"/>
        </a:spcAft>
        <a:buChar char="•"/>
        <a:defRPr sz="2400">
          <a:solidFill>
            <a:srgbClr val="000000"/>
          </a:solidFill>
          <a:latin typeface="+mn-lt"/>
          <a:ea typeface="DFKai-SB" pitchFamily="65" charset="-120"/>
        </a:defRPr>
      </a:lvl3pPr>
      <a:lvl4pPr marL="1600200" indent="-228600" algn="l" rtl="0" eaLnBrk="0" fontAlgn="base" hangingPunct="0">
        <a:spcBef>
          <a:spcPct val="20000"/>
        </a:spcBef>
        <a:spcAft>
          <a:spcPct val="0"/>
        </a:spcAft>
        <a:buChar char="–"/>
        <a:defRPr sz="2000">
          <a:solidFill>
            <a:srgbClr val="000000"/>
          </a:solidFill>
          <a:latin typeface="+mn-lt"/>
          <a:ea typeface="DFKai-SB" pitchFamily="65" charset="-120"/>
        </a:defRPr>
      </a:lvl4pPr>
      <a:lvl5pPr marL="2057400" indent="-228600" algn="l" rtl="0" eaLnBrk="0" fontAlgn="base" hangingPunct="0">
        <a:spcBef>
          <a:spcPct val="20000"/>
        </a:spcBef>
        <a:spcAft>
          <a:spcPct val="0"/>
        </a:spcAft>
        <a:buChar char="»"/>
        <a:defRPr sz="2000">
          <a:solidFill>
            <a:srgbClr val="000000"/>
          </a:solidFill>
          <a:latin typeface="+mn-lt"/>
          <a:ea typeface="DFKai-SB" pitchFamily="65" charset="-120"/>
        </a:defRPr>
      </a:lvl5pPr>
      <a:lvl6pPr marL="2514600" indent="-228600" algn="l" rtl="0" eaLnBrk="1" fontAlgn="base" hangingPunct="1">
        <a:spcBef>
          <a:spcPct val="20000"/>
        </a:spcBef>
        <a:spcAft>
          <a:spcPct val="0"/>
        </a:spcAft>
        <a:buChar char="»"/>
        <a:defRPr sz="2000">
          <a:solidFill>
            <a:srgbClr val="000000"/>
          </a:solidFill>
          <a:latin typeface="+mn-lt"/>
        </a:defRPr>
      </a:lvl6pPr>
      <a:lvl7pPr marL="2971800" indent="-228600" algn="l" rtl="0" eaLnBrk="1" fontAlgn="base" hangingPunct="1">
        <a:spcBef>
          <a:spcPct val="20000"/>
        </a:spcBef>
        <a:spcAft>
          <a:spcPct val="0"/>
        </a:spcAft>
        <a:buChar char="»"/>
        <a:defRPr sz="2000">
          <a:solidFill>
            <a:srgbClr val="000000"/>
          </a:solidFill>
          <a:latin typeface="+mn-lt"/>
        </a:defRPr>
      </a:lvl7pPr>
      <a:lvl8pPr marL="3429000" indent="-228600" algn="l" rtl="0" eaLnBrk="1" fontAlgn="base" hangingPunct="1">
        <a:spcBef>
          <a:spcPct val="20000"/>
        </a:spcBef>
        <a:spcAft>
          <a:spcPct val="0"/>
        </a:spcAft>
        <a:buChar char="»"/>
        <a:defRPr sz="2000">
          <a:solidFill>
            <a:srgbClr val="000000"/>
          </a:solidFill>
          <a:latin typeface="+mn-lt"/>
        </a:defRPr>
      </a:lvl8pPr>
      <a:lvl9pPr marL="3886200" indent="-228600" algn="l" rtl="0" eaLnBrk="1" fontAlgn="base" hangingPunct="1">
        <a:spcBef>
          <a:spcPct val="20000"/>
        </a:spcBef>
        <a:spcAft>
          <a:spcPct val="0"/>
        </a:spcAft>
        <a:buChar char="»"/>
        <a:defRPr sz="2000">
          <a:solidFill>
            <a:srgbClr val="000000"/>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0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0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0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chat.openai.com/" TargetMode="Externa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AB95C6-00B7-C2B4-40C3-C202456C5D53}"/>
              </a:ext>
            </a:extLst>
          </p:cNvPr>
          <p:cNvSpPr txBox="1"/>
          <p:nvPr/>
        </p:nvSpPr>
        <p:spPr>
          <a:xfrm>
            <a:off x="197768" y="2037837"/>
            <a:ext cx="8748464" cy="1077218"/>
          </a:xfrm>
          <a:prstGeom prst="rect">
            <a:avLst/>
          </a:prstGeom>
          <a:noFill/>
        </p:spPr>
        <p:txBody>
          <a:bodyPr wrap="square" rtlCol="0">
            <a:spAutoFit/>
          </a:bodyPr>
          <a:lstStyle/>
          <a:p>
            <a:pPr algn="ctr"/>
            <a:r>
              <a:rPr lang="en-US" sz="3200" b="1" dirty="0">
                <a:solidFill>
                  <a:srgbClr val="0C0D03"/>
                </a:solidFill>
                <a:latin typeface="Times New Roman" panose="02020603050405020304" pitchFamily="18" charset="0"/>
                <a:cs typeface="Times New Roman" panose="02020603050405020304" pitchFamily="18" charset="0"/>
              </a:rPr>
              <a:t>Discovering Purchase Patterns Using Apriori Algorithm and FP-Growth</a:t>
            </a:r>
          </a:p>
        </p:txBody>
      </p:sp>
      <p:sp>
        <p:nvSpPr>
          <p:cNvPr id="3" name="TextBox 2">
            <a:extLst>
              <a:ext uri="{FF2B5EF4-FFF2-40B4-BE49-F238E27FC236}">
                <a16:creationId xmlns:a16="http://schemas.microsoft.com/office/drawing/2014/main" id="{584A8367-7778-BE85-751C-A4DECCFC4E2C}"/>
              </a:ext>
            </a:extLst>
          </p:cNvPr>
          <p:cNvSpPr txBox="1"/>
          <p:nvPr/>
        </p:nvSpPr>
        <p:spPr>
          <a:xfrm>
            <a:off x="4355976" y="5229200"/>
            <a:ext cx="4536504" cy="461665"/>
          </a:xfrm>
          <a:prstGeom prst="rect">
            <a:avLst/>
          </a:prstGeom>
          <a:noFill/>
        </p:spPr>
        <p:txBody>
          <a:bodyPr wrap="square" rtlCol="0">
            <a:spAutoFit/>
          </a:bodyPr>
          <a:lstStyle/>
          <a:p>
            <a:pPr algn="ctr"/>
            <a:r>
              <a:rPr lang="en-US" sz="2400" dirty="0">
                <a:solidFill>
                  <a:srgbClr val="0C0D03"/>
                </a:solidFill>
                <a:latin typeface="Times New Roman" panose="02020603050405020304" pitchFamily="18" charset="0"/>
                <a:cs typeface="Times New Roman" panose="02020603050405020304" pitchFamily="18" charset="0"/>
              </a:rPr>
              <a:t>By : Ali pourfereydoon</a:t>
            </a:r>
          </a:p>
        </p:txBody>
      </p:sp>
      <p:pic>
        <p:nvPicPr>
          <p:cNvPr id="6" name="Picture 5">
            <a:extLst>
              <a:ext uri="{FF2B5EF4-FFF2-40B4-BE49-F238E27FC236}">
                <a16:creationId xmlns:a16="http://schemas.microsoft.com/office/drawing/2014/main" id="{5ECD9069-5BD8-89A4-9D15-C9B794C0745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181346"/>
          </a:xfrm>
          <a:prstGeom prst="rect">
            <a:avLst/>
          </a:prstGeom>
        </p:spPr>
      </p:pic>
    </p:spTree>
    <p:extLst>
      <p:ext uri="{BB962C8B-B14F-4D97-AF65-F5344CB8AC3E}">
        <p14:creationId xmlns:p14="http://schemas.microsoft.com/office/powerpoint/2010/main" val="3271256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B0FCBC6-8F18-8B71-062A-AB4AAC7D4B10}"/>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9D2ABF44-4FC1-AB45-AAB4-3A3DDFB639C8}"/>
              </a:ext>
            </a:extLst>
          </p:cNvPr>
          <p:cNvSpPr txBox="1"/>
          <p:nvPr/>
        </p:nvSpPr>
        <p:spPr>
          <a:xfrm>
            <a:off x="755576" y="2828835"/>
            <a:ext cx="7632848" cy="707886"/>
          </a:xfrm>
          <a:prstGeom prst="rect">
            <a:avLst/>
          </a:prstGeom>
          <a:noFill/>
        </p:spPr>
        <p:txBody>
          <a:bodyPr wrap="square" rtlCol="0">
            <a:spAutoFit/>
          </a:bodyPr>
          <a:lstStyle/>
          <a:p>
            <a:pPr algn="ctr"/>
            <a:r>
              <a:rPr lang="en-US" sz="4000" b="1" dirty="0">
                <a:solidFill>
                  <a:srgbClr val="0C0D03"/>
                </a:solidFill>
                <a:latin typeface="Times New Roman" panose="02020603050405020304" pitchFamily="18" charset="0"/>
                <a:cs typeface="Times New Roman" panose="02020603050405020304" pitchFamily="18" charset="0"/>
              </a:rPr>
              <a:t>introduction</a:t>
            </a:r>
          </a:p>
        </p:txBody>
      </p:sp>
      <p:pic>
        <p:nvPicPr>
          <p:cNvPr id="4" name="Picture 3">
            <a:extLst>
              <a:ext uri="{FF2B5EF4-FFF2-40B4-BE49-F238E27FC236}">
                <a16:creationId xmlns:a16="http://schemas.microsoft.com/office/drawing/2014/main" id="{837D4355-9769-E910-4B1D-CCEFDAAB313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181346"/>
          </a:xfrm>
          <a:prstGeom prst="rect">
            <a:avLst/>
          </a:prstGeom>
        </p:spPr>
      </p:pic>
    </p:spTree>
    <p:extLst>
      <p:ext uri="{BB962C8B-B14F-4D97-AF65-F5344CB8AC3E}">
        <p14:creationId xmlns:p14="http://schemas.microsoft.com/office/powerpoint/2010/main" val="702295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9275-E4CE-4A79-99EB-5155FB8C3AD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C8C05B7-3E4B-8277-341C-70C0CFCA15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8CA636F-5AAF-413B-75A6-D59230E3ED9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EDC4CA1F-318B-4A9B-6398-F7672A75DF25}"/>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Abstract</a:t>
            </a:r>
          </a:p>
        </p:txBody>
      </p:sp>
      <p:sp>
        <p:nvSpPr>
          <p:cNvPr id="5" name="Rectangle: Rounded Corners 4">
            <a:extLst>
              <a:ext uri="{FF2B5EF4-FFF2-40B4-BE49-F238E27FC236}">
                <a16:creationId xmlns:a16="http://schemas.microsoft.com/office/drawing/2014/main" id="{D624F3F2-3F76-64CD-2BA7-0DC7211AE6E6}"/>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In recent years, data mining has become an essential tool for extracting meaningful patterns and knowledge from large datasets. One important application of data mining in the retail industry is Market Basket Analysis, which aims to understand customer purchasing behavior by identifying relationships among items that are frequently purchased together. These insights support better business decisions such as product placement, cross-selling strategies, promotional planning, and inventory management.</a:t>
            </a:r>
            <a:endParaRPr kumimoji="0" lang="en-US" sz="2100" b="0" i="0" u="none" strike="noStrike" cap="none" normalizeH="0" baseline="0" dirty="0">
              <a:ln>
                <a:noFill/>
              </a:ln>
              <a:solidFill>
                <a:srgbClr val="0C0D03"/>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FD853DD-3DD8-03BF-4AD7-5810F3ED3B7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553639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1B99-3AED-3360-9846-1BE3D3CF0AE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365C8AA-7751-7F2F-5BC9-799C0EAECF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EEEC376-CAC3-3020-4561-C625DB01E37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14A10789-6068-4E5A-096A-7128AEE290D3}"/>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Abstract</a:t>
            </a:r>
          </a:p>
        </p:txBody>
      </p:sp>
      <p:sp>
        <p:nvSpPr>
          <p:cNvPr id="5" name="Rectangle: Rounded Corners 4">
            <a:extLst>
              <a:ext uri="{FF2B5EF4-FFF2-40B4-BE49-F238E27FC236}">
                <a16:creationId xmlns:a16="http://schemas.microsoft.com/office/drawing/2014/main" id="{375AB9EF-A376-8373-3FC6-FB6B62ABE0DB}"/>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In this project, the Groceries Market Basket Dataset obtained from Kaggle/UCI is used to perform association rule mining. The dataset contains 9,835 customer transactions and 169 unique grocery items, where each transaction represents a set of products purchased during a single shopping visit. this dataset is highly suitable for discovering frequent itemsets and association rules.</a:t>
            </a:r>
          </a:p>
          <a:p>
            <a:pPr marL="0" marR="0" indent="0" algn="just" defTabSz="914400" rtl="0" eaLnBrk="1" fontAlgn="base" latinLnBrk="0" hangingPunct="1">
              <a:lnSpc>
                <a:spcPts val="3000"/>
              </a:lnSpc>
              <a:spcBef>
                <a:spcPct val="0"/>
              </a:spcBef>
              <a:spcAft>
                <a:spcPct val="0"/>
              </a:spcAft>
              <a:buClrTx/>
              <a:buSzTx/>
              <a:buFontTx/>
              <a:buNone/>
              <a:tabLst/>
            </a:pPr>
            <a:endParaRPr lang="en-US" sz="2400" b="1" dirty="0">
              <a:solidFill>
                <a:srgbClr val="0C0D03"/>
              </a:solidFill>
              <a:latin typeface="Times New Roman" panose="02020603050405020304" pitchFamily="18" charset="0"/>
              <a:cs typeface="Times New Roman" panose="02020603050405020304" pitchFamily="18" charset="0"/>
            </a:endParaRPr>
          </a:p>
          <a:p>
            <a:pPr algn="just" rtl="0" fontAlgn="base">
              <a:lnSpc>
                <a:spcPts val="3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 </a:t>
            </a: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9C5F0E-B496-6411-8A1C-1DD0D878D21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092844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6D60C-5F00-F030-D2C4-7D62229BAAB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3DEE5DD-F0D5-2752-82A9-002F52C442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CC55E3A-3CFD-5180-916C-B7E50283BC1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CD713FED-2A64-335C-B2F3-342CACD40458}"/>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Project Goal</a:t>
            </a:r>
          </a:p>
        </p:txBody>
      </p:sp>
      <p:sp>
        <p:nvSpPr>
          <p:cNvPr id="5" name="Rectangle: Rounded Corners 4">
            <a:extLst>
              <a:ext uri="{FF2B5EF4-FFF2-40B4-BE49-F238E27FC236}">
                <a16:creationId xmlns:a16="http://schemas.microsoft.com/office/drawing/2014/main" id="{BA71DBF1-B2AD-E511-0A0F-A196064FE678}"/>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The primary goal of this project is to use association rule mining techniques to a real-world retail dataset in order to discover meaningful patterns in customer purchasing behavior. Using the Groceries Market Basket Dataset, the project aims to identify frequently purchased items and uncover strong associations between products that are commonly bought together.</a:t>
            </a:r>
            <a:endParaRPr lang="en-US" sz="2100" b="1" dirty="0">
              <a:solidFill>
                <a:srgbClr val="0C0D03"/>
              </a:solidFill>
              <a:latin typeface="Times New Roman" panose="02020603050405020304" pitchFamily="18" charset="0"/>
              <a:cs typeface="Times New Roman" panose="02020603050405020304" pitchFamily="18" charset="0"/>
            </a:endParaRPr>
          </a:p>
          <a:p>
            <a:pPr algn="just" rtl="0" fontAlgn="base">
              <a:lnSpc>
                <a:spcPts val="3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 </a:t>
            </a: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F2AC00-BB78-6A48-8714-E7117C77165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864663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C60E-4332-35C4-FD45-F7E80C90835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53B965E-4197-36B0-18F9-4AB01BC211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E3771EC-B2BF-A7B3-0841-00E5BC5965F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1</a:t>
            </a:r>
          </a:p>
        </p:txBody>
      </p:sp>
      <p:sp>
        <p:nvSpPr>
          <p:cNvPr id="3" name="TextBox 2">
            <a:extLst>
              <a:ext uri="{FF2B5EF4-FFF2-40B4-BE49-F238E27FC236}">
                <a16:creationId xmlns:a16="http://schemas.microsoft.com/office/drawing/2014/main" id="{3E4D1038-22DF-3A34-5E12-FA24AC0726B1}"/>
              </a:ext>
            </a:extLst>
          </p:cNvPr>
          <p:cNvSpPr txBox="1"/>
          <p:nvPr/>
        </p:nvSpPr>
        <p:spPr>
          <a:xfrm>
            <a:off x="755576" y="1136067"/>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Project Goal</a:t>
            </a:r>
          </a:p>
        </p:txBody>
      </p:sp>
      <p:sp>
        <p:nvSpPr>
          <p:cNvPr id="5" name="Rectangle: Rounded Corners 4">
            <a:extLst>
              <a:ext uri="{FF2B5EF4-FFF2-40B4-BE49-F238E27FC236}">
                <a16:creationId xmlns:a16="http://schemas.microsoft.com/office/drawing/2014/main" id="{AAA2DE5A-139D-81B0-05D0-04F5B243C42B}"/>
              </a:ext>
            </a:extLst>
          </p:cNvPr>
          <p:cNvSpPr/>
          <p:nvPr/>
        </p:nvSpPr>
        <p:spPr bwMode="auto">
          <a:xfrm>
            <a:off x="755576" y="1937792"/>
            <a:ext cx="8064896"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this project has the following objectives: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preprocess and transform the transactional grocery dataset into a suitable format for association rule mining.</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apply the Apriori algorithm to extract frequent itemsets and generate association rules based on support, confidence, and lift.</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apply the FP-Growth algorithm separately on the same dataset </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evaluate and interpret the discovered rules using standard association rule metrics.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compare the performance and results of Apriori and FP-Growth </a:t>
            </a:r>
          </a:p>
        </p:txBody>
      </p:sp>
      <p:pic>
        <p:nvPicPr>
          <p:cNvPr id="4" name="Picture 3">
            <a:extLst>
              <a:ext uri="{FF2B5EF4-FFF2-40B4-BE49-F238E27FC236}">
                <a16:creationId xmlns:a16="http://schemas.microsoft.com/office/drawing/2014/main" id="{ABA40AE9-E40F-947B-107A-F340F50D7A9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350878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1E106-7B7F-BDBB-123C-741EDB3FEE6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7CFBD04-AD1E-9595-0ADB-6D92D51D95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9E52BF5-2BA8-6A23-6620-8BECD4D2B99C}"/>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rPr>
              <a:t>2</a:t>
            </a:r>
          </a:p>
        </p:txBody>
      </p:sp>
      <p:sp>
        <p:nvSpPr>
          <p:cNvPr id="3" name="TextBox 2">
            <a:extLst>
              <a:ext uri="{FF2B5EF4-FFF2-40B4-BE49-F238E27FC236}">
                <a16:creationId xmlns:a16="http://schemas.microsoft.com/office/drawing/2014/main" id="{250C221F-B8AD-546A-9E76-24087AA5547A}"/>
              </a:ext>
            </a:extLst>
          </p:cNvPr>
          <p:cNvSpPr txBox="1"/>
          <p:nvPr/>
        </p:nvSpPr>
        <p:spPr>
          <a:xfrm>
            <a:off x="251520" y="2828835"/>
            <a:ext cx="8640960" cy="584775"/>
          </a:xfrm>
          <a:prstGeom prst="rect">
            <a:avLst/>
          </a:prstGeom>
          <a:noFill/>
        </p:spPr>
        <p:txBody>
          <a:bodyPr wrap="square" rtlCol="0">
            <a:spAutoFit/>
          </a:bodyPr>
          <a:lstStyle/>
          <a:p>
            <a:pPr algn="ctr"/>
            <a:r>
              <a:rPr lang="en-US" sz="3200" b="1" dirty="0">
                <a:solidFill>
                  <a:srgbClr val="0C0D03"/>
                </a:solidFill>
                <a:latin typeface="Times New Roman" panose="02020603050405020304" pitchFamily="18" charset="0"/>
                <a:cs typeface="Times New Roman" panose="02020603050405020304" pitchFamily="18" charset="0"/>
              </a:rPr>
              <a:t>What is data mining ? </a:t>
            </a:r>
          </a:p>
        </p:txBody>
      </p:sp>
      <p:pic>
        <p:nvPicPr>
          <p:cNvPr id="4" name="Picture 3">
            <a:extLst>
              <a:ext uri="{FF2B5EF4-FFF2-40B4-BE49-F238E27FC236}">
                <a16:creationId xmlns:a16="http://schemas.microsoft.com/office/drawing/2014/main" id="{D723E55B-7F82-3702-781B-0DAE3AB8BD4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A64D57B6-05C2-4368-8CD4-CB01EF0EF1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19872" y="3619071"/>
            <a:ext cx="2016224" cy="2827095"/>
          </a:xfrm>
          <a:prstGeom prst="rect">
            <a:avLst/>
          </a:prstGeom>
        </p:spPr>
      </p:pic>
    </p:spTree>
    <p:extLst>
      <p:ext uri="{BB962C8B-B14F-4D97-AF65-F5344CB8AC3E}">
        <p14:creationId xmlns:p14="http://schemas.microsoft.com/office/powerpoint/2010/main" val="1906660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82B17-6440-B156-28D3-EFA81B9CFFA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1FEE5FF-F6DF-54F9-F571-70790AF2C8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0F58343-0DEF-0629-962F-1F15A4D8B9A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26030AC8-CCA0-013C-D86F-CBD82153D14E}"/>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definition  </a:t>
            </a:r>
          </a:p>
        </p:txBody>
      </p:sp>
      <p:sp>
        <p:nvSpPr>
          <p:cNvPr id="4" name="Rectangle: Rounded Corners 3">
            <a:extLst>
              <a:ext uri="{FF2B5EF4-FFF2-40B4-BE49-F238E27FC236}">
                <a16:creationId xmlns:a16="http://schemas.microsoft.com/office/drawing/2014/main" id="{A0E9792D-4E31-67C1-7767-D79C676702BE}"/>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ct val="150000"/>
              </a:lnSpc>
              <a:spcBef>
                <a:spcPct val="0"/>
              </a:spcBef>
              <a:spcAft>
                <a:spcPct val="0"/>
              </a:spcAft>
              <a:buClrTx/>
              <a:buSzTx/>
              <a:tabLst/>
            </a:pPr>
            <a:r>
              <a:rPr lang="en-US" sz="2200" dirty="0">
                <a:solidFill>
                  <a:srgbClr val="0C0D03"/>
                </a:solidFill>
                <a:latin typeface="Times New Roman" panose="02020603050405020304" pitchFamily="18" charset="0"/>
                <a:cs typeface="Times New Roman" panose="02020603050405020304" pitchFamily="18" charset="0"/>
              </a:rPr>
              <a:t>Data mining is the use of machine learning and statistical analysis to discover patterns and other valuable information from the large data sets . Given the evolution of machine learning (ML), data warehousing, and the growth of big data, the adoption of data mining, also known as knowledge discovery in databases (KDD), has rapidly accelerated over the last decades. </a:t>
            </a:r>
          </a:p>
        </p:txBody>
      </p:sp>
      <p:pic>
        <p:nvPicPr>
          <p:cNvPr id="5" name="Picture 4">
            <a:extLst>
              <a:ext uri="{FF2B5EF4-FFF2-40B4-BE49-F238E27FC236}">
                <a16:creationId xmlns:a16="http://schemas.microsoft.com/office/drawing/2014/main" id="{F9D87D2D-F4FF-FAF5-7361-D43A591B08A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981709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66C19-167E-3053-15B6-E8918773136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FB3EF3D-438D-559A-D5A9-7894E1BB45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F5CD3C0-B183-4D49-6901-5BF4F0024E3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05F74AB7-C147-1EE0-7461-7A9EE40F77AF}"/>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definition  </a:t>
            </a:r>
          </a:p>
        </p:txBody>
      </p:sp>
      <p:sp>
        <p:nvSpPr>
          <p:cNvPr id="4" name="Rectangle: Rounded Corners 3">
            <a:extLst>
              <a:ext uri="{FF2B5EF4-FFF2-40B4-BE49-F238E27FC236}">
                <a16:creationId xmlns:a16="http://schemas.microsoft.com/office/drawing/2014/main" id="{8164A0BB-2561-0829-496A-AC5D7347FB52}"/>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ct val="150000"/>
              </a:lnSpc>
              <a:spcBef>
                <a:spcPct val="0"/>
              </a:spcBef>
              <a:spcAft>
                <a:spcPct val="0"/>
              </a:spcAft>
              <a:buClrTx/>
              <a:buSzTx/>
              <a:tabLst/>
            </a:pPr>
            <a:r>
              <a:rPr lang="en-US" sz="2100" dirty="0">
                <a:solidFill>
                  <a:srgbClr val="0C0D03"/>
                </a:solidFill>
                <a:latin typeface="Times New Roman" panose="02020603050405020304" pitchFamily="18" charset="0"/>
                <a:cs typeface="Times New Roman" panose="02020603050405020304" pitchFamily="18" charset="0"/>
              </a:rPr>
              <a:t>The data mining techniques can be used for two main purposes. They can either describe the target data set or they can predict outcomes by using machine learning algorithms.</a:t>
            </a:r>
          </a:p>
        </p:txBody>
      </p:sp>
      <p:pic>
        <p:nvPicPr>
          <p:cNvPr id="5" name="Picture 4">
            <a:extLst>
              <a:ext uri="{FF2B5EF4-FFF2-40B4-BE49-F238E27FC236}">
                <a16:creationId xmlns:a16="http://schemas.microsoft.com/office/drawing/2014/main" id="{BB952323-C410-12AE-98F2-9EC82331F3D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32025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1C019-6749-04B7-974B-01EAF61AA56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01AD5E6-BF3E-FC2B-4506-DC98053B39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41DF282-47E7-99BF-555A-9BAC716FF7F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C833C70-B919-3E34-D45E-44CDA8B7DB4D}"/>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Benefits and challenges </a:t>
            </a:r>
          </a:p>
        </p:txBody>
      </p:sp>
      <p:sp>
        <p:nvSpPr>
          <p:cNvPr id="4" name="Rectangle: Rounded Corners 3">
            <a:extLst>
              <a:ext uri="{FF2B5EF4-FFF2-40B4-BE49-F238E27FC236}">
                <a16:creationId xmlns:a16="http://schemas.microsoft.com/office/drawing/2014/main" id="{60BCFA02-E33B-C2A8-CDB3-9FE693ADA36D}"/>
              </a:ext>
            </a:extLst>
          </p:cNvPr>
          <p:cNvSpPr/>
          <p:nvPr/>
        </p:nvSpPr>
        <p:spPr bwMode="auto">
          <a:xfrm>
            <a:off x="755576" y="1937792"/>
            <a:ext cx="8064896" cy="393948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ct val="150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Benefits :</a:t>
            </a:r>
          </a:p>
          <a:p>
            <a:pPr marR="0" algn="just" defTabSz="914400" rtl="0" eaLnBrk="1" fontAlgn="base" latinLnBrk="0" hangingPunct="1">
              <a:lnSpc>
                <a:spcPct val="150000"/>
              </a:lnSpc>
              <a:spcBef>
                <a:spcPct val="0"/>
              </a:spcBef>
              <a:spcAft>
                <a:spcPct val="0"/>
              </a:spcAft>
              <a:buClrTx/>
              <a:buSzTx/>
              <a:tabLst/>
            </a:pPr>
            <a:r>
              <a:rPr lang="en-US" sz="2000" b="1" dirty="0">
                <a:solidFill>
                  <a:srgbClr val="0C0D03"/>
                </a:solidFill>
                <a:latin typeface="Times New Roman" panose="02020603050405020304" pitchFamily="18" charset="0"/>
                <a:cs typeface="Times New Roman" panose="02020603050405020304" pitchFamily="18" charset="0"/>
              </a:rPr>
              <a:t>1-Discover hidden insights and trends</a:t>
            </a:r>
          </a:p>
          <a:p>
            <a:pPr marR="0" algn="just" defTabSz="914400" rtl="0" eaLnBrk="1" fontAlgn="base" latinLnBrk="0" hangingPunct="1">
              <a:lnSpc>
                <a:spcPct val="150000"/>
              </a:lnSpc>
              <a:spcBef>
                <a:spcPct val="0"/>
              </a:spcBef>
              <a:spcAft>
                <a:spcPct val="0"/>
              </a:spcAft>
              <a:buClrTx/>
              <a:buSzTx/>
              <a:tabLst/>
            </a:pPr>
            <a:r>
              <a:rPr lang="en-US" sz="2100" dirty="0">
                <a:solidFill>
                  <a:srgbClr val="0C0D03"/>
                </a:solidFill>
                <a:latin typeface="Times New Roman" panose="02020603050405020304" pitchFamily="18" charset="0"/>
                <a:cs typeface="Times New Roman" panose="02020603050405020304" pitchFamily="18" charset="0"/>
              </a:rPr>
              <a:t>Data mining takes raw data and finds order in the chaos: seeing the forest for the trees. </a:t>
            </a:r>
          </a:p>
          <a:p>
            <a:pPr marR="0" algn="just" defTabSz="914400" rtl="0" eaLnBrk="1" fontAlgn="base" latinLnBrk="0" hangingPunct="1">
              <a:lnSpc>
                <a:spcPct val="150000"/>
              </a:lnSpc>
              <a:spcBef>
                <a:spcPct val="0"/>
              </a:spcBef>
              <a:spcAft>
                <a:spcPct val="0"/>
              </a:spcAft>
              <a:buClrTx/>
              <a:buSzTx/>
              <a:tabLst/>
            </a:pPr>
            <a:r>
              <a:rPr lang="en-US" sz="2000" b="1" dirty="0">
                <a:solidFill>
                  <a:srgbClr val="0C0D03"/>
                </a:solidFill>
                <a:latin typeface="Times New Roman" panose="02020603050405020304" pitchFamily="18" charset="0"/>
                <a:cs typeface="Times New Roman" panose="02020603050405020304" pitchFamily="18" charset="0"/>
              </a:rPr>
              <a:t>2-Save budget</a:t>
            </a:r>
          </a:p>
          <a:p>
            <a:pPr marR="0" algn="just" defTabSz="914400" rtl="0" eaLnBrk="1" fontAlgn="base" latinLnBrk="0" hangingPunct="1">
              <a:lnSpc>
                <a:spcPct val="150000"/>
              </a:lnSpc>
              <a:spcBef>
                <a:spcPct val="0"/>
              </a:spcBef>
              <a:spcAft>
                <a:spcPct val="0"/>
              </a:spcAft>
              <a:buClrTx/>
              <a:buSzTx/>
              <a:tabLst/>
            </a:pPr>
            <a:r>
              <a:rPr lang="en-US" sz="2100" dirty="0">
                <a:solidFill>
                  <a:srgbClr val="0C0D03"/>
                </a:solidFill>
                <a:latin typeface="Times New Roman" panose="02020603050405020304" pitchFamily="18" charset="0"/>
                <a:cs typeface="Times New Roman" panose="02020603050405020304" pitchFamily="18" charset="0"/>
              </a:rPr>
              <a:t>By analyzing performance data from multiple sources, bottlenecks in business processes can be identified to speed resolution and increase efficiency.</a:t>
            </a:r>
          </a:p>
        </p:txBody>
      </p:sp>
      <p:pic>
        <p:nvPicPr>
          <p:cNvPr id="5" name="Picture 4">
            <a:extLst>
              <a:ext uri="{FF2B5EF4-FFF2-40B4-BE49-F238E27FC236}">
                <a16:creationId xmlns:a16="http://schemas.microsoft.com/office/drawing/2014/main" id="{0C59BC38-F9D4-6422-CAAB-9EB14BE0E44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59380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3820-6530-A161-A26E-C5231937A14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7ACCEAD-86C8-504E-50B6-F8B1C2B5E4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849355C-DFD9-4BDF-11DC-8BB5D782DAF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97E56EA3-ECB6-E548-1180-4DFCC51C787D}"/>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Benefits and challenges </a:t>
            </a:r>
          </a:p>
        </p:txBody>
      </p:sp>
      <p:sp>
        <p:nvSpPr>
          <p:cNvPr id="4" name="Rectangle: Rounded Corners 3">
            <a:extLst>
              <a:ext uri="{FF2B5EF4-FFF2-40B4-BE49-F238E27FC236}">
                <a16:creationId xmlns:a16="http://schemas.microsoft.com/office/drawing/2014/main" id="{7B78ED0A-8B17-AC23-CB44-ABE39838EE3F}"/>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just" defTabSz="914400" rtl="0" eaLnBrk="1" fontAlgn="base" latinLnBrk="0" hangingPunct="1">
              <a:lnSpc>
                <a:spcPct val="150000"/>
              </a:lnSpc>
              <a:spcBef>
                <a:spcPct val="0"/>
              </a:spcBef>
              <a:spcAft>
                <a:spcPct val="0"/>
              </a:spcAft>
              <a:buClrTx/>
              <a:buSzTx/>
              <a:tabLst/>
            </a:pPr>
            <a:r>
              <a:rPr lang="en-US" sz="2400" b="1" dirty="0">
                <a:solidFill>
                  <a:srgbClr val="0C0D03"/>
                </a:solidFill>
                <a:latin typeface="Times New Roman" panose="02020603050405020304" pitchFamily="18" charset="0"/>
                <a:cs typeface="Times New Roman" panose="02020603050405020304" pitchFamily="18" charset="0"/>
              </a:rPr>
              <a:t>Benefits :</a:t>
            </a:r>
          </a:p>
          <a:p>
            <a:pPr marR="0" algn="just" defTabSz="914400" rtl="0" eaLnBrk="1" fontAlgn="base" latinLnBrk="0" hangingPunct="1">
              <a:lnSpc>
                <a:spcPct val="150000"/>
              </a:lnSpc>
              <a:spcBef>
                <a:spcPct val="0"/>
              </a:spcBef>
              <a:spcAft>
                <a:spcPct val="0"/>
              </a:spcAft>
              <a:buClrTx/>
              <a:buSzTx/>
              <a:tabLst/>
            </a:pPr>
            <a:r>
              <a:rPr lang="en-US" sz="2000" b="1" dirty="0">
                <a:solidFill>
                  <a:srgbClr val="0C0D03"/>
                </a:solidFill>
                <a:latin typeface="Times New Roman" panose="02020603050405020304" pitchFamily="18" charset="0"/>
                <a:cs typeface="Times New Roman" panose="02020603050405020304" pitchFamily="18" charset="0"/>
              </a:rPr>
              <a:t>3- Solve multiple challenges</a:t>
            </a:r>
          </a:p>
          <a:p>
            <a:pPr marR="0" algn="just" defTabSz="914400" rtl="0" eaLnBrk="1" fontAlgn="base" latinLnBrk="0" hangingPunct="1">
              <a:lnSpc>
                <a:spcPct val="150000"/>
              </a:lnSpc>
              <a:spcBef>
                <a:spcPct val="0"/>
              </a:spcBef>
              <a:spcAft>
                <a:spcPct val="0"/>
              </a:spcAft>
              <a:buClrTx/>
              <a:buSzTx/>
              <a:tabLst/>
            </a:pPr>
            <a:r>
              <a:rPr lang="en-US" sz="2100" dirty="0">
                <a:solidFill>
                  <a:srgbClr val="0C0D03"/>
                </a:solidFill>
                <a:latin typeface="Times New Roman" panose="02020603050405020304" pitchFamily="18" charset="0"/>
                <a:cs typeface="Times New Roman" panose="02020603050405020304" pitchFamily="18" charset="0"/>
              </a:rPr>
              <a:t>Data mining is a versatile tool. Data from almost any source and any aspect of an organization can be analyzed to discover patterns and better ways of conducting business. </a:t>
            </a:r>
          </a:p>
        </p:txBody>
      </p:sp>
      <p:pic>
        <p:nvPicPr>
          <p:cNvPr id="5" name="Picture 4">
            <a:extLst>
              <a:ext uri="{FF2B5EF4-FFF2-40B4-BE49-F238E27FC236}">
                <a16:creationId xmlns:a16="http://schemas.microsoft.com/office/drawing/2014/main" id="{BAB048FC-79B4-CE4D-5547-C7AD976AA0D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01027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3E245-0EF3-80AB-C61A-61EBD248463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F7C3A9D-2672-C924-0E09-68E7ED1F3F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927499B-954C-6C06-00A1-163B2FE2E6F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9A3F0E5-9000-FE1F-B04B-E3627D0EF231}"/>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Benefits and challenges </a:t>
            </a:r>
          </a:p>
        </p:txBody>
      </p:sp>
      <p:sp>
        <p:nvSpPr>
          <p:cNvPr id="4" name="Rectangle: Rounded Corners 3">
            <a:extLst>
              <a:ext uri="{FF2B5EF4-FFF2-40B4-BE49-F238E27FC236}">
                <a16:creationId xmlns:a16="http://schemas.microsoft.com/office/drawing/2014/main" id="{611B4797-6A2B-9F0E-7ECB-5ADE0EB74A75}"/>
              </a:ext>
            </a:extLst>
          </p:cNvPr>
          <p:cNvSpPr/>
          <p:nvPr/>
        </p:nvSpPr>
        <p:spPr bwMode="auto">
          <a:xfrm>
            <a:off x="755576" y="1937793"/>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Challenges :</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1-Complexity and risk:</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Useful insights require valid data, plus experts with coding experience. Knowledge of data mining languages including Python, R and SQL is helpful. An insufficiently cautious approach to data mining might result in misleading or dangerous results.  </a:t>
            </a:r>
          </a:p>
          <a:p>
            <a:pPr algn="just" rtl="0" fontAlgn="base">
              <a:lnSpc>
                <a:spcPts val="3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13F3F53-9A7F-556F-BBA1-516BC9CBE63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560376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05DC8-9DE6-FD4C-148A-10197D0C5CC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E8889ED-F656-01C6-8663-B58FE56396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A4C4764-5473-29F4-123C-5FFDBC14A77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22D7DA30-F99A-9854-A31E-AAC7442220CB}"/>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Benefits and challenges </a:t>
            </a:r>
          </a:p>
        </p:txBody>
      </p:sp>
      <p:sp>
        <p:nvSpPr>
          <p:cNvPr id="4" name="Rectangle: Rounded Corners 3">
            <a:extLst>
              <a:ext uri="{FF2B5EF4-FFF2-40B4-BE49-F238E27FC236}">
                <a16:creationId xmlns:a16="http://schemas.microsoft.com/office/drawing/2014/main" id="{F476A25E-5A11-8945-0F7D-70AC2FFB7871}"/>
              </a:ext>
            </a:extLst>
          </p:cNvPr>
          <p:cNvSpPr/>
          <p:nvPr/>
        </p:nvSpPr>
        <p:spPr bwMode="auto">
          <a:xfrm>
            <a:off x="755576" y="1937793"/>
            <a:ext cx="8064896" cy="438522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Challenges :</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2- Cost:</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If new information is to be gathered by an organization, setting up a data pipeline might represent a new expense.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If data needs to be purchased from an outside source, that also imposes a cost.</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3-Uncertainty: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First, a major data mining effort might be well run, but produce unclear results, with no major benefit</a:t>
            </a:r>
          </a:p>
        </p:txBody>
      </p:sp>
      <p:pic>
        <p:nvPicPr>
          <p:cNvPr id="5" name="Picture 4">
            <a:extLst>
              <a:ext uri="{FF2B5EF4-FFF2-40B4-BE49-F238E27FC236}">
                <a16:creationId xmlns:a16="http://schemas.microsoft.com/office/drawing/2014/main" id="{C75CD28B-4964-ACA2-B0F5-4AE4D411895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99109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EE521-A2B6-93E4-03AF-B60316EE50B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6B62EED-351E-7BDC-98E8-D392A46EE8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4B5429E-C6F8-D890-18E2-F57C09B8D89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973ADF7-B88B-4744-DC7A-A4D4FEEB0E0B}"/>
              </a:ext>
            </a:extLst>
          </p:cNvPr>
          <p:cNvSpPr txBox="1"/>
          <p:nvPr/>
        </p:nvSpPr>
        <p:spPr>
          <a:xfrm>
            <a:off x="1313384" y="1158593"/>
            <a:ext cx="7632848" cy="954107"/>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Data mining versus text mining versus</a:t>
            </a:r>
          </a:p>
          <a:p>
            <a:pPr algn="ctr"/>
            <a:r>
              <a:rPr lang="en-US" sz="2800" b="1" dirty="0">
                <a:solidFill>
                  <a:srgbClr val="0C0D03"/>
                </a:solidFill>
                <a:latin typeface="Times New Roman" panose="02020603050405020304" pitchFamily="18" charset="0"/>
                <a:cs typeface="Times New Roman" panose="02020603050405020304" pitchFamily="18" charset="0"/>
              </a:rPr>
              <a:t> process mining </a:t>
            </a:r>
          </a:p>
        </p:txBody>
      </p:sp>
      <p:sp>
        <p:nvSpPr>
          <p:cNvPr id="4" name="Rectangle: Rounded Corners 3">
            <a:extLst>
              <a:ext uri="{FF2B5EF4-FFF2-40B4-BE49-F238E27FC236}">
                <a16:creationId xmlns:a16="http://schemas.microsoft.com/office/drawing/2014/main" id="{D3CB6267-2FF9-B90C-CB46-5B54353E3B31}"/>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Data mining:  </a:t>
            </a:r>
            <a:r>
              <a:rPr lang="en-US" sz="2100" dirty="0">
                <a:solidFill>
                  <a:srgbClr val="0C0D03"/>
                </a:solidFill>
                <a:latin typeface="Times New Roman" panose="02020603050405020304" pitchFamily="18" charset="0"/>
                <a:cs typeface="Times New Roman" panose="02020603050405020304" pitchFamily="18" charset="0"/>
              </a:rPr>
              <a:t>is the overall process of identifying patterns and extracting useful insights from big data sets</a:t>
            </a:r>
            <a:r>
              <a:rPr lang="en-US" sz="2000" dirty="0">
                <a:solidFill>
                  <a:srgbClr val="0C0D03"/>
                </a:solidFill>
                <a:latin typeface="Times New Roman" panose="02020603050405020304" pitchFamily="18" charset="0"/>
                <a:cs typeface="Times New Roman" panose="02020603050405020304" pitchFamily="18" charset="0"/>
              </a:rPr>
              <a:t>. </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Text mining : </a:t>
            </a:r>
            <a:r>
              <a:rPr lang="en-US" sz="2100" dirty="0">
                <a:solidFill>
                  <a:srgbClr val="0C0D03"/>
                </a:solidFill>
                <a:latin typeface="Times New Roman" panose="02020603050405020304" pitchFamily="18" charset="0"/>
                <a:cs typeface="Times New Roman" panose="02020603050405020304" pitchFamily="18" charset="0"/>
              </a:rPr>
              <a:t>also known as text data mining is a sub-field of data mining, intended to transform unstructured text into a structured format to identify meaningful patterns and generate novel insights</a:t>
            </a:r>
          </a:p>
        </p:txBody>
      </p:sp>
      <p:pic>
        <p:nvPicPr>
          <p:cNvPr id="5" name="Picture 4">
            <a:extLst>
              <a:ext uri="{FF2B5EF4-FFF2-40B4-BE49-F238E27FC236}">
                <a16:creationId xmlns:a16="http://schemas.microsoft.com/office/drawing/2014/main" id="{AD692A0D-6CFE-3725-F7D2-B2AF8E88B73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484518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D169-B953-A129-501F-BA0771CC86C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35A525C-8E45-6304-214E-CCB844385E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D17565E-C061-72C5-A150-01A472F1B85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F930E8AA-2274-E915-51CA-415BBEDE15D2}"/>
              </a:ext>
            </a:extLst>
          </p:cNvPr>
          <p:cNvSpPr txBox="1"/>
          <p:nvPr/>
        </p:nvSpPr>
        <p:spPr>
          <a:xfrm>
            <a:off x="1313384" y="1158593"/>
            <a:ext cx="7632848" cy="984885"/>
          </a:xfrm>
          <a:prstGeom prst="rect">
            <a:avLst/>
          </a:prstGeom>
          <a:noFill/>
        </p:spPr>
        <p:txBody>
          <a:bodyPr wrap="square" rtlCol="0">
            <a:spAutoFit/>
          </a:bodyPr>
          <a:lstStyle/>
          <a:p>
            <a:pPr algn="ctr"/>
            <a:r>
              <a:rPr lang="en-US" sz="2900" b="1" dirty="0">
                <a:solidFill>
                  <a:srgbClr val="0C0D03"/>
                </a:solidFill>
                <a:latin typeface="Times New Roman" panose="02020603050405020304" pitchFamily="18" charset="0"/>
                <a:cs typeface="Times New Roman" panose="02020603050405020304" pitchFamily="18" charset="0"/>
              </a:rPr>
              <a:t>Data mining versus text mining versus</a:t>
            </a:r>
          </a:p>
          <a:p>
            <a:pPr algn="ctr"/>
            <a:r>
              <a:rPr lang="en-US" sz="2900" b="1" dirty="0">
                <a:solidFill>
                  <a:srgbClr val="0C0D03"/>
                </a:solidFill>
                <a:latin typeface="Times New Roman" panose="02020603050405020304" pitchFamily="18" charset="0"/>
                <a:cs typeface="Times New Roman" panose="02020603050405020304" pitchFamily="18" charset="0"/>
              </a:rPr>
              <a:t> process mining </a:t>
            </a:r>
          </a:p>
        </p:txBody>
      </p:sp>
      <p:sp>
        <p:nvSpPr>
          <p:cNvPr id="4" name="Rectangle: Rounded Corners 3">
            <a:extLst>
              <a:ext uri="{FF2B5EF4-FFF2-40B4-BE49-F238E27FC236}">
                <a16:creationId xmlns:a16="http://schemas.microsoft.com/office/drawing/2014/main" id="{CD9C5164-89BC-44B8-CCEE-5DCE51B8F1F1}"/>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Process mining</a:t>
            </a:r>
            <a:r>
              <a:rPr lang="en-US" sz="2400"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sits at the intersection of business process management (BPM) and data mining. Process mining provides a way to apply algorithms to event log data to identify trends, patterns and details of how processes unfold. </a:t>
            </a:r>
          </a:p>
        </p:txBody>
      </p:sp>
      <p:pic>
        <p:nvPicPr>
          <p:cNvPr id="5" name="Picture 4">
            <a:extLst>
              <a:ext uri="{FF2B5EF4-FFF2-40B4-BE49-F238E27FC236}">
                <a16:creationId xmlns:a16="http://schemas.microsoft.com/office/drawing/2014/main" id="{61FB6B23-8AAB-155D-FCEC-EA502BE2EC7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90922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5553D-406A-5FE6-D5CA-C58191C80CC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6B42BF1-2F4B-E1B3-54D7-022CE620DE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29A9A5A-A1D9-B45B-0474-6D387B5B631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879BF6F6-3224-1A6F-FF44-6CF46F4F7BC8}"/>
              </a:ext>
            </a:extLst>
          </p:cNvPr>
          <p:cNvSpPr txBox="1"/>
          <p:nvPr/>
        </p:nvSpPr>
        <p:spPr>
          <a:xfrm>
            <a:off x="1313384" y="1158593"/>
            <a:ext cx="7632848" cy="538609"/>
          </a:xfrm>
          <a:prstGeom prst="rect">
            <a:avLst/>
          </a:prstGeom>
          <a:noFill/>
        </p:spPr>
        <p:txBody>
          <a:bodyPr wrap="square" rtlCol="0">
            <a:spAutoFit/>
          </a:bodyPr>
          <a:lstStyle/>
          <a:p>
            <a:pPr algn="ctr"/>
            <a:r>
              <a:rPr lang="en-US" sz="2900" b="1" dirty="0">
                <a:solidFill>
                  <a:srgbClr val="0C0D03"/>
                </a:solidFill>
                <a:latin typeface="Times New Roman" panose="02020603050405020304" pitchFamily="18" charset="0"/>
                <a:cs typeface="Times New Roman" panose="02020603050405020304" pitchFamily="18" charset="0"/>
              </a:rPr>
              <a:t>How data mining works </a:t>
            </a:r>
          </a:p>
        </p:txBody>
      </p:sp>
      <p:sp>
        <p:nvSpPr>
          <p:cNvPr id="4" name="Rectangle: Rounded Corners 3">
            <a:extLst>
              <a:ext uri="{FF2B5EF4-FFF2-40B4-BE49-F238E27FC236}">
                <a16:creationId xmlns:a16="http://schemas.microsoft.com/office/drawing/2014/main" id="{23590E79-6086-F93B-3BA8-1F8DF84A486D}"/>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The data mining process involves several steps from data collection to visualization to extract valuable information from large data sets. Data mining techniques can be used to generate descriptions and predictions about a target data set.</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4DDACC1-D788-D870-DD92-86C1EE93E97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082969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02A81-A028-FB54-F417-45D23646726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FE0BFB5-6C70-4F78-6EC9-85436F0EBD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80DE7E3-ADE8-75A2-D739-3186015DC3A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0DBD79C-3B9B-5106-26C3-7A13F86905E9}"/>
              </a:ext>
            </a:extLst>
          </p:cNvPr>
          <p:cNvSpPr txBox="1"/>
          <p:nvPr/>
        </p:nvSpPr>
        <p:spPr>
          <a:xfrm>
            <a:off x="1313384" y="1158593"/>
            <a:ext cx="7632848" cy="538609"/>
          </a:xfrm>
          <a:prstGeom prst="rect">
            <a:avLst/>
          </a:prstGeom>
          <a:noFill/>
        </p:spPr>
        <p:txBody>
          <a:bodyPr wrap="square" rtlCol="0">
            <a:spAutoFit/>
          </a:bodyPr>
          <a:lstStyle/>
          <a:p>
            <a:pPr algn="ctr"/>
            <a:r>
              <a:rPr lang="en-US" sz="2900" b="1" dirty="0">
                <a:solidFill>
                  <a:srgbClr val="0C0D03"/>
                </a:solidFill>
                <a:latin typeface="Times New Roman" panose="02020603050405020304" pitchFamily="18" charset="0"/>
                <a:cs typeface="Times New Roman" panose="02020603050405020304" pitchFamily="18" charset="0"/>
              </a:rPr>
              <a:t>How data mining works </a:t>
            </a:r>
          </a:p>
        </p:txBody>
      </p:sp>
      <p:sp>
        <p:nvSpPr>
          <p:cNvPr id="4" name="Rectangle: Rounded Corners 3">
            <a:extLst>
              <a:ext uri="{FF2B5EF4-FFF2-40B4-BE49-F238E27FC236}">
                <a16:creationId xmlns:a16="http://schemas.microsoft.com/office/drawing/2014/main" id="{64AD5928-7A6E-E8DA-0532-169F237A3345}"/>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data mining usually includes five main steps:</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1-setting objectives</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2- data selection</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3-data preparation</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4-data model building</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5-pattern mining and evaluating results.</a:t>
            </a:r>
          </a:p>
        </p:txBody>
      </p:sp>
      <p:pic>
        <p:nvPicPr>
          <p:cNvPr id="5" name="Picture 4">
            <a:extLst>
              <a:ext uri="{FF2B5EF4-FFF2-40B4-BE49-F238E27FC236}">
                <a16:creationId xmlns:a16="http://schemas.microsoft.com/office/drawing/2014/main" id="{01C3656C-BD7B-9328-C712-2EA10D331DB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362472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87736-8AAD-DE91-4263-A2CA3B10504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3337926-758F-1CD1-59D1-CBFD20E290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3884697-F53C-4358-65E0-5DB271C45C8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9C4DA0E6-20A4-FFDD-20A6-6D144A884790}"/>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How data mining works </a:t>
            </a:r>
          </a:p>
        </p:txBody>
      </p:sp>
      <p:sp>
        <p:nvSpPr>
          <p:cNvPr id="4" name="Rectangle: Rounded Corners 3">
            <a:extLst>
              <a:ext uri="{FF2B5EF4-FFF2-40B4-BE49-F238E27FC236}">
                <a16:creationId xmlns:a16="http://schemas.microsoft.com/office/drawing/2014/main" id="{3CCA4DD3-64BA-771F-8C9F-C4121BE3865F}"/>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Set the business objectives: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This can be the hardest part of the data mining process, and many organizations spend too little time on this important step. Even before the data is identified, extracted or cleaned, data scientists and business stakeholders can work together to define the precise business problem, which helps inform the data questions and parameters for a project</a:t>
            </a:r>
            <a:endParaRPr lang="en-US" sz="21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BC1AF49-90EF-CE80-5188-3A6663D735A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912143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2E640-A117-66C8-602E-07AC92D21EF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E7EE230-C531-A9B0-A4A6-85423633D4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98E9339-0E81-06A4-932E-1D0C4B152B9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8C62C11-BC38-7AA5-B41A-CBBA598B43E8}"/>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How data mining works </a:t>
            </a:r>
          </a:p>
        </p:txBody>
      </p:sp>
      <p:sp>
        <p:nvSpPr>
          <p:cNvPr id="4" name="Rectangle: Rounded Corners 3">
            <a:extLst>
              <a:ext uri="{FF2B5EF4-FFF2-40B4-BE49-F238E27FC236}">
                <a16:creationId xmlns:a16="http://schemas.microsoft.com/office/drawing/2014/main" id="{2C2BF0DD-081E-9188-2CDD-3D16ADE17979}"/>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Data selection:</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When the scope of the problem is defined, it is easier for data scientists to identify which set of data will help answer the pertinent questions to the business. They and the IT team can also determine where the data should be stored and secured.</a:t>
            </a:r>
          </a:p>
        </p:txBody>
      </p:sp>
      <p:pic>
        <p:nvPicPr>
          <p:cNvPr id="5" name="Picture 4">
            <a:extLst>
              <a:ext uri="{FF2B5EF4-FFF2-40B4-BE49-F238E27FC236}">
                <a16:creationId xmlns:a16="http://schemas.microsoft.com/office/drawing/2014/main" id="{C617B895-EA96-667E-C311-1C1376B849E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648082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6F50A-42B3-F29B-C588-37811DBEE07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E8B60DA-F566-860C-FF1B-3E24FD091F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21272D9-C5EB-D40D-DEAA-84FBA155615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51EFCD9-86DA-05F4-BA8A-CA1FF299D227}"/>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How data mining works </a:t>
            </a:r>
          </a:p>
        </p:txBody>
      </p:sp>
      <p:sp>
        <p:nvSpPr>
          <p:cNvPr id="4" name="Rectangle: Rounded Corners 3">
            <a:extLst>
              <a:ext uri="{FF2B5EF4-FFF2-40B4-BE49-F238E27FC236}">
                <a16:creationId xmlns:a16="http://schemas.microsoft.com/office/drawing/2014/main" id="{CC80CEA6-8319-C49A-2BBE-A6176A38E237}"/>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Data preparation:</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The relevant data is gathered and cleaned to remove any noise, such as duplicates, missing values and outliers. Depending on the data set, an additional data management step might be taken to reduce the number of dimensions, as too many features can slow down any subsequent computation..</a:t>
            </a:r>
          </a:p>
        </p:txBody>
      </p:sp>
      <p:pic>
        <p:nvPicPr>
          <p:cNvPr id="5" name="Picture 4">
            <a:extLst>
              <a:ext uri="{FF2B5EF4-FFF2-40B4-BE49-F238E27FC236}">
                <a16:creationId xmlns:a16="http://schemas.microsoft.com/office/drawing/2014/main" id="{E4B80476-19FD-50C2-FD15-C150A092DF9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458966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563A2-7F5E-949C-0A39-B5DCBC62A29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ACDC199-C639-BDDF-BE6C-9B8FF7460A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534F16C-85AD-0029-2BDC-D0C7C5B2CBC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F689F977-86FC-142B-AEB2-5CEE4CBE77A8}"/>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How data mining works </a:t>
            </a:r>
          </a:p>
        </p:txBody>
      </p:sp>
      <p:sp>
        <p:nvSpPr>
          <p:cNvPr id="4" name="Rectangle: Rounded Corners 3">
            <a:extLst>
              <a:ext uri="{FF2B5EF4-FFF2-40B4-BE49-F238E27FC236}">
                <a16:creationId xmlns:a16="http://schemas.microsoft.com/office/drawing/2014/main" id="{75EA21BC-CDDA-CF0A-0A4C-6D95F63C0EBD}"/>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Model building and pattern mining: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Depending on the type of analysis, data scientists might investigate any trends or interesting data relationships, such as sequential patterns, association rules or correlations</a:t>
            </a:r>
          </a:p>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Evaluation of results and implementation of knowledge: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When the data is aggregated, it can then be prepared for presentation, often by using data visualization techniques</a:t>
            </a:r>
          </a:p>
        </p:txBody>
      </p:sp>
      <p:pic>
        <p:nvPicPr>
          <p:cNvPr id="5" name="Picture 4">
            <a:extLst>
              <a:ext uri="{FF2B5EF4-FFF2-40B4-BE49-F238E27FC236}">
                <a16:creationId xmlns:a16="http://schemas.microsoft.com/office/drawing/2014/main" id="{FD4463D3-2834-7A20-0BF6-7EC693EADEA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061528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4EA7A-FF28-3020-E6EF-BB233B9B5EC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F81F1F9-BCD3-A4D0-87C1-55B9B055EE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62B603B-C585-5A9A-87D3-F5D9105A6E1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68B37FD6-1228-FD1E-8865-1615FC209568}"/>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Data mining techniques  </a:t>
            </a:r>
          </a:p>
        </p:txBody>
      </p:sp>
      <p:sp>
        <p:nvSpPr>
          <p:cNvPr id="4" name="Rectangle: Rounded Corners 3">
            <a:extLst>
              <a:ext uri="{FF2B5EF4-FFF2-40B4-BE49-F238E27FC236}">
                <a16:creationId xmlns:a16="http://schemas.microsoft.com/office/drawing/2014/main" id="{00779AF5-A683-2E42-CFD1-F76FAFB4CED0}"/>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Here are some of the most popular types of data mining:</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1-Classification:</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Classes of objects are predefined, as needed by the organization, with definitions of the characteristics that the objects have in common</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2-Clustering:</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Closely related to classification, clustering reports similarities, but then also provides more groupings based on differences. </a:t>
            </a:r>
          </a:p>
        </p:txBody>
      </p:sp>
      <p:pic>
        <p:nvPicPr>
          <p:cNvPr id="5" name="Picture 4">
            <a:extLst>
              <a:ext uri="{FF2B5EF4-FFF2-40B4-BE49-F238E27FC236}">
                <a16:creationId xmlns:a16="http://schemas.microsoft.com/office/drawing/2014/main" id="{B0EA142B-70EE-5243-324A-B73C5E81AE8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295432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8D4F3-E46A-9D6F-23BE-A6E3F5C8808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0BA3E10-A24E-5823-31BC-1E31F7DC91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60A21A1-DC14-5EE8-C7F3-59F1A086D64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780BC7F0-9903-7AA6-5446-10460138FFBA}"/>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Data mining techniques  </a:t>
            </a:r>
          </a:p>
        </p:txBody>
      </p:sp>
      <p:sp>
        <p:nvSpPr>
          <p:cNvPr id="4" name="Rectangle: Rounded Corners 3">
            <a:extLst>
              <a:ext uri="{FF2B5EF4-FFF2-40B4-BE49-F238E27FC236}">
                <a16:creationId xmlns:a16="http://schemas.microsoft.com/office/drawing/2014/main" id="{26AEECE3-E4B9-BC96-645D-8C6906B1DBDE}"/>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Here are some of the most popular types of data mining:</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3-Decision tree: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This data mining technique uses classification or regression analytics to classify or predict potential outcomes based on a set of decisions.</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4-Association rules: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Association rules offer a powerful tool for data analysis, providing insights into patterns and relationships within large datasets </a:t>
            </a:r>
          </a:p>
        </p:txBody>
      </p:sp>
      <p:pic>
        <p:nvPicPr>
          <p:cNvPr id="5" name="Picture 4">
            <a:extLst>
              <a:ext uri="{FF2B5EF4-FFF2-40B4-BE49-F238E27FC236}">
                <a16:creationId xmlns:a16="http://schemas.microsoft.com/office/drawing/2014/main" id="{E92E72C9-DA61-9EEE-8871-4540D63C438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772643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0780D-B2B8-BA2D-CB5A-0AEF5F100D4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C7FB5CD-6C78-2DB8-31C0-5CBD476BBA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173F44B-E19C-898B-2C28-E1F57CB3559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57222A32-0C1A-DDE6-7BFB-A7397B8F35C5}"/>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1777F1B4-CA73-21BE-FF4C-4A2372F70642}"/>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Frequent Pattern in Association rules: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 pattern (a set of items, subsequences, substructures, etc.) that occurs frequently in a data set.</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itemset: </a:t>
            </a:r>
            <a:r>
              <a:rPr lang="en-US" sz="2000" dirty="0">
                <a:solidFill>
                  <a:srgbClr val="0C0D03"/>
                </a:solidFill>
                <a:latin typeface="Times New Roman" panose="02020603050405020304" pitchFamily="18" charset="0"/>
                <a:cs typeface="Times New Roman" panose="02020603050405020304" pitchFamily="18" charset="0"/>
              </a:rPr>
              <a:t>A set of one or more items</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Times New Roman" panose="02020603050405020304" pitchFamily="18" charset="0"/>
                <a:cs typeface="Times New Roman" panose="02020603050405020304" pitchFamily="18" charset="0"/>
              </a:rPr>
              <a:t>k-itemset</a:t>
            </a:r>
            <a:r>
              <a:rPr lang="en-US" sz="2000" dirty="0">
                <a:solidFill>
                  <a:srgbClr val="0C0D03"/>
                </a:solidFill>
                <a:latin typeface="Times New Roman" panose="02020603050405020304" pitchFamily="18" charset="0"/>
                <a:cs typeface="Times New Roman" panose="02020603050405020304" pitchFamily="18" charset="0"/>
              </a:rPr>
              <a:t> X = {x1, …, </a:t>
            </a:r>
            <a:r>
              <a:rPr lang="en-US" sz="2000" dirty="0" err="1">
                <a:solidFill>
                  <a:srgbClr val="0C0D03"/>
                </a:solidFill>
                <a:latin typeface="Times New Roman" panose="02020603050405020304" pitchFamily="18" charset="0"/>
                <a:cs typeface="Times New Roman" panose="02020603050405020304" pitchFamily="18" charset="0"/>
              </a:rPr>
              <a:t>xk</a:t>
            </a: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7F844F17-E8DC-7D4E-A46B-735B636A2D6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20490340-EA9F-8199-CCB9-2839950C1E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60988" y="3645024"/>
            <a:ext cx="3371850" cy="1847850"/>
          </a:xfrm>
          <a:prstGeom prst="rect">
            <a:avLst/>
          </a:prstGeom>
          <a:noFill/>
          <a:ln>
            <a:noFill/>
          </a:ln>
        </p:spPr>
      </p:pic>
    </p:spTree>
    <p:extLst>
      <p:ext uri="{BB962C8B-B14F-4D97-AF65-F5344CB8AC3E}">
        <p14:creationId xmlns:p14="http://schemas.microsoft.com/office/powerpoint/2010/main" val="1677628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E0F7B-301D-A2C2-2DFC-5E7206CEE62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B184693-F017-F1BA-967E-EB99EAED24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AEFD66E-48E9-3AD1-9A06-13D9B3542B9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AF8EF4D5-B6A5-F4F5-2D78-BFB65FCBEEF6}"/>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ED187525-BD83-532E-FF4A-055E2875E97D}"/>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support of X </a:t>
            </a:r>
            <a:r>
              <a:rPr lang="en-US" sz="2100" dirty="0">
                <a:solidFill>
                  <a:srgbClr val="0C0D03"/>
                </a:solidFill>
                <a:latin typeface="Times New Roman" panose="02020603050405020304" pitchFamily="18" charset="0"/>
                <a:cs typeface="Times New Roman" panose="02020603050405020304" pitchFamily="18" charset="0"/>
              </a:rPr>
              <a:t>is the fraction of transactions that contains X (i.e., the probability that a transaction contains X)</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Relative Support of {Beer} is 3/5</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An itemset X is frequent if X’s support</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is no less than a minsup threshold</a:t>
            </a:r>
          </a:p>
        </p:txBody>
      </p:sp>
      <p:pic>
        <p:nvPicPr>
          <p:cNvPr id="5" name="Picture 4">
            <a:extLst>
              <a:ext uri="{FF2B5EF4-FFF2-40B4-BE49-F238E27FC236}">
                <a16:creationId xmlns:a16="http://schemas.microsoft.com/office/drawing/2014/main" id="{A84DE3F9-1BD7-D2A4-3460-154C773A601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96F6763E-D557-49C0-80D5-F25103B389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60988" y="3645024"/>
            <a:ext cx="3371850" cy="1847850"/>
          </a:xfrm>
          <a:prstGeom prst="rect">
            <a:avLst/>
          </a:prstGeom>
          <a:noFill/>
          <a:ln>
            <a:noFill/>
          </a:ln>
        </p:spPr>
      </p:pic>
    </p:spTree>
    <p:extLst>
      <p:ext uri="{BB962C8B-B14F-4D97-AF65-F5344CB8AC3E}">
        <p14:creationId xmlns:p14="http://schemas.microsoft.com/office/powerpoint/2010/main" val="3755833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59E70-1136-63EF-0594-FD4FF73C9A3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436BC4A-0617-9711-BF9F-26922FC5E4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DDD16D0-F494-FE8A-512C-B0B6364D976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93AD283-EFAD-80D4-195B-C19F05724693}"/>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79CDA4AC-2A92-AAF2-2136-9BDBA6CBE04F}"/>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Support : </a:t>
            </a:r>
            <a:r>
              <a:rPr lang="en-US" sz="2100" dirty="0">
                <a:solidFill>
                  <a:srgbClr val="0C0D03"/>
                </a:solidFill>
                <a:latin typeface="Times New Roman" panose="02020603050405020304" pitchFamily="18" charset="0"/>
                <a:cs typeface="Times New Roman" panose="02020603050405020304" pitchFamily="18" charset="0"/>
              </a:rPr>
              <a:t>is an important measure because a rule that has very low support may occur simply by chance.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Confidence: </a:t>
            </a:r>
            <a:r>
              <a:rPr lang="en-US" sz="2100" dirty="0">
                <a:solidFill>
                  <a:srgbClr val="0C0D03"/>
                </a:solidFill>
                <a:latin typeface="Times New Roman" panose="02020603050405020304" pitchFamily="18" charset="0"/>
                <a:cs typeface="Times New Roman" panose="02020603050405020304" pitchFamily="18" charset="0"/>
              </a:rPr>
              <a:t>measures the reliability of the inference made by a rule</a:t>
            </a: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2ACE7EB2-D782-8AE2-167E-17F1A34646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8" name="Picture 7">
            <a:extLst>
              <a:ext uri="{FF2B5EF4-FFF2-40B4-BE49-F238E27FC236}">
                <a16:creationId xmlns:a16="http://schemas.microsoft.com/office/drawing/2014/main" id="{7DE0641E-2B2E-BB4C-6C1C-0C951E6A4396}"/>
              </a:ext>
            </a:extLst>
          </p:cNvPr>
          <p:cNvPicPr>
            <a:picLocks noChangeAspect="1"/>
          </p:cNvPicPr>
          <p:nvPr/>
        </p:nvPicPr>
        <p:blipFill>
          <a:blip r:embed="rId3"/>
          <a:stretch>
            <a:fillRect/>
          </a:stretch>
        </p:blipFill>
        <p:spPr>
          <a:xfrm>
            <a:off x="-1754" y="3852748"/>
            <a:ext cx="8583606" cy="963703"/>
          </a:xfrm>
          <a:prstGeom prst="rect">
            <a:avLst/>
          </a:prstGeom>
        </p:spPr>
      </p:pic>
      <p:pic>
        <p:nvPicPr>
          <p:cNvPr id="10" name="Picture 9">
            <a:extLst>
              <a:ext uri="{FF2B5EF4-FFF2-40B4-BE49-F238E27FC236}">
                <a16:creationId xmlns:a16="http://schemas.microsoft.com/office/drawing/2014/main" id="{92FA9BCC-2258-EB8D-3F73-7BA5EC447DE5}"/>
              </a:ext>
            </a:extLst>
          </p:cNvPr>
          <p:cNvPicPr>
            <a:picLocks noChangeAspect="1"/>
          </p:cNvPicPr>
          <p:nvPr/>
        </p:nvPicPr>
        <p:blipFill>
          <a:blip r:embed="rId4"/>
          <a:stretch>
            <a:fillRect/>
          </a:stretch>
        </p:blipFill>
        <p:spPr>
          <a:xfrm>
            <a:off x="-900608" y="4794488"/>
            <a:ext cx="7169224" cy="904919"/>
          </a:xfrm>
          <a:prstGeom prst="rect">
            <a:avLst/>
          </a:prstGeom>
        </p:spPr>
      </p:pic>
    </p:spTree>
    <p:extLst>
      <p:ext uri="{BB962C8B-B14F-4D97-AF65-F5344CB8AC3E}">
        <p14:creationId xmlns:p14="http://schemas.microsoft.com/office/powerpoint/2010/main" val="3020414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E9B4-B953-7BF9-5AD2-3B0D1E382B4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0A80A0F-690D-AFF7-72D2-66A6B58104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84AC0EA-44C0-A6B8-64F8-C7C5854485B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3CC31120-6FE1-95EB-E0C3-F5951C401C78}"/>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FCE56960-2462-E7B7-1B66-8DE6B4D28867}"/>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Association Rule Mining Task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Given a set of transactions T, the goal of association rule mining is to find all rules</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support ≥ minsup threshold</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confidence ≥ </a:t>
            </a:r>
            <a:r>
              <a:rPr lang="en-US" sz="2000" b="1" dirty="0" err="1">
                <a:solidFill>
                  <a:srgbClr val="0C0D03"/>
                </a:solidFill>
                <a:latin typeface="Times New Roman" panose="02020603050405020304" pitchFamily="18" charset="0"/>
                <a:cs typeface="Times New Roman" panose="02020603050405020304" pitchFamily="18" charset="0"/>
              </a:rPr>
              <a:t>minconf</a:t>
            </a:r>
            <a:r>
              <a:rPr lang="en-US" sz="2000" b="1" dirty="0">
                <a:solidFill>
                  <a:srgbClr val="0C0D03"/>
                </a:solidFill>
                <a:latin typeface="Times New Roman" panose="02020603050405020304" pitchFamily="18" charset="0"/>
                <a:cs typeface="Times New Roman" panose="02020603050405020304" pitchFamily="18" charset="0"/>
              </a:rPr>
              <a:t> threshold</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F819F39-ACC9-E6E2-4091-2796615A6BA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622914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B92A-8CA7-9F6C-316C-DBEC9996055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F63BB48-89CB-9C53-CA5A-6CF382F0E2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97ED928-7F60-47D4-985A-D5EC430D64F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8E910DB0-2067-4D61-7945-0590E77F09ED}"/>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4E704BA0-3973-DD18-3BCC-75D28624487A}"/>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Apriori Algorithm :</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Apriori Algorithm is a basic method used in data analysis to find groups of items that often appear together in large sets of data. It helps to discover useful patterns or rules about how items are related which is particularly valuable in market basket analysis.</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F0579964-5AA2-EB09-0263-53A4D93365B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77512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3957C-F9A7-388E-651B-C98585AB9B8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3810D2B-3652-49DE-01ED-0B6AAA1775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29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B20AC08-F711-F837-E4A1-D07A14F5C18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3289C68-12DB-43A7-0051-BB92D7EF3DD2}"/>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2DF0BD0A-8439-0847-85E9-42010F2F26CB}"/>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0BE5B742-03D5-13CC-3DA2-5A7A09B568F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F36B34CE-0BC2-361C-F70D-49FEA073B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2099755"/>
            <a:ext cx="8064896" cy="3651938"/>
          </a:xfrm>
          <a:prstGeom prst="rect">
            <a:avLst/>
          </a:prstGeom>
        </p:spPr>
      </p:pic>
    </p:spTree>
    <p:extLst>
      <p:ext uri="{BB962C8B-B14F-4D97-AF65-F5344CB8AC3E}">
        <p14:creationId xmlns:p14="http://schemas.microsoft.com/office/powerpoint/2010/main" val="121132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E3B5-1671-A4CB-B925-E1F4F1F31F8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76FDA51-AD87-76EB-5FBA-F6AD88F9AC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DB59084-8D5B-E5AB-80A1-B395B99584C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A342A9B3-7D0A-F49F-1B39-9ABDC1E82FBB}"/>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Association rules</a:t>
            </a:r>
          </a:p>
        </p:txBody>
      </p:sp>
      <p:sp>
        <p:nvSpPr>
          <p:cNvPr id="4" name="Rectangle: Rounded Corners 3">
            <a:extLst>
              <a:ext uri="{FF2B5EF4-FFF2-40B4-BE49-F238E27FC236}">
                <a16:creationId xmlns:a16="http://schemas.microsoft.com/office/drawing/2014/main" id="{52E2939C-70B1-806A-7DC1-5209C4996BA8}"/>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How the Apriori Algorithm Works :</a:t>
            </a:r>
          </a:p>
          <a:p>
            <a:pPr marL="457200" indent="-457200" algn="just" rtl="0" fontAlgn="base">
              <a:lnSpc>
                <a:spcPct val="150000"/>
              </a:lnSpc>
              <a:spcBef>
                <a:spcPct val="0"/>
              </a:spcBef>
              <a:spcAft>
                <a:spcPct val="0"/>
              </a:spcAft>
              <a:buAutoNum type="arabicPeriod"/>
            </a:pPr>
            <a:r>
              <a:rPr lang="en-US" sz="2000" b="1" dirty="0">
                <a:solidFill>
                  <a:srgbClr val="0C0D03"/>
                </a:solidFill>
                <a:latin typeface="Times New Roman" panose="02020603050405020304" pitchFamily="18" charset="0"/>
                <a:cs typeface="Times New Roman" panose="02020603050405020304" pitchFamily="18" charset="0"/>
              </a:rPr>
              <a:t>Identifying Frequent Item-Sets</a:t>
            </a:r>
          </a:p>
          <a:p>
            <a:pPr marL="457200" indent="-457200" algn="just" rtl="0" fontAlgn="base">
              <a:lnSpc>
                <a:spcPct val="150000"/>
              </a:lnSpc>
              <a:spcBef>
                <a:spcPct val="0"/>
              </a:spcBef>
              <a:spcAft>
                <a:spcPct val="0"/>
              </a:spcAft>
              <a:buAutoNum type="arabicPeriod"/>
            </a:pPr>
            <a:r>
              <a:rPr lang="en-US" sz="2000" b="1" dirty="0">
                <a:solidFill>
                  <a:srgbClr val="0C0D03"/>
                </a:solidFill>
                <a:latin typeface="Times New Roman" panose="02020603050405020304" pitchFamily="18" charset="0"/>
                <a:cs typeface="Times New Roman" panose="02020603050405020304" pitchFamily="18" charset="0"/>
              </a:rPr>
              <a:t>Creating Possible Item Group</a:t>
            </a:r>
          </a:p>
          <a:p>
            <a:pPr marL="457200" indent="-457200" algn="just" rtl="0" fontAlgn="base">
              <a:lnSpc>
                <a:spcPct val="150000"/>
              </a:lnSpc>
              <a:spcBef>
                <a:spcPct val="0"/>
              </a:spcBef>
              <a:spcAft>
                <a:spcPct val="0"/>
              </a:spcAft>
              <a:buAutoNum type="arabicPeriod"/>
            </a:pPr>
            <a:r>
              <a:rPr lang="en-US" sz="2000" b="1" dirty="0">
                <a:solidFill>
                  <a:srgbClr val="0C0D03"/>
                </a:solidFill>
                <a:latin typeface="Times New Roman" panose="02020603050405020304" pitchFamily="18" charset="0"/>
                <a:cs typeface="Times New Roman" panose="02020603050405020304" pitchFamily="18" charset="0"/>
              </a:rPr>
              <a:t>Removing Infrequent Item Groups</a:t>
            </a:r>
          </a:p>
          <a:p>
            <a:pPr marL="457200" indent="-457200" algn="just" rtl="0" fontAlgn="base">
              <a:lnSpc>
                <a:spcPct val="150000"/>
              </a:lnSpc>
              <a:spcBef>
                <a:spcPct val="0"/>
              </a:spcBef>
              <a:spcAft>
                <a:spcPct val="0"/>
              </a:spcAft>
              <a:buAutoNum type="arabicPeriod"/>
            </a:pPr>
            <a:r>
              <a:rPr lang="en-US" sz="2000" b="1" dirty="0">
                <a:solidFill>
                  <a:srgbClr val="0C0D03"/>
                </a:solidFill>
                <a:latin typeface="Times New Roman" panose="02020603050405020304" pitchFamily="18" charset="0"/>
                <a:cs typeface="Times New Roman" panose="02020603050405020304" pitchFamily="18" charset="0"/>
              </a:rPr>
              <a:t>Generating Association Rules</a:t>
            </a:r>
          </a:p>
        </p:txBody>
      </p:sp>
      <p:pic>
        <p:nvPicPr>
          <p:cNvPr id="5" name="Picture 4">
            <a:extLst>
              <a:ext uri="{FF2B5EF4-FFF2-40B4-BE49-F238E27FC236}">
                <a16:creationId xmlns:a16="http://schemas.microsoft.com/office/drawing/2014/main" id="{8899629A-6F2B-B7EA-12AA-BF0D58F6968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0909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932C-E453-CE41-01E0-06013D31E86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B542F3E-396E-16A4-271B-1ED8F6E9C9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6143815-FB8A-9246-3DDD-4063C5ECAB1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0F4FCA58-5092-4298-2B11-5636C7D2CBF7}"/>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FCAF732A-D9B2-6219-ED92-1D47F4ACABE2}"/>
              </a:ext>
            </a:extLst>
          </p:cNvPr>
          <p:cNvSpPr/>
          <p:nvPr/>
        </p:nvSpPr>
        <p:spPr bwMode="auto">
          <a:xfrm>
            <a:off x="755576" y="2099755"/>
            <a:ext cx="8064896"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Step 1 : Setting the parameters </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Minimum Support Threshold: 50%</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Minimum Confidence Threshold: 70%</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Step 2: Find Frequent 1-Item-Sets</a:t>
            </a:r>
          </a:p>
        </p:txBody>
      </p:sp>
      <p:pic>
        <p:nvPicPr>
          <p:cNvPr id="5" name="Picture 4">
            <a:extLst>
              <a:ext uri="{FF2B5EF4-FFF2-40B4-BE49-F238E27FC236}">
                <a16:creationId xmlns:a16="http://schemas.microsoft.com/office/drawing/2014/main" id="{4E3FB8A9-7146-CEAF-8DEA-01C9CC3AB14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1028" name="Picture 4" descr="Screenshot-2025-01-07-120244">
            <a:extLst>
              <a:ext uri="{FF2B5EF4-FFF2-40B4-BE49-F238E27FC236}">
                <a16:creationId xmlns:a16="http://schemas.microsoft.com/office/drawing/2014/main" id="{7AEAB5FE-C291-4FD8-AB61-0DBC9A4A9B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2276872"/>
            <a:ext cx="3798128" cy="194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743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E338C-7E6A-A560-EFCC-7AC141BEF4A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3F9ADFD-89AE-6B09-7471-9491D0989E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8811792-BCC9-8FAE-716B-0482B519960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AEDA97A1-642F-0B23-FAC9-61B4349319E1}"/>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1BB8BE66-7601-AC5F-5D5F-3AF588E66C52}"/>
              </a:ext>
            </a:extLst>
          </p:cNvPr>
          <p:cNvSpPr/>
          <p:nvPr/>
        </p:nvSpPr>
        <p:spPr bwMode="auto">
          <a:xfrm>
            <a:off x="411162" y="2099755"/>
            <a:ext cx="8409310" cy="3993541"/>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Step 2: Find Frequent 1-Item-Sets</a:t>
            </a: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All items have support% ≥ 50%, so they qualify as frequent 1-Item-Sets. if any item has support% &lt; 50%, It will be omitted out from the frequent 1- Item-Sets. </a:t>
            </a:r>
          </a:p>
        </p:txBody>
      </p:sp>
      <p:pic>
        <p:nvPicPr>
          <p:cNvPr id="5" name="Picture 4">
            <a:extLst>
              <a:ext uri="{FF2B5EF4-FFF2-40B4-BE49-F238E27FC236}">
                <a16:creationId xmlns:a16="http://schemas.microsoft.com/office/drawing/2014/main" id="{93A89AF5-4C32-31BD-E329-9E49878EEAB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D22B9BA4-8FF4-1EB7-4994-4D61777406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8982" y="3086306"/>
            <a:ext cx="4723856" cy="1134781"/>
          </a:xfrm>
          <a:prstGeom prst="rect">
            <a:avLst/>
          </a:prstGeom>
        </p:spPr>
      </p:pic>
    </p:spTree>
    <p:extLst>
      <p:ext uri="{BB962C8B-B14F-4D97-AF65-F5344CB8AC3E}">
        <p14:creationId xmlns:p14="http://schemas.microsoft.com/office/powerpoint/2010/main" val="22715357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E0330-EDBA-70F5-DF29-9A95A9F7FA4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BBC7C1C-5D6F-25DE-7972-85BA1FB756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0BE7C90-6D17-0E5E-271F-909D82139B1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857A2267-9A0D-93CC-238E-8788B0EBAECE}"/>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0EDAE106-380C-2D0C-CD00-6E1999EA68A8}"/>
              </a:ext>
            </a:extLst>
          </p:cNvPr>
          <p:cNvSpPr/>
          <p:nvPr/>
        </p:nvSpPr>
        <p:spPr bwMode="auto">
          <a:xfrm>
            <a:off x="411162" y="2099755"/>
            <a:ext cx="8409310"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Step 3: Generate Candidate 2-Item-Sets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Combine the frequent 1-Item-Sets into pairs and calculate their support. For this use case we will get 3 item pairs ( bread,butter) , (bread,ilk) and (butter,milk) and will calculate the support similar to step 2</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4177F2F-51F7-ADF5-64F8-506D0EF33E6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8" name="Picture 7">
            <a:extLst>
              <a:ext uri="{FF2B5EF4-FFF2-40B4-BE49-F238E27FC236}">
                <a16:creationId xmlns:a16="http://schemas.microsoft.com/office/drawing/2014/main" id="{1B5A8DBE-443D-B4C6-CDEC-DDBCE5722C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0797" y="4622627"/>
            <a:ext cx="5262405" cy="1293552"/>
          </a:xfrm>
          <a:prstGeom prst="rect">
            <a:avLst/>
          </a:prstGeom>
        </p:spPr>
      </p:pic>
    </p:spTree>
    <p:extLst>
      <p:ext uri="{BB962C8B-B14F-4D97-AF65-F5344CB8AC3E}">
        <p14:creationId xmlns:p14="http://schemas.microsoft.com/office/powerpoint/2010/main" val="33513689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8D50E-E768-9EB2-AB63-873F65BD3CA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6C27219-3068-4283-08ED-C3700C200C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0BB64F3-CC3F-CD3F-D78E-B4905EB0608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5C91902-05FB-0747-AC69-7E92CB86FEE4}"/>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F5A6335C-F9EC-ED32-D5CD-6D09D908ECC4}"/>
              </a:ext>
            </a:extLst>
          </p:cNvPr>
          <p:cNvSpPr/>
          <p:nvPr/>
        </p:nvSpPr>
        <p:spPr bwMode="auto">
          <a:xfrm>
            <a:off x="411162" y="2099755"/>
            <a:ext cx="8409310"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Step 4: Generate Candidate 3-Item-Sets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Combine the frequent 2-Item-Sets into groups of 3 and calculate their support. for the triplet we have only got one case i.e {bread,butter,milk} and we will calculate the support.</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3C95303-EC17-10F0-945F-AE4D70030E8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889B745A-9AE9-4093-C291-6EBDB4712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6498" y="4767995"/>
            <a:ext cx="6156052" cy="792088"/>
          </a:xfrm>
          <a:prstGeom prst="rect">
            <a:avLst/>
          </a:prstGeom>
        </p:spPr>
      </p:pic>
    </p:spTree>
    <p:extLst>
      <p:ext uri="{BB962C8B-B14F-4D97-AF65-F5344CB8AC3E}">
        <p14:creationId xmlns:p14="http://schemas.microsoft.com/office/powerpoint/2010/main" val="31975135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9664-650B-08A3-F75C-04EEF6A109C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5FB34B2-03C9-58DD-2BB1-62BB210BA39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715917F-3596-4DBC-1D7F-348924E817C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683E2C2-267D-5E6A-BC04-98B871889646}"/>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382A8CA0-9435-C543-05CD-727A68EA7FB8}"/>
              </a:ext>
            </a:extLst>
          </p:cNvPr>
          <p:cNvSpPr/>
          <p:nvPr/>
        </p:nvSpPr>
        <p:spPr bwMode="auto">
          <a:xfrm>
            <a:off x="197768" y="2099755"/>
            <a:ext cx="8622704"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Step 5: Generate Association Rules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Now we generate rules from the frequent Item-Sets and calculate confidence.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Rule 1:</a:t>
            </a:r>
            <a:r>
              <a:rPr lang="en-US" sz="2000"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If Bread -&gt; Butter (if customer buys bread,  will buy butter also)</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Support of {Bread, Butter} = 2.</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Support of {Bread} = 4.</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Confidence = 2/4 = 50% (Failed threshold).</a:t>
            </a:r>
          </a:p>
        </p:txBody>
      </p:sp>
      <p:pic>
        <p:nvPicPr>
          <p:cNvPr id="5" name="Picture 4">
            <a:extLst>
              <a:ext uri="{FF2B5EF4-FFF2-40B4-BE49-F238E27FC236}">
                <a16:creationId xmlns:a16="http://schemas.microsoft.com/office/drawing/2014/main" id="{AEE6ECF3-F45A-C2D0-B381-5A0169892A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375461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BE3DC-B58B-6222-C9A8-E9514020D00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091D99C-0192-DCBE-0839-A9550B77A2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202592F-5C58-E35B-DE80-59C28C789B6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F70E9BF3-2000-837D-531B-0F8E562BEB72}"/>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7AF25AC0-F95E-E11F-2DE1-5BD63960F4C8}"/>
              </a:ext>
            </a:extLst>
          </p:cNvPr>
          <p:cNvSpPr/>
          <p:nvPr/>
        </p:nvSpPr>
        <p:spPr bwMode="auto">
          <a:xfrm>
            <a:off x="197768" y="2099755"/>
            <a:ext cx="8622704"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Rule 2: </a:t>
            </a:r>
            <a:r>
              <a:rPr lang="en-US" sz="2100" dirty="0">
                <a:solidFill>
                  <a:srgbClr val="0C0D03"/>
                </a:solidFill>
                <a:latin typeface="Times New Roman" panose="02020603050405020304" pitchFamily="18" charset="0"/>
                <a:cs typeface="Times New Roman" panose="02020603050405020304" pitchFamily="18" charset="0"/>
              </a:rPr>
              <a:t>If Butter -&gt; Bread (if customer buys butter, will buy bread also)</a:t>
            </a:r>
          </a:p>
          <a:p>
            <a:pPr algn="just" rtl="0" fontAlgn="base">
              <a:lnSpc>
                <a:spcPct val="150000"/>
              </a:lnSpc>
              <a:spcBef>
                <a:spcPct val="0"/>
              </a:spcBef>
              <a:spcAft>
                <a:spcPct val="0"/>
              </a:spcAft>
            </a:pPr>
            <a:endParaRPr lang="en-US" sz="21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Support of {Bread, Butter} = 2.</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Support of {Butter} = 3.</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Confidence = 2/3 = 66.67% (Passes threshold).</a:t>
            </a:r>
          </a:p>
        </p:txBody>
      </p:sp>
      <p:pic>
        <p:nvPicPr>
          <p:cNvPr id="5" name="Picture 4">
            <a:extLst>
              <a:ext uri="{FF2B5EF4-FFF2-40B4-BE49-F238E27FC236}">
                <a16:creationId xmlns:a16="http://schemas.microsoft.com/office/drawing/2014/main" id="{EE1CA7F2-D326-A818-9358-F2449C782C3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780780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59C5A-E423-E959-2866-704F0441F23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50D3BD8-E2E0-A473-D3EC-88451A848C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9D94006-C632-E297-A459-10236A02981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7FAB1D7-BB81-7D32-4D90-FE477B65BC1A}"/>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59A94005-43C9-465F-ACFF-C41A0714C724}"/>
              </a:ext>
            </a:extLst>
          </p:cNvPr>
          <p:cNvSpPr/>
          <p:nvPr/>
        </p:nvSpPr>
        <p:spPr bwMode="auto">
          <a:xfrm>
            <a:off x="197768" y="2099755"/>
            <a:ext cx="8622704"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Example: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Rule 3: </a:t>
            </a:r>
            <a:r>
              <a:rPr lang="en-US" sz="2100" dirty="0">
                <a:solidFill>
                  <a:srgbClr val="0C0D03"/>
                </a:solidFill>
                <a:latin typeface="Times New Roman" panose="02020603050405020304" pitchFamily="18" charset="0"/>
                <a:cs typeface="Times New Roman" panose="02020603050405020304" pitchFamily="18" charset="0"/>
              </a:rPr>
              <a:t>If Bread -&gt; Milk (if customer buys bread,  will buy milk also)</a:t>
            </a:r>
          </a:p>
          <a:p>
            <a:pPr algn="just" rtl="0" fontAlgn="base">
              <a:lnSpc>
                <a:spcPct val="150000"/>
              </a:lnSpc>
              <a:spcBef>
                <a:spcPct val="0"/>
              </a:spcBef>
              <a:spcAft>
                <a:spcPct val="0"/>
              </a:spcAft>
            </a:pPr>
            <a:endParaRPr lang="en-US" sz="21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Support of {Bread, Milk} = 3.</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Support of {Bread} = 4.</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Confidence = 3/4 = 75% (Passes threshold).</a:t>
            </a:r>
          </a:p>
        </p:txBody>
      </p:sp>
      <p:pic>
        <p:nvPicPr>
          <p:cNvPr id="5" name="Picture 4">
            <a:extLst>
              <a:ext uri="{FF2B5EF4-FFF2-40B4-BE49-F238E27FC236}">
                <a16:creationId xmlns:a16="http://schemas.microsoft.com/office/drawing/2014/main" id="{DD2EE69C-E37C-E0C7-7270-EE871389BB0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0389991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FBCE8-2D7C-C40E-F5B4-B9C661491E4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24CBE9E-E447-A946-32A9-A23A99494C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4731622-16E7-3BAC-172B-F00C3465F67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ACE1347B-5926-BFDC-27B4-F8F9B7DA2E40}"/>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Apriori Algorithm </a:t>
            </a:r>
          </a:p>
        </p:txBody>
      </p:sp>
      <p:sp>
        <p:nvSpPr>
          <p:cNvPr id="4" name="Rectangle: Rounded Corners 3">
            <a:extLst>
              <a:ext uri="{FF2B5EF4-FFF2-40B4-BE49-F238E27FC236}">
                <a16:creationId xmlns:a16="http://schemas.microsoft.com/office/drawing/2014/main" id="{3C3C655E-E832-2324-8285-258CC96A505C}"/>
              </a:ext>
            </a:extLst>
          </p:cNvPr>
          <p:cNvSpPr/>
          <p:nvPr/>
        </p:nvSpPr>
        <p:spPr bwMode="auto">
          <a:xfrm>
            <a:off x="260648" y="2099755"/>
            <a:ext cx="8622704"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86C8E00-E4B7-EBDA-7327-1A933D05D39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B91AC0EA-FDD1-0766-8E88-F80DE4D726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2099755"/>
            <a:ext cx="4320480" cy="3441485"/>
          </a:xfrm>
          <a:prstGeom prst="rect">
            <a:avLst/>
          </a:prstGeom>
        </p:spPr>
      </p:pic>
    </p:spTree>
    <p:extLst>
      <p:ext uri="{BB962C8B-B14F-4D97-AF65-F5344CB8AC3E}">
        <p14:creationId xmlns:p14="http://schemas.microsoft.com/office/powerpoint/2010/main" val="3454594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2FF64-F2AC-1D32-91C7-99C1EE6A604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11EFE84-A69E-C30F-9864-F18D81488E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39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FD57226-3E83-3B02-A344-562708940D7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5FBB6412-160D-B357-6001-6CAA4DBCCFBD}"/>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Frequent Pattern Growth Algorithm</a:t>
            </a:r>
          </a:p>
        </p:txBody>
      </p:sp>
      <p:sp>
        <p:nvSpPr>
          <p:cNvPr id="4" name="Rectangle: Rounded Corners 3">
            <a:extLst>
              <a:ext uri="{FF2B5EF4-FFF2-40B4-BE49-F238E27FC236}">
                <a16:creationId xmlns:a16="http://schemas.microsoft.com/office/drawing/2014/main" id="{ACC291F3-0F34-D5A2-9EB1-B962B6B2B674}"/>
              </a:ext>
            </a:extLst>
          </p:cNvPr>
          <p:cNvSpPr/>
          <p:nvPr/>
        </p:nvSpPr>
        <p:spPr bwMode="auto">
          <a:xfrm>
            <a:off x="260648" y="2099755"/>
            <a:ext cx="8622704" cy="3489485"/>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The FP-Growth (Frequent Pattern Growth) algorithm efficiently mines frequent itemsets from large transactional datasets. Unlike the Apriori algorithm which suffers from high computational cost due to candidate generation and multiple database scans. FP-Growth avoids these inefficiencies by compressing the data into an FP-Tree (Frequent Pattern Tree) and extracts patterns directly from it.</a:t>
            </a:r>
          </a:p>
        </p:txBody>
      </p:sp>
      <p:pic>
        <p:nvPicPr>
          <p:cNvPr id="5" name="Picture 4">
            <a:extLst>
              <a:ext uri="{FF2B5EF4-FFF2-40B4-BE49-F238E27FC236}">
                <a16:creationId xmlns:a16="http://schemas.microsoft.com/office/drawing/2014/main" id="{C486A3AE-B0D5-B4CC-24CA-94F41EF8F63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566967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5B195-4F22-FB57-C1EE-801B5E62E4E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1F9D2B1-9696-C5E1-61F9-10B23EE08A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202C66F-78D0-69A5-202A-B472960442F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7FFAB21-DAB8-256B-C9C9-2DD98C739DD2}"/>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How FP-Growth Works</a:t>
            </a:r>
          </a:p>
        </p:txBody>
      </p:sp>
      <p:sp>
        <p:nvSpPr>
          <p:cNvPr id="4" name="Rectangle: Rounded Corners 3">
            <a:extLst>
              <a:ext uri="{FF2B5EF4-FFF2-40B4-BE49-F238E27FC236}">
                <a16:creationId xmlns:a16="http://schemas.microsoft.com/office/drawing/2014/main" id="{C8622D96-EFBD-E652-FBE6-65973E614B4B}"/>
              </a:ext>
            </a:extLst>
          </p:cNvPr>
          <p:cNvSpPr/>
          <p:nvPr/>
        </p:nvSpPr>
        <p:spPr bwMode="auto">
          <a:xfrm>
            <a:off x="260648" y="1809460"/>
            <a:ext cx="8622704" cy="451377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Data Compression: </a:t>
            </a:r>
            <a:r>
              <a:rPr lang="en-US" sz="2100" dirty="0">
                <a:solidFill>
                  <a:srgbClr val="0C0D03"/>
                </a:solidFill>
                <a:latin typeface="Times New Roman" panose="02020603050405020304" pitchFamily="18" charset="0"/>
                <a:cs typeface="Times New Roman" panose="02020603050405020304" pitchFamily="18" charset="0"/>
              </a:rPr>
              <a:t>First FP-Growth compresses the dataset into a smaller structure called the Frequent Pattern Tree (FP-Tree). This tree stores information about item sets (collections of items) and their frequencies without need to generate candidate sets like Apriori does.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Mining the Tree: </a:t>
            </a:r>
            <a:r>
              <a:rPr lang="en-US" sz="2100" dirty="0">
                <a:solidFill>
                  <a:srgbClr val="0C0D03"/>
                </a:solidFill>
                <a:latin typeface="Times New Roman" panose="02020603050405020304" pitchFamily="18" charset="0"/>
                <a:cs typeface="Times New Roman" panose="02020603050405020304" pitchFamily="18" charset="0"/>
              </a:rPr>
              <a:t>then examines this tree to identify patterns that appear frequently based on a minimum support threshold.</a:t>
            </a:r>
            <a:r>
              <a:rPr lang="en-US" sz="2000" dirty="0">
                <a:solidFill>
                  <a:srgbClr val="0C0D03"/>
                </a:solidFill>
                <a:latin typeface="Times New Roman" panose="02020603050405020304" pitchFamily="18" charset="0"/>
                <a:cs typeface="Times New Roman" panose="02020603050405020304" pitchFamily="18" charset="0"/>
              </a:rPr>
              <a:t> </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Generating Patterns: </a:t>
            </a:r>
            <a:r>
              <a:rPr lang="en-US" sz="2100" dirty="0">
                <a:solidFill>
                  <a:srgbClr val="0C0D03"/>
                </a:solidFill>
                <a:latin typeface="Times New Roman" panose="02020603050405020304" pitchFamily="18" charset="0"/>
                <a:cs typeface="Times New Roman" panose="02020603050405020304" pitchFamily="18" charset="0"/>
              </a:rPr>
              <a:t>Once the tree is built and analyzed the algorithm generates the frequent patterns (itemsets) and the rules that describe relationships between items.</a:t>
            </a:r>
          </a:p>
        </p:txBody>
      </p:sp>
      <p:pic>
        <p:nvPicPr>
          <p:cNvPr id="5" name="Picture 4">
            <a:extLst>
              <a:ext uri="{FF2B5EF4-FFF2-40B4-BE49-F238E27FC236}">
                <a16:creationId xmlns:a16="http://schemas.microsoft.com/office/drawing/2014/main" id="{6F10351F-9984-87C0-ABFE-3485F71FF09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6248161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B7DA2-22C7-0D94-75C8-32D1E0996C8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71FA668-C617-3572-5476-5ECE818264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B478B85-BF8E-68EE-E231-5C699347F93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3BBBE34B-D8D1-34C0-F287-BB0563469496}"/>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52583C41-C779-D7DB-19D2-77F4D0E29F0B}"/>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400" b="1" dirty="0">
                <a:solidFill>
                  <a:srgbClr val="0C0D03"/>
                </a:solidFill>
                <a:latin typeface="Times New Roman" panose="02020603050405020304" pitchFamily="18" charset="0"/>
                <a:cs typeface="Times New Roman" panose="02020603050405020304" pitchFamily="18" charset="0"/>
              </a:rPr>
              <a:t>Problem Statement: </a:t>
            </a:r>
            <a:r>
              <a:rPr lang="en-US" sz="2100" dirty="0">
                <a:solidFill>
                  <a:srgbClr val="0C0D03"/>
                </a:solidFill>
                <a:latin typeface="Times New Roman" panose="02020603050405020304" pitchFamily="18" charset="0"/>
                <a:cs typeface="Times New Roman" panose="02020603050405020304" pitchFamily="18" charset="0"/>
              </a:rPr>
              <a:t>Consider a small grocery store transaction dataset. Each entry shows the set of items purchased together by a customer:</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We apply the FP-Growth algorithm to identify frequent itemsets (groups of items frequently bought together), using a minimum support count of 2</a:t>
            </a:r>
          </a:p>
        </p:txBody>
      </p:sp>
      <p:pic>
        <p:nvPicPr>
          <p:cNvPr id="5" name="Picture 4">
            <a:extLst>
              <a:ext uri="{FF2B5EF4-FFF2-40B4-BE49-F238E27FC236}">
                <a16:creationId xmlns:a16="http://schemas.microsoft.com/office/drawing/2014/main" id="{E4EC319A-70C8-B9AF-CCB0-77F34136B0E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C6DF06E5-2DBC-8BAF-968C-F397E23C8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8820" y="3164468"/>
            <a:ext cx="5526360" cy="2207601"/>
          </a:xfrm>
          <a:prstGeom prst="rect">
            <a:avLst/>
          </a:prstGeom>
        </p:spPr>
      </p:pic>
    </p:spTree>
    <p:extLst>
      <p:ext uri="{BB962C8B-B14F-4D97-AF65-F5344CB8AC3E}">
        <p14:creationId xmlns:p14="http://schemas.microsoft.com/office/powerpoint/2010/main" val="4220111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D8D30-9387-C400-FD10-D0520F28AC1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3034F99-FE98-2978-BEF2-5C4FB7DE9A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174C8FA-E540-6465-4689-18B9A8BA7B5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55F02705-0772-59AD-D702-042A6CB7912D}"/>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BD4B11AF-9D84-D7D2-3179-74D0BFFD2AC6}"/>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1:</a:t>
            </a:r>
            <a:r>
              <a:rPr lang="en-US" sz="2000" b="1" dirty="0">
                <a:solidFill>
                  <a:srgbClr val="0C0D03"/>
                </a:solidFill>
                <a:latin typeface="Times New Roman" panose="02020603050405020304" pitchFamily="18" charset="0"/>
                <a:cs typeface="Times New Roman" panose="02020603050405020304" pitchFamily="18" charset="0"/>
              </a:rPr>
              <a:t> Compute Item Frequencies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Scan the entire dataset one time to determine how often each item appears.</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All items meet the minimum support threshold (≥ 2), so none are removed.</a:t>
            </a:r>
          </a:p>
        </p:txBody>
      </p:sp>
      <p:pic>
        <p:nvPicPr>
          <p:cNvPr id="5" name="Picture 4">
            <a:extLst>
              <a:ext uri="{FF2B5EF4-FFF2-40B4-BE49-F238E27FC236}">
                <a16:creationId xmlns:a16="http://schemas.microsoft.com/office/drawing/2014/main" id="{6411280A-E718-B744-2533-1BBD79126F2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8" name="Picture 7">
            <a:extLst>
              <a:ext uri="{FF2B5EF4-FFF2-40B4-BE49-F238E27FC236}">
                <a16:creationId xmlns:a16="http://schemas.microsoft.com/office/drawing/2014/main" id="{F3C17964-540E-06AA-BC6F-4937F777A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3290828"/>
            <a:ext cx="5004048" cy="1841112"/>
          </a:xfrm>
          <a:prstGeom prst="rect">
            <a:avLst/>
          </a:prstGeom>
        </p:spPr>
      </p:pic>
    </p:spTree>
    <p:extLst>
      <p:ext uri="{BB962C8B-B14F-4D97-AF65-F5344CB8AC3E}">
        <p14:creationId xmlns:p14="http://schemas.microsoft.com/office/powerpoint/2010/main" val="42408628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38E3-9738-C106-30C6-28863EBD2F6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6BC7F9A-D165-95BC-6003-F72968A476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CC4B036-3092-367F-28EB-229E719F7E4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9671D572-0F64-F605-92B3-FFE2C00732BB}"/>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CBAA2A91-9A66-0A2D-61EF-930EF66ACBD1}"/>
              </a:ext>
            </a:extLst>
          </p:cNvPr>
          <p:cNvSpPr/>
          <p:nvPr/>
        </p:nvSpPr>
        <p:spPr bwMode="auto">
          <a:xfrm>
            <a:off x="260648" y="2099754"/>
            <a:ext cx="8622704" cy="4314261"/>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2:</a:t>
            </a:r>
            <a:r>
              <a:rPr lang="en-US" sz="2000" b="1" dirty="0">
                <a:solidFill>
                  <a:srgbClr val="0C0D03"/>
                </a:solidFill>
                <a:latin typeface="Times New Roman" panose="02020603050405020304" pitchFamily="18" charset="0"/>
                <a:cs typeface="Times New Roman" panose="02020603050405020304" pitchFamily="18" charset="0"/>
              </a:rPr>
              <a:t> Order Items in Each Transaction by Frequency</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Next, sort every transaction in descending order based on how frequently the items appear overall.</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Sorting by frequency helps group common items together, allowing the FP-tree to be compressed efficiently.</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F31C8ED-D79C-A7E8-89A7-43A50D43108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833DFC92-B8C8-71EB-E1C6-B302C51BE1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0752" y="3396474"/>
            <a:ext cx="5004048" cy="1998954"/>
          </a:xfrm>
          <a:prstGeom prst="rect">
            <a:avLst/>
          </a:prstGeom>
        </p:spPr>
      </p:pic>
    </p:spTree>
    <p:extLst>
      <p:ext uri="{BB962C8B-B14F-4D97-AF65-F5344CB8AC3E}">
        <p14:creationId xmlns:p14="http://schemas.microsoft.com/office/powerpoint/2010/main" val="32529131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A65E8-D5F3-C568-00C1-EF0BD5AD70F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5CDDF48-F285-9018-CE01-A04E7A9A74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E80E846-C876-97D9-7561-2FCFCE364E6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1063C0B2-B944-AF78-2514-027F87DDC96B}"/>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345F6089-FDE8-4E44-F4F8-0B704E7BC84B}"/>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3:</a:t>
            </a:r>
            <a:r>
              <a:rPr lang="en-US" sz="2000" b="1" dirty="0">
                <a:solidFill>
                  <a:srgbClr val="0C0D03"/>
                </a:solidFill>
                <a:latin typeface="Times New Roman" panose="02020603050405020304" pitchFamily="18" charset="0"/>
                <a:cs typeface="Times New Roman" panose="02020603050405020304" pitchFamily="18" charset="0"/>
              </a:rPr>
              <a:t> Construct the FP-Tree</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Insert the sorted transactions one by one into the FP-tree, merging any shared prefixes.</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FP-Tree Insertions: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From T1: Bread → Milk → Butter</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From T2: Bread → Butter</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From T3: Bread → Milk</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From T4: Milk → Butter (new branch since it doesn’t begin with Bread)</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From T5: Bread</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90ECD30-5CFF-342B-3043-CAF2C517415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6144189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1A404-1F57-6CB9-41F2-BB197CB792B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94EBF66-264A-2CBA-F86D-7E1C6D9F72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117E99F-C4D5-AAB6-9590-8D9680C7CC8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A93E118-1209-3868-CD9B-24B092B850D0}"/>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5F2E3DC5-E72E-5551-FB49-708D4021D400}"/>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Visual FP-Tree:</a:t>
            </a: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Each node shows: Item (Count)</a:t>
            </a: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4FC71F5-6B1D-C2B9-226A-238A4777944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49569FE9-4946-8324-A51B-D280B5D0A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2276872"/>
            <a:ext cx="2875288" cy="2883231"/>
          </a:xfrm>
          <a:prstGeom prst="rect">
            <a:avLst/>
          </a:prstGeom>
        </p:spPr>
      </p:pic>
    </p:spTree>
    <p:extLst>
      <p:ext uri="{BB962C8B-B14F-4D97-AF65-F5344CB8AC3E}">
        <p14:creationId xmlns:p14="http://schemas.microsoft.com/office/powerpoint/2010/main" val="3348731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5A608-79F9-3E30-6A10-3BBCD95B5D4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01B4660-5B38-6556-1A63-C3D0BC7724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38C2173-4F15-A7B5-1F05-F9A73446216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EFDB8FD-5598-AB55-96D6-748B3D45FFA0}"/>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D0216CF3-7C84-45A5-36DB-BA003D59AFE7}"/>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4: </a:t>
            </a:r>
            <a:r>
              <a:rPr lang="en-US" sz="2000" b="1" dirty="0">
                <a:solidFill>
                  <a:srgbClr val="0C0D03"/>
                </a:solidFill>
                <a:latin typeface="Times New Roman" panose="02020603050405020304" pitchFamily="18" charset="0"/>
                <a:cs typeface="Times New Roman" panose="02020603050405020304" pitchFamily="18" charset="0"/>
              </a:rPr>
              <a:t>Determine Conditional Pattern Bases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A conditional pattern base contains all prefix paths leading to a specific item. Let’s examine the paths ending with Butter.</a:t>
            </a:r>
            <a:endParaRPr lang="en-US" sz="2100" b="1" dirty="0">
              <a:solidFill>
                <a:srgbClr val="0C0D03"/>
              </a:solidFill>
              <a:latin typeface="Times New Roman" panose="02020603050405020304" pitchFamily="18" charset="0"/>
              <a:cs typeface="Times New Roman" panose="02020603050405020304" pitchFamily="18" charset="0"/>
            </a:endParaRPr>
          </a:p>
          <a:p>
            <a:pPr lvl="1"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Paths that end with Butter:</a:t>
            </a:r>
          </a:p>
          <a:p>
            <a:pPr lvl="1"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Bread → Milk → Butter (1 occurrence)</a:t>
            </a:r>
          </a:p>
          <a:p>
            <a:pPr lvl="1"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Bread → Butter (1 occurrence)</a:t>
            </a:r>
          </a:p>
          <a:p>
            <a:pPr lvl="1"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Milk → Butter (1 occurrence)</a:t>
            </a: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Thus, the conditional pattern base for Butter is: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 (Bread, Milk): 1, (Bread): 1, (Milk): 1 ]</a:t>
            </a: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C57790E-52F7-CC24-C086-6F2645C8386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9345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BF3FB-4CEA-BFD5-160F-4E32C910CC8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6A02768-926B-0E79-F70D-4EBF1C4AA4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276B050-B361-4454-8E95-00351286AF3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996C86E4-64DF-DF71-98FB-6AD204CA24C9}"/>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3EE62AAF-ADEE-2295-70EA-2DBDB57D08A4}"/>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5:</a:t>
            </a:r>
            <a:r>
              <a:rPr lang="en-US" sz="2000" b="1" dirty="0">
                <a:solidFill>
                  <a:srgbClr val="0C0D03"/>
                </a:solidFill>
                <a:latin typeface="Times New Roman" panose="02020603050405020304" pitchFamily="18" charset="0"/>
                <a:cs typeface="Times New Roman" panose="02020603050405020304" pitchFamily="18" charset="0"/>
              </a:rPr>
              <a:t> Build Conditional FP-Trees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Using the conditional pattern base, construct a smaller FP-tree for each item to identify frequent patterns involving that item. Butter’s conditional FP-tree input:</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(Bread, Milk): 1         (Bread): 1       (Milk): 1</a:t>
            </a:r>
            <a:endParaRPr lang="en-US" sz="2100" b="1"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Count all items: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Bread: 2        Milk: 2</a:t>
            </a:r>
          </a:p>
        </p:txBody>
      </p:sp>
      <p:pic>
        <p:nvPicPr>
          <p:cNvPr id="5" name="Picture 4">
            <a:extLst>
              <a:ext uri="{FF2B5EF4-FFF2-40B4-BE49-F238E27FC236}">
                <a16:creationId xmlns:a16="http://schemas.microsoft.com/office/drawing/2014/main" id="{DA55119D-B32E-FB35-D13D-03D8774BA41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718075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C39BA-564E-D4EE-A95C-DA26737ABD3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521C759-8D5D-A5D0-21EA-D282178F79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B8B9291-09E7-35DB-7103-F244BAA21AF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FBC25692-B459-83E4-5F20-0CB291EBA781}"/>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24040178-092F-33C4-C525-A6D13D5DEF6E}"/>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Since both meet the support threshold (≥2), we can now generate frequent patterns: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{Butter, Bread}</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{Butter, Milk}</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{Butter, Bread, Milk}</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Repeat the process for Milk and Bread as needed</a:t>
            </a: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8424AB10-F654-E8A5-1974-6E7DEA93D24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0238760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D153-6870-30FE-DF89-77939BEACA3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BCA5C08-9F25-F66E-4EF6-0468754072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49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2BDDF64-DA68-5455-2BA2-81BB39E4A79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E42B9AA9-9125-2CDE-CF65-A97B0038B09E}"/>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6DC55DE3-458A-5841-0FB4-B3569117BB85}"/>
              </a:ext>
            </a:extLst>
          </p:cNvPr>
          <p:cNvSpPr/>
          <p:nvPr/>
        </p:nvSpPr>
        <p:spPr bwMode="auto">
          <a:xfrm>
            <a:off x="323528" y="1742861"/>
            <a:ext cx="8622704" cy="440839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Step 6:</a:t>
            </a:r>
            <a:r>
              <a:rPr lang="en-US" sz="2000" b="1" dirty="0">
                <a:solidFill>
                  <a:srgbClr val="0C0D03"/>
                </a:solidFill>
                <a:latin typeface="Times New Roman" panose="02020603050405020304" pitchFamily="18" charset="0"/>
                <a:cs typeface="Times New Roman" panose="02020603050405020304" pitchFamily="18" charset="0"/>
              </a:rPr>
              <a:t> Extract All Frequent Itemsets</a:t>
            </a:r>
            <a:endParaRPr lang="en-US" sz="20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From the FP-tree and conditional trees, we get these frequent itemsets:</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{Bread}      {Milk}     {Butter}      {Bread, Milk}     {Bread, Butter}</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{Milk, Butter}       {Bread, Milk, Butter}</a:t>
            </a:r>
          </a:p>
          <a:p>
            <a:pPr algn="just" rtl="0" fontAlgn="base">
              <a:lnSpc>
                <a:spcPct val="150000"/>
              </a:lnSpc>
              <a:spcBef>
                <a:spcPct val="0"/>
              </a:spcBef>
              <a:spcAft>
                <a:spcPct val="0"/>
              </a:spcAft>
            </a:pPr>
            <a:r>
              <a:rPr lang="en-US" sz="2100" dirty="0">
                <a:solidFill>
                  <a:srgbClr val="0C0D03"/>
                </a:solidFill>
                <a:latin typeface="Times New Roman" panose="02020603050405020304" pitchFamily="18" charset="0"/>
                <a:cs typeface="Times New Roman" panose="02020603050405020304" pitchFamily="18" charset="0"/>
              </a:rPr>
              <a:t>    All of these appear at least 2 times in the transactions.</a:t>
            </a:r>
          </a:p>
        </p:txBody>
      </p:sp>
      <p:pic>
        <p:nvPicPr>
          <p:cNvPr id="5" name="Picture 4">
            <a:extLst>
              <a:ext uri="{FF2B5EF4-FFF2-40B4-BE49-F238E27FC236}">
                <a16:creationId xmlns:a16="http://schemas.microsoft.com/office/drawing/2014/main" id="{4A1ACE71-727D-D08B-40F2-F711353DBA0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80005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8C454-9065-34E0-8C20-8AE0EED7630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0B3BBDB-4004-182C-9B5F-D67A3DD08E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68B8BCD-F356-D0D9-61B0-3C8EE2120FE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B8119C8A-970C-D12E-1090-50BABFA3139F}"/>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Working of FP- Growth Algorithm</a:t>
            </a:r>
          </a:p>
        </p:txBody>
      </p:sp>
      <p:sp>
        <p:nvSpPr>
          <p:cNvPr id="4" name="Rectangle: Rounded Corners 3">
            <a:extLst>
              <a:ext uri="{FF2B5EF4-FFF2-40B4-BE49-F238E27FC236}">
                <a16:creationId xmlns:a16="http://schemas.microsoft.com/office/drawing/2014/main" id="{BA5B7441-D7C0-3607-0DA5-6621E63F8B59}"/>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249BDFD2-0112-E296-AA72-EA01D5862A3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AAE31693-8818-0606-E3C0-E50DE6AD5B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375" y="2506369"/>
            <a:ext cx="8357463" cy="3398702"/>
          </a:xfrm>
          <a:prstGeom prst="rect">
            <a:avLst/>
          </a:prstGeom>
        </p:spPr>
      </p:pic>
    </p:spTree>
    <p:extLst>
      <p:ext uri="{BB962C8B-B14F-4D97-AF65-F5344CB8AC3E}">
        <p14:creationId xmlns:p14="http://schemas.microsoft.com/office/powerpoint/2010/main" val="403440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4E711-489C-62D1-A734-E6C20E1EA03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3BCB920-306E-1BDD-4454-BF84BB24B8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D2FB377C-D5E4-7ED0-D1BD-70A85D394EC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A9301D0-7DEC-3D34-F1D4-7EE5A9395670}"/>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FP-Growth vs. Apriori Algorithm</a:t>
            </a:r>
          </a:p>
        </p:txBody>
      </p:sp>
      <p:sp>
        <p:nvSpPr>
          <p:cNvPr id="4" name="Rectangle: Rounded Corners 3">
            <a:extLst>
              <a:ext uri="{FF2B5EF4-FFF2-40B4-BE49-F238E27FC236}">
                <a16:creationId xmlns:a16="http://schemas.microsoft.com/office/drawing/2014/main" id="{CD5E21CE-7479-B7F7-E25C-3A49953A7CA2}"/>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000">
                <a:solidFill>
                  <a:srgbClr val="0C0D03"/>
                </a:solidFill>
                <a:latin typeface="Times New Roman" panose="02020603050405020304" pitchFamily="18" charset="0"/>
                <a:cs typeface="Times New Roman" panose="02020603050405020304" pitchFamily="18" charset="0"/>
              </a:rPr>
              <a:t>.</a:t>
            </a: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BFB2F9-5CE1-E4CA-F538-5350F3E7E9D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11" name="Picture 10">
            <a:extLst>
              <a:ext uri="{FF2B5EF4-FFF2-40B4-BE49-F238E27FC236}">
                <a16:creationId xmlns:a16="http://schemas.microsoft.com/office/drawing/2014/main" id="{AB1177B6-0AEF-8ED9-EC48-E9EB4E46D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2088036"/>
            <a:ext cx="7069105" cy="4162467"/>
          </a:xfrm>
          <a:prstGeom prst="rect">
            <a:avLst/>
          </a:prstGeom>
        </p:spPr>
      </p:pic>
    </p:spTree>
    <p:extLst>
      <p:ext uri="{BB962C8B-B14F-4D97-AF65-F5344CB8AC3E}">
        <p14:creationId xmlns:p14="http://schemas.microsoft.com/office/powerpoint/2010/main" val="39533960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E730-0D34-6CD0-AD59-8703D9BAC8F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257C0E9-57B4-B61F-3390-134B587DB4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2648560-AA8A-D4B1-0BD8-44E36A7AAA5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0608BD13-E147-B807-9C33-BFE7B69E4C31}"/>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FP-Growth Algorithm</a:t>
            </a:r>
          </a:p>
        </p:txBody>
      </p:sp>
      <p:sp>
        <p:nvSpPr>
          <p:cNvPr id="4" name="Rectangle: Rounded Corners 3">
            <a:extLst>
              <a:ext uri="{FF2B5EF4-FFF2-40B4-BE49-F238E27FC236}">
                <a16:creationId xmlns:a16="http://schemas.microsoft.com/office/drawing/2014/main" id="{F4896BED-FB11-C241-ED85-3F82C8B77170}"/>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Applications :</a:t>
            </a:r>
            <a:endParaRPr lang="en-US" sz="2400" dirty="0">
              <a:solidFill>
                <a:srgbClr val="0C0D03"/>
              </a:solidFill>
              <a:latin typeface="Times New Roman" panose="02020603050405020304" pitchFamily="18" charset="0"/>
              <a:cs typeface="Times New Roman" panose="02020603050405020304" pitchFamily="18" charset="0"/>
            </a:endParaRPr>
          </a:p>
          <a:p>
            <a:pPr algn="just" rtl="0" fontAlgn="base">
              <a:lnSpc>
                <a:spcPct val="150000"/>
              </a:lnSpc>
              <a:spcBef>
                <a:spcPct val="0"/>
              </a:spcBef>
              <a:spcAft>
                <a:spcPct val="0"/>
              </a:spcAft>
            </a:pPr>
            <a:r>
              <a:rPr lang="en-US" sz="2000" b="1" dirty="0">
                <a:solidFill>
                  <a:srgbClr val="0C0D03"/>
                </a:solidFill>
                <a:latin typeface="Times New Roman" panose="02020603050405020304" pitchFamily="18" charset="0"/>
                <a:cs typeface="Times New Roman" panose="02020603050405020304" pitchFamily="18" charset="0"/>
              </a:rPr>
              <a:t>Market Basket Analysis: </a:t>
            </a:r>
            <a:r>
              <a:rPr lang="en-US" sz="2100" dirty="0">
                <a:solidFill>
                  <a:srgbClr val="0C0D03"/>
                </a:solidFill>
                <a:latin typeface="Times New Roman" panose="02020603050405020304" pitchFamily="18" charset="0"/>
                <a:cs typeface="Times New Roman" panose="02020603050405020304" pitchFamily="18" charset="0"/>
              </a:rPr>
              <a:t>Identifying items that are frequently purchased together.</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Recommendation Systems: </a:t>
            </a:r>
            <a:r>
              <a:rPr lang="en-US" sz="2100" dirty="0">
                <a:solidFill>
                  <a:srgbClr val="0C0D03"/>
                </a:solidFill>
                <a:latin typeface="Times New Roman" panose="02020603050405020304" pitchFamily="18" charset="0"/>
                <a:cs typeface="Times New Roman" panose="02020603050405020304" pitchFamily="18" charset="0"/>
              </a:rPr>
              <a:t>Suggesting products based on frequent item patterns.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Customer Behavior Analysis: </a:t>
            </a:r>
            <a:r>
              <a:rPr lang="en-US" sz="2100" dirty="0">
                <a:solidFill>
                  <a:srgbClr val="0C0D03"/>
                </a:solidFill>
                <a:latin typeface="Times New Roman" panose="02020603050405020304" pitchFamily="18" charset="0"/>
                <a:cs typeface="Times New Roman" panose="02020603050405020304" pitchFamily="18" charset="0"/>
              </a:rPr>
              <a:t>Understanding buying habits in retail and e-commerce.</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Web Usage Mining</a:t>
            </a:r>
            <a:r>
              <a:rPr lang="en-US" sz="2000" dirty="0">
                <a:solidFill>
                  <a:srgbClr val="0C0D03"/>
                </a:solidFill>
                <a:latin typeface="Times New Roman" panose="02020603050405020304" pitchFamily="18" charset="0"/>
                <a:cs typeface="Times New Roman" panose="02020603050405020304" pitchFamily="18" charset="0"/>
              </a:rPr>
              <a:t>: Finding common browsing or click paths among users.</a:t>
            </a:r>
          </a:p>
          <a:p>
            <a:pPr algn="just" rtl="0" fontAlgn="base">
              <a:lnSpc>
                <a:spcPct val="150000"/>
              </a:lnSpc>
              <a:spcBef>
                <a:spcPct val="0"/>
              </a:spcBef>
              <a:spcAft>
                <a:spcPct val="0"/>
              </a:spcAft>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Text Mining: </a:t>
            </a:r>
            <a:r>
              <a:rPr lang="en-US" sz="2000" dirty="0">
                <a:solidFill>
                  <a:srgbClr val="0C0D03"/>
                </a:solidFill>
                <a:latin typeface="Times New Roman" panose="02020603050405020304" pitchFamily="18" charset="0"/>
                <a:cs typeface="Times New Roman" panose="02020603050405020304" pitchFamily="18" charset="0"/>
              </a:rPr>
              <a:t>Detecting frequently occurring words or phrases in documents</a:t>
            </a:r>
          </a:p>
        </p:txBody>
      </p:sp>
      <p:pic>
        <p:nvPicPr>
          <p:cNvPr id="5" name="Picture 4">
            <a:extLst>
              <a:ext uri="{FF2B5EF4-FFF2-40B4-BE49-F238E27FC236}">
                <a16:creationId xmlns:a16="http://schemas.microsoft.com/office/drawing/2014/main" id="{B03D6309-3903-56DA-B37F-5CFA820372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680693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4EE32-1BAA-E446-7E87-2A298008724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0804288-30D8-BAE6-A4D7-34B59F9AD8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DDA9FA3-970C-7350-49DD-DB4BF7F0FFC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394CA5DC-42FE-C711-8599-CAA2A4D844DF}"/>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FP-Growth Algorithm</a:t>
            </a:r>
          </a:p>
        </p:txBody>
      </p:sp>
      <p:sp>
        <p:nvSpPr>
          <p:cNvPr id="4" name="Rectangle: Rounded Corners 3">
            <a:extLst>
              <a:ext uri="{FF2B5EF4-FFF2-40B4-BE49-F238E27FC236}">
                <a16:creationId xmlns:a16="http://schemas.microsoft.com/office/drawing/2014/main" id="{9F74F035-136F-4860-1C13-0D32B55BEC41}"/>
              </a:ext>
            </a:extLst>
          </p:cNvPr>
          <p:cNvSpPr/>
          <p:nvPr/>
        </p:nvSpPr>
        <p:spPr bwMode="auto">
          <a:xfrm>
            <a:off x="260648" y="2099755"/>
            <a:ext cx="8622704" cy="422325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Advantages :</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Times New Roman" panose="02020603050405020304" pitchFamily="18" charset="0"/>
                <a:cs typeface="Times New Roman" panose="02020603050405020304" pitchFamily="18" charset="0"/>
              </a:rPr>
              <a:t>No Candidate Generation: </a:t>
            </a:r>
            <a:r>
              <a:rPr lang="en-US" sz="2000" dirty="0">
                <a:solidFill>
                  <a:srgbClr val="0C0D03"/>
                </a:solidFill>
                <a:latin typeface="Times New Roman" panose="02020603050405020304" pitchFamily="18" charset="0"/>
                <a:cs typeface="Times New Roman" panose="02020603050405020304" pitchFamily="18" charset="0"/>
              </a:rPr>
              <a:t>FP-Growth avoids generating candidate sets, improving efficiency.</a:t>
            </a:r>
          </a:p>
          <a:p>
            <a:pPr marL="342900" indent="-342900" algn="just" rtl="0" fontAlgn="base">
              <a:lnSpc>
                <a:spcPct val="150000"/>
              </a:lnSpc>
              <a:spcBef>
                <a:spcPct val="0"/>
              </a:spcBef>
              <a:spcAft>
                <a:spcPct val="0"/>
              </a:spcAft>
              <a:buFont typeface="Arial" panose="020B0604020202020204" pitchFamily="34" charset="0"/>
              <a:buChar char="•"/>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Minimal Data Scans: </a:t>
            </a:r>
            <a:r>
              <a:rPr lang="en-US" sz="2000" dirty="0">
                <a:solidFill>
                  <a:srgbClr val="0C0D03"/>
                </a:solidFill>
                <a:latin typeface="Times New Roman" panose="02020603050405020304" pitchFamily="18" charset="0"/>
                <a:cs typeface="Times New Roman" panose="02020603050405020304" pitchFamily="18" charset="0"/>
              </a:rPr>
              <a:t>Only two database scans are required.</a:t>
            </a:r>
          </a:p>
          <a:p>
            <a:pPr marL="342900" indent="-342900" algn="just" rtl="0" fontAlgn="base">
              <a:lnSpc>
                <a:spcPct val="150000"/>
              </a:lnSpc>
              <a:spcBef>
                <a:spcPct val="0"/>
              </a:spcBef>
              <a:spcAft>
                <a:spcPct val="0"/>
              </a:spcAft>
              <a:buFont typeface="Arial" panose="020B0604020202020204" pitchFamily="34" charset="0"/>
              <a:buChar char="•"/>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High Performance on Large Data: </a:t>
            </a:r>
            <a:r>
              <a:rPr lang="en-US" sz="2000" dirty="0">
                <a:solidFill>
                  <a:srgbClr val="0C0D03"/>
                </a:solidFill>
                <a:latin typeface="Times New Roman" panose="02020603050405020304" pitchFamily="18" charset="0"/>
                <a:cs typeface="Times New Roman" panose="02020603050405020304" pitchFamily="18" charset="0"/>
              </a:rPr>
              <a:t>Works very well for big and dense datasets.</a:t>
            </a:r>
          </a:p>
          <a:p>
            <a:pPr marL="342900" indent="-342900" algn="just" rtl="0" fontAlgn="base">
              <a:lnSpc>
                <a:spcPct val="150000"/>
              </a:lnSpc>
              <a:spcBef>
                <a:spcPct val="0"/>
              </a:spcBef>
              <a:spcAft>
                <a:spcPct val="0"/>
              </a:spcAft>
              <a:buFont typeface="Arial" panose="020B0604020202020204" pitchFamily="34" charset="0"/>
              <a:buChar char="•"/>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Data Compression: </a:t>
            </a:r>
            <a:r>
              <a:rPr lang="en-US" sz="2000" dirty="0">
                <a:solidFill>
                  <a:srgbClr val="0C0D03"/>
                </a:solidFill>
                <a:latin typeface="Times New Roman" panose="02020603050405020304" pitchFamily="18" charset="0"/>
                <a:cs typeface="Times New Roman" panose="02020603050405020304" pitchFamily="18" charset="0"/>
              </a:rPr>
              <a:t>Uses an FP-tree to store transactions compactly.</a:t>
            </a:r>
          </a:p>
          <a:p>
            <a:pPr marL="342900" indent="-342900" algn="just" rtl="0" fontAlgn="base">
              <a:lnSpc>
                <a:spcPct val="150000"/>
              </a:lnSpc>
              <a:spcBef>
                <a:spcPct val="0"/>
              </a:spcBef>
              <a:spcAft>
                <a:spcPct val="0"/>
              </a:spcAft>
              <a:buFont typeface="Arial" panose="020B0604020202020204" pitchFamily="34" charset="0"/>
              <a:buChar char="•"/>
            </a:pPr>
            <a:r>
              <a:rPr lang="en-US" sz="2000" dirty="0">
                <a:solidFill>
                  <a:srgbClr val="0C0D03"/>
                </a:solidFill>
                <a:latin typeface="Times New Roman" panose="02020603050405020304" pitchFamily="18" charset="0"/>
                <a:cs typeface="Times New Roman" panose="02020603050405020304" pitchFamily="18" charset="0"/>
              </a:rPr>
              <a:t> </a:t>
            </a:r>
            <a:r>
              <a:rPr lang="en-US" sz="2000" b="1" dirty="0">
                <a:solidFill>
                  <a:srgbClr val="0C0D03"/>
                </a:solidFill>
                <a:latin typeface="Times New Roman" panose="02020603050405020304" pitchFamily="18" charset="0"/>
                <a:cs typeface="Times New Roman" panose="02020603050405020304" pitchFamily="18" charset="0"/>
              </a:rPr>
              <a:t>Scalable and Fast: </a:t>
            </a:r>
            <a:r>
              <a:rPr lang="en-US" sz="2000" dirty="0">
                <a:solidFill>
                  <a:srgbClr val="0C0D03"/>
                </a:solidFill>
                <a:latin typeface="Times New Roman" panose="02020603050405020304" pitchFamily="18" charset="0"/>
                <a:cs typeface="Times New Roman" panose="02020603050405020304" pitchFamily="18" charset="0"/>
              </a:rPr>
              <a:t>Capable of mining complex and large frequent patterns quickly.</a:t>
            </a:r>
          </a:p>
        </p:txBody>
      </p:sp>
      <p:pic>
        <p:nvPicPr>
          <p:cNvPr id="5" name="Picture 4">
            <a:extLst>
              <a:ext uri="{FF2B5EF4-FFF2-40B4-BE49-F238E27FC236}">
                <a16:creationId xmlns:a16="http://schemas.microsoft.com/office/drawing/2014/main" id="{898E302A-A6E1-6068-FB0B-A27C1264005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274466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0D3B8-C297-5A5B-868B-56E180F5864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696EA8B-002A-6D4B-A8A3-2D1DD6A873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5203697-C99B-DFE9-9CA1-EE795097F35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2</a:t>
            </a:r>
          </a:p>
        </p:txBody>
      </p:sp>
      <p:sp>
        <p:nvSpPr>
          <p:cNvPr id="3" name="TextBox 2">
            <a:extLst>
              <a:ext uri="{FF2B5EF4-FFF2-40B4-BE49-F238E27FC236}">
                <a16:creationId xmlns:a16="http://schemas.microsoft.com/office/drawing/2014/main" id="{4B23CF8C-88F9-F6EB-242E-8A8F7CE8B940}"/>
              </a:ext>
            </a:extLst>
          </p:cNvPr>
          <p:cNvSpPr txBox="1"/>
          <p:nvPr/>
        </p:nvSpPr>
        <p:spPr>
          <a:xfrm>
            <a:off x="1313384" y="1158593"/>
            <a:ext cx="7632848" cy="523220"/>
          </a:xfrm>
          <a:prstGeom prst="rect">
            <a:avLst/>
          </a:prstGeom>
          <a:noFill/>
        </p:spPr>
        <p:txBody>
          <a:bodyPr wrap="square" rtlCol="0">
            <a:spAutoFit/>
          </a:bodyPr>
          <a:lstStyle/>
          <a:p>
            <a:pPr algn="ctr"/>
            <a:r>
              <a:rPr lang="en-US" sz="2800" b="1" dirty="0">
                <a:solidFill>
                  <a:srgbClr val="0C0D03"/>
                </a:solidFill>
                <a:latin typeface="Times New Roman" panose="02020603050405020304" pitchFamily="18" charset="0"/>
                <a:cs typeface="Times New Roman" panose="02020603050405020304" pitchFamily="18" charset="0"/>
              </a:rPr>
              <a:t>FP-Growth Algorithm</a:t>
            </a:r>
          </a:p>
        </p:txBody>
      </p:sp>
      <p:sp>
        <p:nvSpPr>
          <p:cNvPr id="4" name="Rectangle: Rounded Corners 3">
            <a:extLst>
              <a:ext uri="{FF2B5EF4-FFF2-40B4-BE49-F238E27FC236}">
                <a16:creationId xmlns:a16="http://schemas.microsoft.com/office/drawing/2014/main" id="{02CB3051-777C-4E4A-139B-4BE0D052B76E}"/>
              </a:ext>
            </a:extLst>
          </p:cNvPr>
          <p:cNvSpPr/>
          <p:nvPr/>
        </p:nvSpPr>
        <p:spPr bwMode="auto">
          <a:xfrm>
            <a:off x="260648" y="1882983"/>
            <a:ext cx="8472190" cy="444003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rtl="0" fontAlgn="base">
              <a:lnSpc>
                <a:spcPct val="150000"/>
              </a:lnSpc>
              <a:spcBef>
                <a:spcPct val="0"/>
              </a:spcBef>
              <a:spcAft>
                <a:spcPct val="0"/>
              </a:spcAft>
            </a:pPr>
            <a:r>
              <a:rPr lang="en-US" sz="2400" b="1" dirty="0">
                <a:solidFill>
                  <a:srgbClr val="0C0D03"/>
                </a:solidFill>
                <a:latin typeface="Times New Roman" panose="02020603050405020304" pitchFamily="18" charset="0"/>
                <a:cs typeface="Times New Roman" panose="02020603050405020304" pitchFamily="18" charset="0"/>
              </a:rPr>
              <a:t>Limitations :</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Times New Roman" panose="02020603050405020304" pitchFamily="18" charset="0"/>
                <a:cs typeface="Times New Roman" panose="02020603050405020304" pitchFamily="18" charset="0"/>
              </a:rPr>
              <a:t>High Memory Usage: </a:t>
            </a:r>
            <a:r>
              <a:rPr lang="en-US" sz="2100" dirty="0">
                <a:solidFill>
                  <a:srgbClr val="0C0D03"/>
                </a:solidFill>
                <a:latin typeface="Times New Roman" panose="02020603050405020304" pitchFamily="18" charset="0"/>
                <a:cs typeface="Times New Roman" panose="02020603050405020304" pitchFamily="18" charset="0"/>
              </a:rPr>
              <a:t>FP-tree can become large, consuming significant memory.</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Times New Roman" panose="02020603050405020304" pitchFamily="18" charset="0"/>
                <a:cs typeface="Times New Roman" panose="02020603050405020304" pitchFamily="18" charset="0"/>
              </a:rPr>
              <a:t>Complex Implementation: </a:t>
            </a:r>
            <a:r>
              <a:rPr lang="en-US" sz="2100" dirty="0">
                <a:solidFill>
                  <a:srgbClr val="0C0D03"/>
                </a:solidFill>
                <a:latin typeface="Times New Roman" panose="02020603050405020304" pitchFamily="18" charset="0"/>
                <a:cs typeface="Times New Roman" panose="02020603050405020304" pitchFamily="18" charset="0"/>
              </a:rPr>
              <a:t>Harder to understand and implement than Apriori.</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Times New Roman" panose="02020603050405020304" pitchFamily="18" charset="0"/>
                <a:cs typeface="Times New Roman" panose="02020603050405020304" pitchFamily="18" charset="0"/>
              </a:rPr>
              <a:t>Heavy Conditional Mining: </a:t>
            </a:r>
            <a:r>
              <a:rPr lang="en-US" sz="2100" dirty="0">
                <a:solidFill>
                  <a:srgbClr val="0C0D03"/>
                </a:solidFill>
                <a:latin typeface="Times New Roman" panose="02020603050405020304" pitchFamily="18" charset="0"/>
                <a:cs typeface="Times New Roman" panose="02020603050405020304" pitchFamily="18" charset="0"/>
              </a:rPr>
              <a:t>Building conditional FP-trees can be computationally costly.</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Times New Roman" panose="02020603050405020304" pitchFamily="18" charset="0"/>
                <a:cs typeface="Times New Roman" panose="02020603050405020304" pitchFamily="18" charset="0"/>
              </a:rPr>
              <a:t>Poor for Diverse Transactions: </a:t>
            </a:r>
            <a:r>
              <a:rPr lang="en-US" sz="2100" dirty="0">
                <a:solidFill>
                  <a:srgbClr val="0C0D03"/>
                </a:solidFill>
                <a:latin typeface="Times New Roman" panose="02020603050405020304" pitchFamily="18" charset="0"/>
                <a:cs typeface="Times New Roman" panose="02020603050405020304" pitchFamily="18" charset="0"/>
              </a:rPr>
              <a:t>Not ideal when transactions have many unique items.</a:t>
            </a:r>
          </a:p>
        </p:txBody>
      </p:sp>
      <p:pic>
        <p:nvPicPr>
          <p:cNvPr id="5" name="Picture 4">
            <a:extLst>
              <a:ext uri="{FF2B5EF4-FFF2-40B4-BE49-F238E27FC236}">
                <a16:creationId xmlns:a16="http://schemas.microsoft.com/office/drawing/2014/main" id="{CD856D3B-8455-F8BC-9F7A-753C3FD78473}"/>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2034042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3BA38-C3C7-5497-2E9F-C00798E6F1E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F4B30CA-C8F5-7F34-092D-4D67101372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C6329CE-798D-DA5D-FBBB-0F79ECAC8BD8}"/>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rPr>
              <a:t>3</a:t>
            </a:r>
          </a:p>
        </p:txBody>
      </p:sp>
      <p:sp>
        <p:nvSpPr>
          <p:cNvPr id="3" name="TextBox 2">
            <a:extLst>
              <a:ext uri="{FF2B5EF4-FFF2-40B4-BE49-F238E27FC236}">
                <a16:creationId xmlns:a16="http://schemas.microsoft.com/office/drawing/2014/main" id="{7E8A5DDD-1AD4-6428-6E40-A87256FE2A9D}"/>
              </a:ext>
            </a:extLst>
          </p:cNvPr>
          <p:cNvSpPr txBox="1"/>
          <p:nvPr/>
        </p:nvSpPr>
        <p:spPr>
          <a:xfrm>
            <a:off x="755576" y="2828835"/>
            <a:ext cx="7632848" cy="769441"/>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Methodology</a:t>
            </a:r>
          </a:p>
        </p:txBody>
      </p:sp>
      <p:pic>
        <p:nvPicPr>
          <p:cNvPr id="4" name="Picture 3">
            <a:extLst>
              <a:ext uri="{FF2B5EF4-FFF2-40B4-BE49-F238E27FC236}">
                <a16:creationId xmlns:a16="http://schemas.microsoft.com/office/drawing/2014/main" id="{77B0DD71-A6EB-86C0-155A-626C801653E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83795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D13E-DBE8-BA32-926A-78D1647D2CA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FBD1A39-6A49-6DC4-F4D7-F92D800BD22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4BE5DE1-3F52-9441-F9B4-65AD3FFAED0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4F62FD18-81CE-B68D-41F5-4DAD937BD4CA}"/>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Market Basket Analysis </a:t>
            </a:r>
          </a:p>
        </p:txBody>
      </p:sp>
      <p:sp>
        <p:nvSpPr>
          <p:cNvPr id="4" name="Rectangle: Rounded Corners 3">
            <a:extLst>
              <a:ext uri="{FF2B5EF4-FFF2-40B4-BE49-F238E27FC236}">
                <a16:creationId xmlns:a16="http://schemas.microsoft.com/office/drawing/2014/main" id="{724D4024-6510-19A1-68DC-179121393813}"/>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In this project In the first step Apriori Algorithm was used to implement this project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Apriori Algorithm is a basic method used in data analysis to find groups of items that often appear together in large sets of data. It helps to discover useful patterns or rules about how items are related which is particularly valuable in market basket analysis. like in a grocery store if many customers buy bread and butter together, the store can use this information to place these items closer or create special offers. This helps the store sell more and make customers happy</a:t>
            </a:r>
          </a:p>
        </p:txBody>
      </p:sp>
      <p:pic>
        <p:nvPicPr>
          <p:cNvPr id="5" name="Picture 4">
            <a:extLst>
              <a:ext uri="{FF2B5EF4-FFF2-40B4-BE49-F238E27FC236}">
                <a16:creationId xmlns:a16="http://schemas.microsoft.com/office/drawing/2014/main" id="{EE7798D0-F66D-FB65-E355-69F47BA169D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5402949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67C7-4168-2651-0F30-6485457DEE8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130AF0A-2463-77F5-1A8E-3D9A70ECE1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05ACDC5-C17F-490F-0184-6D4102044AA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92F4EE80-6C3B-B7F2-05E1-F871E811909E}"/>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Market Basket Analysis </a:t>
            </a:r>
          </a:p>
        </p:txBody>
      </p:sp>
      <p:sp>
        <p:nvSpPr>
          <p:cNvPr id="4" name="Rectangle: Rounded Corners 3">
            <a:extLst>
              <a:ext uri="{FF2B5EF4-FFF2-40B4-BE49-F238E27FC236}">
                <a16:creationId xmlns:a16="http://schemas.microsoft.com/office/drawing/2014/main" id="{544BABA4-19FD-1634-6182-EDAC7487DA5A}"/>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How the Apriori Algorithm Works :</a:t>
            </a:r>
          </a:p>
          <a:p>
            <a:pPr marL="0" marR="0" indent="0" algn="just" defTabSz="914400" rtl="0" eaLnBrk="1" fontAlgn="base" latinLnBrk="0" hangingPunct="1">
              <a:lnSpc>
                <a:spcPct val="20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1-. Identifying Frequent Item-Sets</a:t>
            </a:r>
          </a:p>
          <a:p>
            <a:pPr marL="0" marR="0" indent="0" algn="just" defTabSz="914400" rtl="0" eaLnBrk="1" fontAlgn="base" latinLnBrk="0" hangingPunct="1">
              <a:lnSpc>
                <a:spcPct val="20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2-Creating Possible Item Group</a:t>
            </a:r>
          </a:p>
          <a:p>
            <a:pPr marL="0" marR="0" indent="0" algn="just" defTabSz="914400" rtl="0" eaLnBrk="1" fontAlgn="base" latinLnBrk="0" hangingPunct="1">
              <a:lnSpc>
                <a:spcPct val="20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3-Removing Infrequent Item Groups</a:t>
            </a:r>
          </a:p>
          <a:p>
            <a:pPr marL="0" marR="0" indent="0" algn="just" defTabSz="914400" rtl="0" eaLnBrk="1" fontAlgn="base" latinLnBrk="0" hangingPunct="1">
              <a:lnSpc>
                <a:spcPct val="20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4-Generating Association Rules</a:t>
            </a:r>
          </a:p>
          <a:p>
            <a:pPr marL="0" marR="0" indent="0" algn="just" defTabSz="914400" rtl="0" eaLnBrk="1" fontAlgn="base" latinLnBrk="0" hangingPunct="1">
              <a:lnSpc>
                <a:spcPts val="3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88F1DEB-D7AA-FA63-D83C-3DD5B746866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737565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D0ED4-1F49-1006-5DF5-23C0BB26904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14BD7E6-E592-7FE5-033F-2062E5451D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C64159C-C254-9B98-992B-E276ED7C7BE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711F1CFC-A90B-9CD0-5419-9696BCAC6A3E}"/>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Market Basket Analysis </a:t>
            </a:r>
          </a:p>
        </p:txBody>
      </p:sp>
      <p:sp>
        <p:nvSpPr>
          <p:cNvPr id="4" name="Rectangle: Rounded Corners 3">
            <a:extLst>
              <a:ext uri="{FF2B5EF4-FFF2-40B4-BE49-F238E27FC236}">
                <a16:creationId xmlns:a16="http://schemas.microsoft.com/office/drawing/2014/main" id="{CBD491E3-65E8-5A99-B16A-B73D08665F7C}"/>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In the second step , Frequent Pattern Growth Algorithm was used to implement this project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 FP-Growth (Frequent Pattern Growth) algorithm efficiently mines frequent itemsets from large transactional datasets. Unlike the Apriori algorithm which suffers from high computational cost due to candidate generation and multiple database scans. FP-Growth avoids these inefficiencies by compressing the data into an FP-Tree (Frequent Pattern Tree) and extracts patterns directly from it.</a:t>
            </a:r>
          </a:p>
        </p:txBody>
      </p:sp>
      <p:pic>
        <p:nvPicPr>
          <p:cNvPr id="5" name="Picture 4">
            <a:extLst>
              <a:ext uri="{FF2B5EF4-FFF2-40B4-BE49-F238E27FC236}">
                <a16:creationId xmlns:a16="http://schemas.microsoft.com/office/drawing/2014/main" id="{3C7106B2-F398-A035-FFFD-8FEF78DDFA8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000081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762F-2F88-DA2C-899F-5D6A42E0E12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61EAFB8-4B23-8F9A-D173-1E57B783D0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59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F71A996-7D9F-C4C2-4603-79E2D7D6632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3</a:t>
            </a:r>
          </a:p>
        </p:txBody>
      </p:sp>
      <p:sp>
        <p:nvSpPr>
          <p:cNvPr id="3" name="TextBox 2">
            <a:extLst>
              <a:ext uri="{FF2B5EF4-FFF2-40B4-BE49-F238E27FC236}">
                <a16:creationId xmlns:a16="http://schemas.microsoft.com/office/drawing/2014/main" id="{8DF93CB5-D9F9-F37B-AEBE-31821D88E970}"/>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Market Basket Analysis </a:t>
            </a:r>
          </a:p>
        </p:txBody>
      </p:sp>
      <p:sp>
        <p:nvSpPr>
          <p:cNvPr id="4" name="Rectangle: Rounded Corners 3">
            <a:extLst>
              <a:ext uri="{FF2B5EF4-FFF2-40B4-BE49-F238E27FC236}">
                <a16:creationId xmlns:a16="http://schemas.microsoft.com/office/drawing/2014/main" id="{238821A5-1769-FD26-6516-347C34C98F44}"/>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ts val="3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How FP-Growth Works :</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1.Data Compression: </a:t>
            </a:r>
            <a:r>
              <a:rPr lang="en-US" sz="2100" dirty="0">
                <a:solidFill>
                  <a:srgbClr val="0C0D03"/>
                </a:solidFill>
                <a:latin typeface="Times New Roman" panose="02020603050405020304" pitchFamily="18" charset="0"/>
                <a:cs typeface="Times New Roman" panose="02020603050405020304" pitchFamily="18" charset="0"/>
              </a:rPr>
              <a:t>First FP-Growth compresses the dataset into a smaller structure called the Frequent Pattern Tree (FP-Tree). </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2.Mining the Tree: </a:t>
            </a:r>
            <a:r>
              <a:rPr lang="en-US" sz="2100" dirty="0">
                <a:solidFill>
                  <a:srgbClr val="0C0D03"/>
                </a:solidFill>
                <a:latin typeface="Times New Roman" panose="02020603050405020304" pitchFamily="18" charset="0"/>
                <a:cs typeface="Times New Roman" panose="02020603050405020304" pitchFamily="18" charset="0"/>
              </a:rPr>
              <a:t>The algorithm then examines this tree to identify patterns that appear frequently based on a minimum support threshold</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3.Generating Patterns: </a:t>
            </a:r>
            <a:r>
              <a:rPr lang="en-US" sz="2100" dirty="0">
                <a:solidFill>
                  <a:srgbClr val="0C0D03"/>
                </a:solidFill>
                <a:latin typeface="Times New Roman" panose="02020603050405020304" pitchFamily="18" charset="0"/>
                <a:cs typeface="Times New Roman" panose="02020603050405020304" pitchFamily="18" charset="0"/>
              </a:rPr>
              <a:t>Once the tree is built and analyzed the algorithm generates the frequent patterns (itemsets) and the rules that describe relationships between items.</a:t>
            </a:r>
          </a:p>
          <a:p>
            <a:pPr marL="0" marR="0" indent="0" algn="just" defTabSz="914400" rtl="0" eaLnBrk="1" fontAlgn="base" latinLnBrk="0" hangingPunct="1">
              <a:lnSpc>
                <a:spcPts val="3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408218C-E308-531B-A665-7DC917C28C3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5160658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17F56-6D8E-EFA4-B839-519277C4EA9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EE751E4-0D4C-AA53-CA44-C8433C41B3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50C80C8-B853-A73A-B78F-CE8B6CEE98DF}"/>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rPr>
              <a:t>4</a:t>
            </a:r>
          </a:p>
        </p:txBody>
      </p:sp>
      <p:sp>
        <p:nvSpPr>
          <p:cNvPr id="3" name="TextBox 2">
            <a:extLst>
              <a:ext uri="{FF2B5EF4-FFF2-40B4-BE49-F238E27FC236}">
                <a16:creationId xmlns:a16="http://schemas.microsoft.com/office/drawing/2014/main" id="{C1BC811A-1C23-26A0-050F-8F50B1CC2DE3}"/>
              </a:ext>
            </a:extLst>
          </p:cNvPr>
          <p:cNvSpPr txBox="1"/>
          <p:nvPr/>
        </p:nvSpPr>
        <p:spPr>
          <a:xfrm>
            <a:off x="755576" y="2828835"/>
            <a:ext cx="7632848" cy="769441"/>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DATASET   </a:t>
            </a:r>
          </a:p>
        </p:txBody>
      </p:sp>
      <p:pic>
        <p:nvPicPr>
          <p:cNvPr id="4" name="Picture 3">
            <a:extLst>
              <a:ext uri="{FF2B5EF4-FFF2-40B4-BE49-F238E27FC236}">
                <a16:creationId xmlns:a16="http://schemas.microsoft.com/office/drawing/2014/main" id="{C50AD242-678F-7D55-1500-B40B3B193F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193778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40C8F-1E6E-5E2D-A2CB-2004A90E9EA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014BDCB-C35B-7B6E-F619-30E63D94E6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E96ECD8-2799-E16B-FE45-0D11528784C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C331E7B-9D7D-9C19-5D01-7C4F2D2A283C}"/>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Groceries Market Basket Dataset </a:t>
            </a:r>
          </a:p>
        </p:txBody>
      </p:sp>
      <p:sp>
        <p:nvSpPr>
          <p:cNvPr id="4" name="Rectangle: Rounded Corners 3">
            <a:extLst>
              <a:ext uri="{FF2B5EF4-FFF2-40B4-BE49-F238E27FC236}">
                <a16:creationId xmlns:a16="http://schemas.microsoft.com/office/drawing/2014/main" id="{702BFE15-8D2E-4B6E-4496-EB17F828C405}"/>
              </a:ext>
            </a:extLst>
          </p:cNvPr>
          <p:cNvSpPr/>
          <p:nvPr/>
        </p:nvSpPr>
        <p:spPr bwMode="auto">
          <a:xfrm>
            <a:off x="659594" y="2248275"/>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 Groceries Market Basket Dataset is a widely used benchmark dataset for market basket analysis and association rule mining. It represents real-world grocery shopping transactions and is suitable for discovering purchasing patterns among items.</a:t>
            </a:r>
          </a:p>
        </p:txBody>
      </p:sp>
      <p:pic>
        <p:nvPicPr>
          <p:cNvPr id="5" name="Picture 4">
            <a:extLst>
              <a:ext uri="{FF2B5EF4-FFF2-40B4-BE49-F238E27FC236}">
                <a16:creationId xmlns:a16="http://schemas.microsoft.com/office/drawing/2014/main" id="{39DDC352-6498-423F-4935-7FE502AD1B6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2528180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2B3A-C2BF-0AC2-C552-5F6D5D438EE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0DD89FE-2F83-7DB3-0969-BFE499BAB43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DB2884F-B49E-C9D3-CFF8-95981C05A8D8}"/>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A02E73C-3DF6-1A37-F759-6A75185B12C4}"/>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Groceries Market Basket Dataset </a:t>
            </a:r>
          </a:p>
        </p:txBody>
      </p:sp>
      <p:sp>
        <p:nvSpPr>
          <p:cNvPr id="4" name="Rectangle: Rounded Corners 3">
            <a:extLst>
              <a:ext uri="{FF2B5EF4-FFF2-40B4-BE49-F238E27FC236}">
                <a16:creationId xmlns:a16="http://schemas.microsoft.com/office/drawing/2014/main" id="{E25F76F1-7CF4-6FAF-71B9-C0E55DC49361}"/>
              </a:ext>
            </a:extLst>
          </p:cNvPr>
          <p:cNvSpPr/>
          <p:nvPr/>
        </p:nvSpPr>
        <p:spPr bwMode="auto">
          <a:xfrm>
            <a:off x="667942" y="2204864"/>
            <a:ext cx="8064896" cy="3651448"/>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Dataset Overview</a:t>
            </a: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r>
              <a:rPr lang="en-US" sz="2100" dirty="0">
                <a:solidFill>
                  <a:srgbClr val="0C0D03"/>
                </a:solidFill>
                <a:latin typeface="Times New Roman" panose="02020603050405020304" pitchFamily="18" charset="0"/>
                <a:cs typeface="Times New Roman" panose="02020603050405020304" pitchFamily="18" charset="0"/>
              </a:rPr>
              <a:t>Total number of transactions: 9,835</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 Total number of unique items: 169</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 Domain: Retail / Grocery shopping</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 Data type: Transactional data</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Each transaction corresponds to a single customer visit to a grocery store and contains a list of items purchased together during that visit</a:t>
            </a:r>
            <a:r>
              <a:rPr lang="en-US" sz="2000" dirty="0">
                <a:solidFill>
                  <a:srgbClr val="0C0D03"/>
                </a:solidFill>
                <a:latin typeface="Times New Roman" panose="02020603050405020304" pitchFamily="18" charset="0"/>
                <a:cs typeface="Times New Roman" panose="02020603050405020304" pitchFamily="18" charset="0"/>
              </a:rPr>
              <a:t>.</a:t>
            </a:r>
          </a:p>
        </p:txBody>
      </p:sp>
      <p:pic>
        <p:nvPicPr>
          <p:cNvPr id="5" name="Picture 4">
            <a:extLst>
              <a:ext uri="{FF2B5EF4-FFF2-40B4-BE49-F238E27FC236}">
                <a16:creationId xmlns:a16="http://schemas.microsoft.com/office/drawing/2014/main" id="{B5E2762A-F52C-668A-6149-D06084A997F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7163368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E51D0-D03A-7729-6668-61E94C0DCD4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567943C-D920-22FC-FF39-C8292DB4F7E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6B8127B-C627-2FA5-837A-FB7B2E90A06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FC4E6A5-EFB5-A339-4D21-E9F274457DF8}"/>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Groceries Market Basket Dataset </a:t>
            </a:r>
          </a:p>
        </p:txBody>
      </p:sp>
      <p:sp>
        <p:nvSpPr>
          <p:cNvPr id="4" name="Rectangle: Rounded Corners 3">
            <a:extLst>
              <a:ext uri="{FF2B5EF4-FFF2-40B4-BE49-F238E27FC236}">
                <a16:creationId xmlns:a16="http://schemas.microsoft.com/office/drawing/2014/main" id="{59399BF6-930F-7DC1-3889-73189F98FDE7}"/>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Purpose and Suitability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 dataset is well suited for data mining tasks, particularly market basket analysis, because:</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 It contains multiple variables (items) per transaction</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 It reflects real purchasing behavior</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 It allows identification of frequent itemsets and association rules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F4D6E1-7991-C18C-D7D3-D608925F0C8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8965651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BE4D-4723-A5D3-F66B-CBDF74039B0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A593F12-B760-1952-61F0-7B1659556A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7D55EC9-1C59-6A6D-FD21-F3ACAC86011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4</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199DEFB-ABED-D1F9-5274-2CC8874E5435}"/>
              </a:ext>
            </a:extLst>
          </p:cNvPr>
          <p:cNvSpPr txBox="1"/>
          <p:nvPr/>
        </p:nvSpPr>
        <p:spPr>
          <a:xfrm>
            <a:off x="1259632" y="1197622"/>
            <a:ext cx="7632848"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Groceries Market Basket Dataset </a:t>
            </a:r>
          </a:p>
        </p:txBody>
      </p:sp>
      <p:sp>
        <p:nvSpPr>
          <p:cNvPr id="4" name="Rectangle: Rounded Corners 3">
            <a:extLst>
              <a:ext uri="{FF2B5EF4-FFF2-40B4-BE49-F238E27FC236}">
                <a16:creationId xmlns:a16="http://schemas.microsoft.com/office/drawing/2014/main" id="{59AC6C21-F4A5-27BC-C1A2-A44E1EB1763D}"/>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91BD0DF-9FB7-D7CA-ECE1-AB6794CEE8B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graphicFrame>
        <p:nvGraphicFramePr>
          <p:cNvPr id="6" name="Table 5">
            <a:extLst>
              <a:ext uri="{FF2B5EF4-FFF2-40B4-BE49-F238E27FC236}">
                <a16:creationId xmlns:a16="http://schemas.microsoft.com/office/drawing/2014/main" id="{494B66A6-5BBF-F1AF-63F1-E397F1A4125B}"/>
              </a:ext>
            </a:extLst>
          </p:cNvPr>
          <p:cNvGraphicFramePr>
            <a:graphicFrameLocks noGrp="1"/>
          </p:cNvGraphicFramePr>
          <p:nvPr>
            <p:extLst>
              <p:ext uri="{D42A27DB-BD31-4B8C-83A1-F6EECF244321}">
                <p14:modId xmlns:p14="http://schemas.microsoft.com/office/powerpoint/2010/main" val="368103617"/>
              </p:ext>
            </p:extLst>
          </p:nvPr>
        </p:nvGraphicFramePr>
        <p:xfrm>
          <a:off x="457200" y="1861159"/>
          <a:ext cx="8229600" cy="4405884"/>
        </p:xfrm>
        <a:graphic>
          <a:graphicData uri="http://schemas.openxmlformats.org/drawingml/2006/table">
            <a:tbl>
              <a:tblPr firstRow="1" firstCol="1" bandRow="1">
                <a:tableStyleId>{5C22544A-7EE6-4342-B048-85BDC9FD1C3A}</a:tableStyleId>
              </a:tblPr>
              <a:tblGrid>
                <a:gridCol w="4114800">
                  <a:extLst>
                    <a:ext uri="{9D8B030D-6E8A-4147-A177-3AD203B41FA5}">
                      <a16:colId xmlns:a16="http://schemas.microsoft.com/office/drawing/2014/main" val="2266006969"/>
                    </a:ext>
                  </a:extLst>
                </a:gridCol>
                <a:gridCol w="4114800">
                  <a:extLst>
                    <a:ext uri="{9D8B030D-6E8A-4147-A177-3AD203B41FA5}">
                      <a16:colId xmlns:a16="http://schemas.microsoft.com/office/drawing/2014/main" val="3210212209"/>
                    </a:ext>
                  </a:extLst>
                </a:gridCol>
              </a:tblGrid>
              <a:tr h="0">
                <a:tc>
                  <a:txBody>
                    <a:bodyPr/>
                    <a:lstStyle/>
                    <a:p>
                      <a:pPr marL="0" marR="0" algn="ctr">
                        <a:lnSpc>
                          <a:spcPct val="150000"/>
                        </a:lnSpc>
                        <a:spcAft>
                          <a:spcPts val="800"/>
                        </a:spcAft>
                        <a:buNone/>
                        <a:tabLst>
                          <a:tab pos="6372225" algn="l"/>
                        </a:tabLst>
                      </a:pPr>
                      <a:r>
                        <a:rPr lang="en-US" sz="1800" kern="100">
                          <a:solidFill>
                            <a:srgbClr val="0C0D03"/>
                          </a:solidFill>
                          <a:effectLst/>
                        </a:rPr>
                        <a:t>Attribute</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Description</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977242134"/>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Dataset name</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Groceries Market Basket Dataset</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90444613"/>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Domain</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Retail / Grocery Shopping</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92977237"/>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Total number of transactions</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9,835</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4912400"/>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Total number of unique items</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169</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61811841"/>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Data type</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Transactional data</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98338966"/>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File format</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CSV</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90797073"/>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Nature of attributes</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Categorical (item names)</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30854063"/>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Missing values</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dirty="0">
                          <a:solidFill>
                            <a:srgbClr val="0C0D03"/>
                          </a:solidFill>
                          <a:effectLst/>
                        </a:rPr>
                        <a:t>None</a:t>
                      </a:r>
                      <a:endParaRPr lang="en-US" sz="1600"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78689637"/>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Average items per transaction</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dirty="0">
                          <a:solidFill>
                            <a:srgbClr val="0C0D03"/>
                          </a:solidFill>
                          <a:effectLst/>
                        </a:rPr>
                        <a:t>4 items</a:t>
                      </a:r>
                      <a:endParaRPr lang="en-US" sz="1600"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43917611"/>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Suitable algorithms</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a:solidFill>
                            <a:srgbClr val="0C0D03"/>
                          </a:solidFill>
                          <a:effectLst/>
                        </a:rPr>
                        <a:t>Apriori, FP-Growth</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02004340"/>
                  </a:ext>
                </a:extLst>
              </a:tr>
              <a:tr h="0">
                <a:tc>
                  <a:txBody>
                    <a:bodyPr/>
                    <a:lstStyle/>
                    <a:p>
                      <a:pPr marL="0" marR="0" algn="ctr">
                        <a:lnSpc>
                          <a:spcPct val="150000"/>
                        </a:lnSpc>
                        <a:spcAft>
                          <a:spcPts val="800"/>
                        </a:spcAft>
                        <a:buNone/>
                        <a:tabLst>
                          <a:tab pos="6372225" algn="l"/>
                        </a:tabLst>
                      </a:pPr>
                      <a:r>
                        <a:rPr lang="en-US" sz="1800" kern="100">
                          <a:solidFill>
                            <a:srgbClr val="0C0D03"/>
                          </a:solidFill>
                          <a:effectLst/>
                        </a:rPr>
                        <a:t>Primary application</a:t>
                      </a:r>
                      <a:endParaRPr lang="en-US" sz="1600"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kern="100" dirty="0">
                          <a:solidFill>
                            <a:srgbClr val="0C0D03"/>
                          </a:solidFill>
                          <a:effectLst/>
                        </a:rPr>
                        <a:t>Market Basket Analysis</a:t>
                      </a:r>
                      <a:endParaRPr lang="en-US" sz="1600"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65845687"/>
                  </a:ext>
                </a:extLst>
              </a:tr>
            </a:tbl>
          </a:graphicData>
        </a:graphic>
      </p:graphicFrame>
    </p:spTree>
    <p:extLst>
      <p:ext uri="{BB962C8B-B14F-4D97-AF65-F5344CB8AC3E}">
        <p14:creationId xmlns:p14="http://schemas.microsoft.com/office/powerpoint/2010/main" val="12875526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2004-DCB6-83A7-9B88-F56099CB17C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2EA6A71-3BD7-B5D1-74D4-9046256C12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DE6621D-FD4A-3C4C-7075-A99B9EE4F8C0}"/>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5</a:t>
            </a:r>
            <a:endPar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A2954E4-D40F-67BC-CBF7-0DE97263145F}"/>
              </a:ext>
            </a:extLst>
          </p:cNvPr>
          <p:cNvSpPr txBox="1"/>
          <p:nvPr/>
        </p:nvSpPr>
        <p:spPr>
          <a:xfrm>
            <a:off x="755576" y="2828835"/>
            <a:ext cx="7632848" cy="769441"/>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System Implementation   </a:t>
            </a:r>
          </a:p>
        </p:txBody>
      </p:sp>
      <p:pic>
        <p:nvPicPr>
          <p:cNvPr id="4" name="Picture 3">
            <a:extLst>
              <a:ext uri="{FF2B5EF4-FFF2-40B4-BE49-F238E27FC236}">
                <a16:creationId xmlns:a16="http://schemas.microsoft.com/office/drawing/2014/main" id="{B97D81CD-9161-3B4C-717F-A0767D294DA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326140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7CCAD-2EF2-3EDC-114D-61B8E8EDE2F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2648FEC-F773-51C7-37CB-F2CB0607AF0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29162F9-5D8C-C51C-8FEE-4D63F305095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68EC414-2A83-9C2A-0767-8D7515DB5C9B}"/>
              </a:ext>
            </a:extLst>
          </p:cNvPr>
          <p:cNvSpPr txBox="1"/>
          <p:nvPr/>
        </p:nvSpPr>
        <p:spPr>
          <a:xfrm>
            <a:off x="1873246" y="1197622"/>
            <a:ext cx="7019234" cy="646331"/>
          </a:xfrm>
          <a:prstGeom prst="rect">
            <a:avLst/>
          </a:prstGeom>
          <a:noFill/>
        </p:spPr>
        <p:txBody>
          <a:bodyPr wrap="square" rtlCol="0">
            <a:spAutoFit/>
          </a:bodyPr>
          <a:lstStyle/>
          <a:p>
            <a:pPr algn="ctr"/>
            <a:r>
              <a:rPr lang="en-US" sz="3600" b="1" dirty="0">
                <a:solidFill>
                  <a:srgbClr val="0C0D03"/>
                </a:solidFill>
                <a:latin typeface="Times New Roman" panose="02020603050405020304" pitchFamily="18" charset="0"/>
                <a:cs typeface="Times New Roman" panose="02020603050405020304" pitchFamily="18" charset="0"/>
              </a:rPr>
              <a:t>System Implementation </a:t>
            </a:r>
          </a:p>
        </p:txBody>
      </p:sp>
      <p:sp>
        <p:nvSpPr>
          <p:cNvPr id="4" name="Rectangle: Rounded Corners 3">
            <a:extLst>
              <a:ext uri="{FF2B5EF4-FFF2-40B4-BE49-F238E27FC236}">
                <a16:creationId xmlns:a16="http://schemas.microsoft.com/office/drawing/2014/main" id="{A04279F2-0337-A340-0A6A-8F75423D78B3}"/>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Apriori Algorithm Implementation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In this project, at first the Apriori algorithm was applied to the Groceries Market Basket Dataset to discover frequent itemsets and generate association rules. The dataset consists of transactional data, where each transaction represents a set of grocery items purchased together, making it suitable for association rule mining using Apriori.</a:t>
            </a:r>
          </a:p>
        </p:txBody>
      </p:sp>
      <p:pic>
        <p:nvPicPr>
          <p:cNvPr id="5" name="Picture 4">
            <a:extLst>
              <a:ext uri="{FF2B5EF4-FFF2-40B4-BE49-F238E27FC236}">
                <a16:creationId xmlns:a16="http://schemas.microsoft.com/office/drawing/2014/main" id="{28C7259C-2BA8-0422-971B-3D4EE4669BB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1679857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7E78-C8CC-DB88-F115-5BC77A1BD19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A27DAF3-52E7-5A9D-35AC-9508D798D6B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C181B3B-0978-7447-A301-CCC00E1D1B5D}"/>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5B8084-EFB1-2283-86B2-B4EDBA7E556F}"/>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
        <p:nvSpPr>
          <p:cNvPr id="4" name="Rectangle: Rounded Corners 3">
            <a:extLst>
              <a:ext uri="{FF2B5EF4-FFF2-40B4-BE49-F238E27FC236}">
                <a16:creationId xmlns:a16="http://schemas.microsoft.com/office/drawing/2014/main" id="{C2B8703F-6E05-0868-0EC0-97895DCC3022}"/>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0: Mount Google Drive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from google.colab import drive </a:t>
            </a: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This line imports the drive module provided by Google Colab.the module allows Colab notebooks to access files stored in the user's Google Drive.</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drive.mount('/content/drive')</a:t>
            </a: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This command mounts the user's Google Drive to the Colab virtual machine at the directory /content/drive.</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A4A929-DF6B-6C20-2A72-35155695607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C625B2E8-4756-3D10-77E0-A92C370820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3765" y="2852935"/>
            <a:ext cx="7492122" cy="697984"/>
          </a:xfrm>
          <a:prstGeom prst="rect">
            <a:avLst/>
          </a:prstGeom>
          <a:noFill/>
          <a:ln>
            <a:noFill/>
          </a:ln>
        </p:spPr>
      </p:pic>
    </p:spTree>
    <p:extLst>
      <p:ext uri="{BB962C8B-B14F-4D97-AF65-F5344CB8AC3E}">
        <p14:creationId xmlns:p14="http://schemas.microsoft.com/office/powerpoint/2010/main" val="604357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70A0-EEE8-B6D6-262A-51B1997246F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DCAF4E7-6C21-2936-C370-01D2BCC5EF3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56E9CAB-A305-680C-56E6-25C40215607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3EC0ED8-9CB7-9F1A-33B2-C1796130B864}"/>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 Load Groceries Market Basket Dataset: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transactions = []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initializes an empty list named transactions.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7E1A41-2CD5-34EB-AEE6-AD3D495DAED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0B8E4FDD-C887-C782-A8B7-F34CB94DAE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8613" y="2929401"/>
            <a:ext cx="5943600" cy="2155190"/>
          </a:xfrm>
          <a:prstGeom prst="rect">
            <a:avLst/>
          </a:prstGeom>
          <a:noFill/>
          <a:ln>
            <a:noFill/>
          </a:ln>
        </p:spPr>
      </p:pic>
      <p:sp>
        <p:nvSpPr>
          <p:cNvPr id="8" name="TextBox 7">
            <a:extLst>
              <a:ext uri="{FF2B5EF4-FFF2-40B4-BE49-F238E27FC236}">
                <a16:creationId xmlns:a16="http://schemas.microsoft.com/office/drawing/2014/main" id="{6F98A8EF-FE27-4E98-60F1-4D20A3E7EA1D}"/>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8936280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50B63-2C54-4E91-BE59-DC297252DA3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C30E903-A046-FD65-B30D-5198F63972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69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1383D36-0641-1A7D-C3BC-5046B9C89B2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1DCEBA2-4B41-1501-0E4A-58D3632EE9C8}"/>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 Load Groceries Market Basket Dataset:</a:t>
            </a:r>
          </a:p>
          <a:p>
            <a:pPr algn="just" rtl="0" fontAlgn="base">
              <a:lnSpc>
                <a:spcPct val="150000"/>
              </a:lnSpc>
              <a:spcBef>
                <a:spcPct val="0"/>
              </a:spcBef>
              <a:spcAft>
                <a:spcPct val="0"/>
              </a:spcAft>
            </a:pPr>
            <a:r>
              <a:rPr lang="en-US" sz="1600" b="1" dirty="0">
                <a:solidFill>
                  <a:srgbClr val="0C0D03"/>
                </a:solidFill>
                <a:latin typeface="Consolas" panose="020B0609020204030204" pitchFamily="49" charset="0"/>
                <a:cs typeface="Times New Roman" panose="02020603050405020304" pitchFamily="18" charset="0"/>
              </a:rPr>
              <a:t>With open("/content/drive/</a:t>
            </a:r>
            <a:r>
              <a:rPr lang="en-US" sz="1600" b="1" dirty="0" err="1">
                <a:solidFill>
                  <a:srgbClr val="0C0D03"/>
                </a:solidFill>
                <a:latin typeface="Consolas" panose="020B0609020204030204" pitchFamily="49" charset="0"/>
                <a:cs typeface="Times New Roman" panose="02020603050405020304" pitchFamily="18" charset="0"/>
              </a:rPr>
              <a:t>MyDrive</a:t>
            </a:r>
            <a:r>
              <a:rPr lang="en-US" sz="1600" b="1" dirty="0">
                <a:solidFill>
                  <a:srgbClr val="0C0D03"/>
                </a:solidFill>
                <a:latin typeface="Consolas" panose="020B0609020204030204" pitchFamily="49" charset="0"/>
                <a:cs typeface="Times New Roman" panose="02020603050405020304" pitchFamily="18" charset="0"/>
              </a:rPr>
              <a:t>/groceries.csv", "r") as file:</a:t>
            </a: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This statement opens the groceries.csv file in read mode from Google Drive. The </a:t>
            </a:r>
            <a:r>
              <a:rPr lang="en-US" sz="2400" b="1" dirty="0">
                <a:solidFill>
                  <a:srgbClr val="0C0D03"/>
                </a:solidFill>
                <a:latin typeface="Times New Roman" panose="02020603050405020304" pitchFamily="18" charset="0"/>
                <a:cs typeface="Times New Roman" panose="02020603050405020304" pitchFamily="18" charset="0"/>
              </a:rPr>
              <a:t>with</a:t>
            </a:r>
            <a:r>
              <a:rPr lang="en-US" sz="2000" dirty="0">
                <a:solidFill>
                  <a:srgbClr val="0C0D03"/>
                </a:solidFill>
                <a:latin typeface="Times New Roman" panose="02020603050405020304" pitchFamily="18" charset="0"/>
                <a:cs typeface="Times New Roman" panose="02020603050405020304" pitchFamily="18" charset="0"/>
              </a:rPr>
              <a:t> keyword ensures that the file is automatically closed after reading, improving memory safety and efficiency.</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for line in file:</a:t>
            </a: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This loop reads the dataset line by line, where each line corresponds to a single customer transaction</a:t>
            </a:r>
            <a:r>
              <a:rPr lang="en-US" sz="20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1C2BA99-07AE-96A5-C7AE-B6F56608374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95BAE3B3-E3AA-58FF-15B4-FBA0ADF13924}"/>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42724716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3315E-B16D-EF74-8F51-0131D79A038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E3459BC-9627-DC39-4CF8-5A60A2FB30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0B535FD-6D89-502E-CFFB-FD111C2141B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D368FCDB-733A-2297-7FBA-DAA11BF7AF26}"/>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 Load Groceries Market Basket Dataset:</a:t>
            </a:r>
          </a:p>
          <a:p>
            <a:pPr algn="just" rtl="0" fontAlgn="base">
              <a:lnSpc>
                <a:spcPct val="150000"/>
              </a:lnSpc>
              <a:spcBef>
                <a:spcPct val="0"/>
              </a:spcBef>
              <a:spcAft>
                <a:spcPct val="0"/>
              </a:spcAft>
            </a:pPr>
            <a:r>
              <a:rPr lang="en-US" sz="2000" b="1" dirty="0">
                <a:solidFill>
                  <a:srgbClr val="0C0D03"/>
                </a:solidFill>
                <a:latin typeface="Consolas" panose="020B0609020204030204" pitchFamily="49" charset="0"/>
                <a:cs typeface="Times New Roman" panose="02020603050405020304" pitchFamily="18" charset="0"/>
              </a:rPr>
              <a:t>items = </a:t>
            </a:r>
            <a:r>
              <a:rPr lang="en-US" sz="2000" b="1" dirty="0" err="1">
                <a:solidFill>
                  <a:srgbClr val="0C0D03"/>
                </a:solidFill>
                <a:latin typeface="Consolas" panose="020B0609020204030204" pitchFamily="49" charset="0"/>
                <a:cs typeface="Times New Roman" panose="02020603050405020304" pitchFamily="18" charset="0"/>
              </a:rPr>
              <a:t>line.strip</a:t>
            </a:r>
            <a:r>
              <a:rPr lang="en-US" sz="2000" b="1" dirty="0">
                <a:solidFill>
                  <a:srgbClr val="0C0D03"/>
                </a:solidFill>
                <a:latin typeface="Consolas" panose="020B0609020204030204" pitchFamily="49" charset="0"/>
                <a:cs typeface="Times New Roman" panose="02020603050405020304" pitchFamily="18" charset="0"/>
              </a:rPr>
              <a:t>().split(",")</a:t>
            </a:r>
          </a:p>
          <a:p>
            <a:pPr marL="342900" indent="-342900" algn="just" rtl="0" fontAlgn="base">
              <a:lnSpc>
                <a:spcPct val="150000"/>
              </a:lnSpc>
              <a:spcBef>
                <a:spcPct val="0"/>
              </a:spcBef>
              <a:spcAft>
                <a:spcPct val="0"/>
              </a:spcAft>
              <a:buFont typeface="Arial" panose="020B0604020202020204" pitchFamily="34" charset="0"/>
              <a:buChar char="•"/>
            </a:pPr>
            <a:r>
              <a:rPr lang="en-US" sz="2100" dirty="0">
                <a:solidFill>
                  <a:srgbClr val="0C0D03"/>
                </a:solidFill>
                <a:latin typeface="Times New Roman" panose="02020603050405020304" pitchFamily="18" charset="0"/>
                <a:cs typeface="Times New Roman" panose="02020603050405020304" pitchFamily="18" charset="0"/>
              </a:rPr>
              <a:t>strip() removes extra spaces and newline characters from the line</a:t>
            </a:r>
          </a:p>
          <a:p>
            <a:pPr marL="342900" indent="-342900" algn="just" rtl="0" fontAlgn="base">
              <a:lnSpc>
                <a:spcPct val="150000"/>
              </a:lnSpc>
              <a:spcBef>
                <a:spcPct val="0"/>
              </a:spcBef>
              <a:spcAft>
                <a:spcPct val="0"/>
              </a:spcAft>
              <a:buFont typeface="Arial" panose="020B0604020202020204" pitchFamily="34" charset="0"/>
              <a:buChar char="•"/>
            </a:pPr>
            <a:r>
              <a:rPr lang="en-US" sz="2100" dirty="0">
                <a:solidFill>
                  <a:srgbClr val="0C0D03"/>
                </a:solidFill>
                <a:latin typeface="Times New Roman" panose="02020603050405020304" pitchFamily="18" charset="0"/>
                <a:cs typeface="Times New Roman" panose="02020603050405020304" pitchFamily="18" charset="0"/>
              </a:rPr>
              <a:t>split(",") separates the line into individual grocery items using commas as delimiters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7310322-C349-D166-3E77-3299CE1F245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C87B9A8B-85DE-2BC1-2A88-D3E51B709CA9}"/>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35754126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A07D2-86BD-AE22-34CA-8A27E58A21C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2BB4441-D509-9F54-ACEE-FACEDFC455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BE1EEAD-959A-0154-6CEC-D05557C02F7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112B243-28E5-8150-6690-08CD4CB6208E}"/>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 Load Groceries Market Basket Dataset:</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transactions.append(items)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Each processed transaction (list of items) is appended to the transactions list. After this step, transactions becomes a list of lists, suitable for association rule mining</a:t>
            </a:r>
          </a:p>
          <a:p>
            <a:pPr marL="0" marR="0" indent="0" algn="just" defTabSz="914400" rtl="0" eaLnBrk="1" fontAlgn="base" latinLnBrk="0" hangingPunct="1">
              <a:lnSpc>
                <a:spcPct val="150000"/>
              </a:lnSpc>
              <a:spcBef>
                <a:spcPct val="0"/>
              </a:spcBef>
              <a:spcAft>
                <a:spcPct val="0"/>
              </a:spcAft>
              <a:buClrTx/>
              <a:buSzTx/>
              <a:buFontTx/>
              <a:buNone/>
              <a:tabLst/>
            </a:pPr>
            <a:r>
              <a:rPr lang="en-US" b="1" dirty="0">
                <a:solidFill>
                  <a:srgbClr val="0C0D03"/>
                </a:solidFill>
                <a:latin typeface="Consolas" panose="020B0609020204030204" pitchFamily="49" charset="0"/>
                <a:cs typeface="Times New Roman" panose="02020603050405020304" pitchFamily="18" charset="0"/>
              </a:rPr>
              <a:t>print("Total number of transactions:", </a:t>
            </a:r>
            <a:r>
              <a:rPr lang="en-US" b="1" dirty="0" err="1">
                <a:solidFill>
                  <a:srgbClr val="0C0D03"/>
                </a:solidFill>
                <a:latin typeface="Consolas" panose="020B0609020204030204" pitchFamily="49" charset="0"/>
                <a:cs typeface="Times New Roman" panose="02020603050405020304" pitchFamily="18" charset="0"/>
              </a:rPr>
              <a:t>len</a:t>
            </a:r>
            <a:r>
              <a:rPr lang="en-US" b="1" dirty="0">
                <a:solidFill>
                  <a:srgbClr val="0C0D03"/>
                </a:solidFill>
                <a:latin typeface="Consolas" panose="020B0609020204030204" pitchFamily="49" charset="0"/>
                <a:cs typeface="Times New Roman" panose="02020603050405020304" pitchFamily="18" charset="0"/>
              </a:rPr>
              <a:t>(transactions))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prints the total number of transactions loaded from the dataset, which should be 9,835 for the Groceries dataset.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8EAE44A-AA02-5DD3-2BE1-23792F97040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613DF9BA-755D-A76F-BFC5-53B8150C32C8}"/>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9778126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37848-7AEA-0DD7-CF8A-4CABA932F0F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E74E63E-B1F2-9C07-45C6-5D523AF164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BD39F50-D991-E789-FE7C-C5E661F29A8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7210972-705C-175F-DA40-CD6AA80CBCC5}"/>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 Load Groceries Market Basket Dataset:</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print("First 5 transactions:")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print(transactions[:5])</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These lines display the first five transactions to verify that the dataset has been loaded correctly and to inspect its structure.</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13D65CA-A203-C33D-970B-885723CEAC4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748BB16B-FD7F-4FAA-088D-93E96CFE5122}"/>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41111606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8B97-5EBC-61B4-5D89-5629644E611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2E41A76-4D06-6558-6D2E-12230A71A95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8C0D9A8-DC7E-9ED1-E545-C53A7DBC01C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3734CD8-A288-6B68-5A11-0467506EE246}"/>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 Data Preprocessing (One-Hot Encoding)</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Data Preprocessing Section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After loading the Groceries dataset, one-hot encoding was applied to transform the transactional data into a binary matrix</a:t>
            </a: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B02DB9D-CA14-6F12-A2BE-5FD3AB504D6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CCC9FF6C-ACFF-A55E-1B5E-AD5D49166C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4315622"/>
            <a:ext cx="5574352" cy="1946259"/>
          </a:xfrm>
          <a:prstGeom prst="rect">
            <a:avLst/>
          </a:prstGeom>
          <a:noFill/>
          <a:ln>
            <a:noFill/>
          </a:ln>
        </p:spPr>
      </p:pic>
      <p:sp>
        <p:nvSpPr>
          <p:cNvPr id="7" name="TextBox 6">
            <a:extLst>
              <a:ext uri="{FF2B5EF4-FFF2-40B4-BE49-F238E27FC236}">
                <a16:creationId xmlns:a16="http://schemas.microsoft.com/office/drawing/2014/main" id="{BD3A4018-E5EB-6B01-EDD3-CD4C7FA6559B}"/>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607684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AD7BB-AB9E-D2BC-8A78-262E0D0B5DB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73F024F-85D1-C0BB-952B-48062D0A57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98E29FA-305A-B7ED-4D6F-6683671284E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72B6555-B7A4-D9CB-AC92-2CF67256C81C}"/>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 Data Preprocessing (One-Hot Encoding)</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from mlxtend.preprocessing import TransactionEncoder </a:t>
            </a:r>
          </a:p>
          <a:p>
            <a:pPr algn="just" rtl="0" fontAlgn="base">
              <a:lnSpc>
                <a:spcPct val="150000"/>
              </a:lnSpc>
              <a:spcBef>
                <a:spcPct val="0"/>
              </a:spcBef>
              <a:spcAft>
                <a:spcPct val="0"/>
              </a:spcAft>
            </a:pPr>
            <a:r>
              <a:rPr lang="en-US" sz="2000" b="1" dirty="0">
                <a:solidFill>
                  <a:srgbClr val="0C0D03"/>
                </a:solidFill>
                <a:latin typeface="Consolas" panose="020B0609020204030204" pitchFamily="49" charset="0"/>
                <a:cs typeface="Times New Roman" panose="02020603050405020304" pitchFamily="18" charset="0"/>
              </a:rPr>
              <a:t>import pandas as pd :</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These lines import the required libraries: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TransactionEncoder from mlxtend, which converts transactional data into a binary format</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pandas, which is used to create and manipulate tabular data</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F1586AE-097C-5515-0D1C-F59C59EAC59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7" name="TextBox 6">
            <a:extLst>
              <a:ext uri="{FF2B5EF4-FFF2-40B4-BE49-F238E27FC236}">
                <a16:creationId xmlns:a16="http://schemas.microsoft.com/office/drawing/2014/main" id="{638FFFA4-F4E3-D418-278C-D3314E904B79}"/>
              </a:ext>
            </a:extLst>
          </p:cNvPr>
          <p:cNvSpPr txBox="1"/>
          <p:nvPr/>
        </p:nvSpPr>
        <p:spPr>
          <a:xfrm>
            <a:off x="1873246" y="1268760"/>
            <a:ext cx="6943698"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37042994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30193-F26E-3035-8D81-74E977FF01B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AD60A7E-CE62-BDE5-D6D6-A2B948CE8B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8A15C49-4594-4777-1F40-4FB3E2A10E4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2F33F70-2244-ADDE-C84C-A5C9629150B3}"/>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 Data Preprocessing (One-Hot Encoding)</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te = TransactionEncoder()</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creates an instance of the TransactionEncoder class.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 encoder will learn all unique items appearing in the transactions</a:t>
            </a: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te_array = </a:t>
            </a:r>
            <a:r>
              <a:rPr lang="en-US" sz="2000" b="1" dirty="0" err="1">
                <a:solidFill>
                  <a:srgbClr val="0C0D03"/>
                </a:solidFill>
                <a:latin typeface="Consolas" panose="020B0609020204030204" pitchFamily="49" charset="0"/>
                <a:cs typeface="Times New Roman" panose="02020603050405020304" pitchFamily="18" charset="0"/>
              </a:rPr>
              <a:t>te.fit</a:t>
            </a:r>
            <a:r>
              <a:rPr lang="en-US" sz="2000" b="1" dirty="0">
                <a:solidFill>
                  <a:srgbClr val="0C0D03"/>
                </a:solidFill>
                <a:latin typeface="Consolas" panose="020B0609020204030204" pitchFamily="49" charset="0"/>
                <a:cs typeface="Times New Roman" panose="02020603050405020304" pitchFamily="18" charset="0"/>
              </a:rPr>
              <a:t>(transactions).transform(transactions)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This line performs two operations: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1.fit(transactions)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2.transform(transactions)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6B38282-36BC-DB2E-2B30-1D9D18481D9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C2B26E8B-62F4-638E-C429-FF6CA939DDCD}"/>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6794882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DAA84-204D-5B2C-80B8-781E465D230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E61DBD6-C49D-DB29-F919-E414D24E17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A423362-9A08-129C-BFFD-3BBB9EAC2C1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FF63850-4C94-B89B-D2FE-67C9C3F1FBF4}"/>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 Data Preprocessing (One-Hot Encoding)</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df = pd.DataFrame(te_array, columns=te.columns_)</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converts the encoded array into a Pandas DataFrame:</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Each column corresponds to a grocery item</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Each row corresponds to a transaction</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Column names are taken from te.columns_, which stores item names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DataFrame is the required input format for the Apriori algorithm</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145F93-DB06-C3F4-56B3-B0B2E6EBB83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0279D5FE-ACEE-D5C0-5952-1128877CD0A2}"/>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27949436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E293B-C5B0-1FA4-B591-B77ADDED6E5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8701A58-A963-DD95-2527-28CEE763A1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8A31F97-B3B8-1E7C-5AF6-96BAFC0C8C5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F0CBDDE-E019-F549-4A35-0F6C6F5AE475}"/>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3: Apply Apriori Algorithm</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7F0FAC0-4472-5E9B-65E4-0A36F5EFF0B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6D31F080-7003-55A8-340A-007BD4F2C0D9}"/>
              </a:ext>
            </a:extLst>
          </p:cNvPr>
          <p:cNvPicPr>
            <a:picLocks noChangeAspect="1"/>
          </p:cNvPicPr>
          <p:nvPr/>
        </p:nvPicPr>
        <p:blipFill>
          <a:blip r:embed="rId3"/>
          <a:stretch>
            <a:fillRect/>
          </a:stretch>
        </p:blipFill>
        <p:spPr>
          <a:xfrm>
            <a:off x="769401" y="3040976"/>
            <a:ext cx="7467592" cy="2619402"/>
          </a:xfrm>
          <a:prstGeom prst="rect">
            <a:avLst/>
          </a:prstGeom>
        </p:spPr>
      </p:pic>
      <p:sp>
        <p:nvSpPr>
          <p:cNvPr id="7" name="TextBox 6">
            <a:extLst>
              <a:ext uri="{FF2B5EF4-FFF2-40B4-BE49-F238E27FC236}">
                <a16:creationId xmlns:a16="http://schemas.microsoft.com/office/drawing/2014/main" id="{0714FC8E-7330-870D-5D1F-9B879A15B27D}"/>
              </a:ext>
            </a:extLst>
          </p:cNvPr>
          <p:cNvSpPr txBox="1"/>
          <p:nvPr/>
        </p:nvSpPr>
        <p:spPr>
          <a:xfrm>
            <a:off x="1560680" y="1197622"/>
            <a:ext cx="7331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4416084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533E-DE5B-861E-2FC3-A001CE1307EA}"/>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F12E0D1-BEAA-A18A-42A5-671AD9FC71D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A1F06A7-5AB2-9D9E-B8A1-9AB52D99B25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66B75F9-5AFA-9B64-D82E-2D8AF9D99211}"/>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3: Apply Apriori Algorithm</a:t>
            </a:r>
          </a:p>
          <a:p>
            <a:pPr marL="0" marR="0" indent="0" algn="just" defTabSz="914400" rtl="0" eaLnBrk="1" fontAlgn="base" latinLnBrk="0" hangingPunct="1">
              <a:lnSpc>
                <a:spcPct val="150000"/>
              </a:lnSpc>
              <a:spcBef>
                <a:spcPct val="0"/>
              </a:spcBef>
              <a:spcAft>
                <a:spcPct val="0"/>
              </a:spcAft>
              <a:buClrTx/>
              <a:buSzTx/>
              <a:buFontTx/>
              <a:buNone/>
              <a:tabLst/>
            </a:pPr>
            <a:r>
              <a:rPr lang="en-US" sz="1700" b="1" dirty="0">
                <a:solidFill>
                  <a:srgbClr val="0C0D03"/>
                </a:solidFill>
                <a:latin typeface="Consolas" panose="020B0609020204030204" pitchFamily="49" charset="0"/>
                <a:cs typeface="Times New Roman" panose="02020603050405020304" pitchFamily="18" charset="0"/>
              </a:rPr>
              <a:t>from mlxtend.frequent_patterns import apriori, association_rules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apriori: the function used to generate frequent itemsets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association_rules: the function used later to generate association rules from frequent itemsets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Both functions are provided by the mlxtend library.</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BA704B3-D50F-D839-0F93-C53D8965E82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7" name="TextBox 6">
            <a:extLst>
              <a:ext uri="{FF2B5EF4-FFF2-40B4-BE49-F238E27FC236}">
                <a16:creationId xmlns:a16="http://schemas.microsoft.com/office/drawing/2014/main" id="{3D6D734B-9161-D253-B030-85A645B0328D}"/>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9672997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B720-EF9E-3BE0-EDE9-684A1BACFF5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B9C9A84-8E5D-EC96-85DD-DE1E46A101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79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C9628F3-6E9D-0210-EEA1-D9AE2F39CE3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9B07018-05B1-6630-7614-82B77305B633}"/>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frequent_itemsets = apriori(</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    df,</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    min_support=0.02,</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    use_colnames=True</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block applies the Apriori algorithm to the one-hot encoded dataset.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3004CA2-A1E9-E0E5-F0B8-AF8CD1E81D1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F796777A-79AC-383E-8286-7AD23E0F8B24}"/>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4379576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37D5C-47A5-D8C7-7627-0AA5674FC8F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5122163-442D-4DBE-08DB-740E6AD422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D64BEF4-9525-7D53-F729-6CF32594599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AE09610-8FEA-EAAC-646F-96A495AD0555}"/>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Parameter Explanation</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Consolas" panose="020B0609020204030204" pitchFamily="49" charset="0"/>
                <a:cs typeface="Times New Roman" panose="02020603050405020304" pitchFamily="18" charset="0"/>
              </a:rPr>
              <a:t>df</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 input DataFrame containing binary (True/False) values for each item in each transaction</a:t>
            </a:r>
            <a:r>
              <a:rPr lang="en-US" sz="2000" dirty="0">
                <a:solidFill>
                  <a:srgbClr val="0C0D03"/>
                </a:solidFill>
                <a:latin typeface="Times New Roman" panose="02020603050405020304" pitchFamily="18" charset="0"/>
                <a:cs typeface="Times New Roman" panose="02020603050405020304" pitchFamily="18" charset="0"/>
              </a:rPr>
              <a:t>.</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Consolas" panose="020B0609020204030204" pitchFamily="49" charset="0"/>
                <a:cs typeface="Times New Roman" panose="02020603050405020304" pitchFamily="18" charset="0"/>
              </a:rPr>
              <a:t>min_support=0.02</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Specifies the minimum support threshold.</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An itemset must appear in at least 2% of all transactions to be considered frequent.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52FB5A0-EF54-36B8-7CB5-D6F5BB88E0F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F35F701B-BB31-372F-D92F-EE083517C4EA}"/>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30370806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DA8D7-CAA7-7C82-076B-14531B4B40D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E6727BC-BAB2-390C-6430-4082793F46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6CF925D-BF38-C209-BBA5-5A2EB120D92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993136F-F33A-EF7F-EF32-AAE35A503ACF}"/>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b="1" dirty="0">
                <a:solidFill>
                  <a:srgbClr val="0C0D03"/>
                </a:solidFill>
                <a:latin typeface="Consolas" panose="020B0609020204030204" pitchFamily="49" charset="0"/>
                <a:cs typeface="Times New Roman" panose="02020603050405020304" pitchFamily="18" charset="0"/>
              </a:rPr>
              <a:t>print("Number of frequent itemsets:", </a:t>
            </a:r>
            <a:r>
              <a:rPr lang="en-US" b="1" dirty="0" err="1">
                <a:solidFill>
                  <a:srgbClr val="0C0D03"/>
                </a:solidFill>
                <a:latin typeface="Consolas" panose="020B0609020204030204" pitchFamily="49" charset="0"/>
                <a:cs typeface="Times New Roman" panose="02020603050405020304" pitchFamily="18" charset="0"/>
              </a:rPr>
              <a:t>len</a:t>
            </a:r>
            <a:r>
              <a:rPr lang="en-US" b="1" dirty="0">
                <a:solidFill>
                  <a:srgbClr val="0C0D03"/>
                </a:solidFill>
                <a:latin typeface="Consolas" panose="020B0609020204030204" pitchFamily="49" charset="0"/>
                <a:cs typeface="Times New Roman" panose="02020603050405020304" pitchFamily="18" charset="0"/>
              </a:rPr>
              <a:t>(frequent_itemsets))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prints the total number of frequent itemsets discovered by the Apriori algorithm that satisfy the minimum support </a:t>
            </a:r>
            <a:r>
              <a:rPr lang="en-US" sz="2100" dirty="0" err="1">
                <a:solidFill>
                  <a:srgbClr val="0C0D03"/>
                </a:solidFill>
                <a:latin typeface="Times New Roman" panose="02020603050405020304" pitchFamily="18" charset="0"/>
                <a:cs typeface="Times New Roman" panose="02020603050405020304" pitchFamily="18" charset="0"/>
              </a:rPr>
              <a:t>threshold.for</a:t>
            </a:r>
            <a:r>
              <a:rPr lang="en-US" sz="2100" dirty="0">
                <a:solidFill>
                  <a:srgbClr val="0C0D03"/>
                </a:solidFill>
                <a:latin typeface="Times New Roman" panose="02020603050405020304" pitchFamily="18" charset="0"/>
                <a:cs typeface="Times New Roman" panose="02020603050405020304" pitchFamily="18" charset="0"/>
              </a:rPr>
              <a:t> the Groceries dataset, this value is typically 122, indicating that 122 itemsets occur frequently in the dataset.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17B543E-6AFF-5F18-ABAB-E5A10EE47CF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56BF7B68-4403-4468-FA43-3003BC9D2234}"/>
              </a:ext>
            </a:extLst>
          </p:cNvPr>
          <p:cNvSpPr txBox="1"/>
          <p:nvPr/>
        </p:nvSpPr>
        <p:spPr>
          <a:xfrm>
            <a:off x="1873246" y="1197622"/>
            <a:ext cx="7019234"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38186304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40AC8-7206-C73F-245B-8EB826E0282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36095EE-7781-D3FB-5F20-976981FE5F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2B4D496-60DF-67DB-2B89-2219D705DA0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D7756022-5ABB-B50A-53DC-9E97A8891A8C}"/>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frequent_itemsets.head()</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command displays the first five frequent itemsets, along with their support values.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Each row contains: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support: the frequency of the itemset</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itemsets: the items included in the itemset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3428A7F-4E0F-8ADD-A2CB-9DF53D6D0FC2}"/>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9ECF2C00-8400-D21C-3D79-F75CE371ACD7}"/>
              </a:ext>
            </a:extLst>
          </p:cNvPr>
          <p:cNvSpPr txBox="1"/>
          <p:nvPr/>
        </p:nvSpPr>
        <p:spPr>
          <a:xfrm>
            <a:off x="1873246" y="1197622"/>
            <a:ext cx="7019234"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6053517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2B9A-677A-C88C-62C5-BEA06CF8D89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9B21586-877D-C154-246F-BABABD2131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11778ED-FA2A-AF65-A90E-82BA017A71F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3F81902-0A35-52D9-8DF3-426663241C6C}"/>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C1495B4-F17F-814A-1C97-EB013C0A88A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10F438A5-1D43-4C99-7C48-62AD39ABA7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708920"/>
            <a:ext cx="6470711" cy="3190106"/>
          </a:xfrm>
          <a:prstGeom prst="rect">
            <a:avLst/>
          </a:prstGeom>
          <a:noFill/>
          <a:ln>
            <a:noFill/>
          </a:ln>
        </p:spPr>
      </p:pic>
      <p:sp>
        <p:nvSpPr>
          <p:cNvPr id="7" name="TextBox 6">
            <a:extLst>
              <a:ext uri="{FF2B5EF4-FFF2-40B4-BE49-F238E27FC236}">
                <a16:creationId xmlns:a16="http://schemas.microsoft.com/office/drawing/2014/main" id="{E8994032-1C2F-D648-DAA7-43CE06BEF5AD}"/>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2784135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16079-D5DA-9CD5-841E-83BBC5F2EAF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4370894-BEC6-CF94-3C63-1F3885875EC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A65F7B1-46FF-6633-04EF-0885CAE2AD6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9BD3853-807D-23E8-0B01-74AC507C5054}"/>
              </a:ext>
            </a:extLst>
          </p:cNvPr>
          <p:cNvSpPr/>
          <p:nvPr/>
        </p:nvSpPr>
        <p:spPr bwMode="auto">
          <a:xfrm>
            <a:off x="467544" y="2204864"/>
            <a:ext cx="8265294" cy="4320480"/>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Generate Association Rules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Consolas" panose="020B0609020204030204" pitchFamily="49" charset="0"/>
                <a:cs typeface="Times New Roman" panose="02020603050405020304" pitchFamily="18" charset="0"/>
              </a:rPr>
              <a:t>frequent_itemsets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 input produced by the Apriori algorithm, containing itemsets that satisfy the minimum support threshold</a:t>
            </a:r>
            <a:r>
              <a:rPr lang="en-US" sz="21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03D238E-0096-92E8-69E8-0DF30EB6758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7" name="Picture 6">
            <a:extLst>
              <a:ext uri="{FF2B5EF4-FFF2-40B4-BE49-F238E27FC236}">
                <a16:creationId xmlns:a16="http://schemas.microsoft.com/office/drawing/2014/main" id="{94920584-10E5-FF33-3BF0-A81B5E3A71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199" y="2852936"/>
            <a:ext cx="6643733" cy="2049904"/>
          </a:xfrm>
          <a:prstGeom prst="rect">
            <a:avLst/>
          </a:prstGeom>
          <a:noFill/>
          <a:ln>
            <a:noFill/>
          </a:ln>
        </p:spPr>
      </p:pic>
      <p:sp>
        <p:nvSpPr>
          <p:cNvPr id="8" name="TextBox 7">
            <a:extLst>
              <a:ext uri="{FF2B5EF4-FFF2-40B4-BE49-F238E27FC236}">
                <a16:creationId xmlns:a16="http://schemas.microsoft.com/office/drawing/2014/main" id="{9D2CF185-98B6-352C-AE5C-4852D0B3BCA3}"/>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20637754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FE8D8-F31E-CEB0-F543-77C66AD998A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925ABB9-B359-2EF6-B863-21A201A4DD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852E8D6-F6DD-D3B6-0181-6F655E21401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D9326E7-30E0-F023-E518-9DB97596CC85}"/>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Generate Association Rules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Consolas" panose="020B0609020204030204" pitchFamily="49" charset="0"/>
                <a:cs typeface="Times New Roman" panose="02020603050405020304" pitchFamily="18" charset="0"/>
              </a:rPr>
              <a:t>metric="confidence"</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Specifies that confidence is used as the primary evaluation metric for filtering rules.</a:t>
            </a:r>
          </a:p>
          <a:p>
            <a:pPr marL="342900" indent="-342900" algn="just" rtl="0" fontAlgn="base">
              <a:lnSpc>
                <a:spcPct val="150000"/>
              </a:lnSpc>
              <a:spcBef>
                <a:spcPct val="0"/>
              </a:spcBef>
              <a:spcAft>
                <a:spcPct val="0"/>
              </a:spcAft>
              <a:buFont typeface="Arial" panose="020B0604020202020204" pitchFamily="34" charset="0"/>
              <a:buChar char="•"/>
            </a:pPr>
            <a:r>
              <a:rPr lang="en-US" sz="2000" b="1" dirty="0">
                <a:solidFill>
                  <a:srgbClr val="0C0D03"/>
                </a:solidFill>
                <a:latin typeface="Consolas" panose="020B0609020204030204" pitchFamily="49" charset="0"/>
                <a:cs typeface="Times New Roman" panose="02020603050405020304" pitchFamily="18" charset="0"/>
              </a:rPr>
              <a:t>min_threshold=0.3</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Only rules with confidence greater than or equal to 0.30 are retained.</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means the consequent appears in at least 30% of the transactions where the antecedent occurs</a:t>
            </a:r>
            <a:r>
              <a:rPr lang="en-US" sz="21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A6C8B5E-803A-75D6-6029-08FE2E7D2F9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D40158A7-9F68-8C99-62A2-13C7D25323DF}"/>
              </a:ext>
            </a:extLst>
          </p:cNvPr>
          <p:cNvSpPr txBox="1"/>
          <p:nvPr/>
        </p:nvSpPr>
        <p:spPr>
          <a:xfrm>
            <a:off x="1873246" y="1250942"/>
            <a:ext cx="7072986"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4895340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7EB1C-35A0-CF9B-2037-3EF642622E3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7AE946F-7AC5-290E-C8C8-0E5F767D41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AF7CDE9-2267-02D5-8A12-C88C88D026E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8CCCAF0-9957-2C35-B193-26DF2C2099CE}"/>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Generate Association Rules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rules = rules.sort_values(by="lift", ascending=False)</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sorts the generated rules in descending order of lift, so the strongest and most interesting associations appear first</a:t>
            </a:r>
            <a:r>
              <a:rPr lang="en-US" sz="21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r>
              <a:rPr lang="en-US" b="1" dirty="0">
                <a:solidFill>
                  <a:srgbClr val="0C0D03"/>
                </a:solidFill>
                <a:latin typeface="Consolas" panose="020B0609020204030204" pitchFamily="49" charset="0"/>
                <a:cs typeface="Times New Roman" panose="02020603050405020304" pitchFamily="18" charset="0"/>
              </a:rPr>
              <a:t>rules[['antecedents', 'consequents', 'support', 'confidence', 'lift']].head()</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displays the top five association rules, showing only the most important columns: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68AED6-4A90-F9E3-2622-E3E3D7824E6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BFC724C8-AF14-74E5-77FE-693BE9858EB4}"/>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9596664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6C4D-8692-D576-E1CD-BB6D87B6A5F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8685A6C-5324-4CA1-9801-783157C112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BA0328A-41B6-7863-3CC5-18B9A219CC7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23822DB-DF6C-DB4E-D3C8-F7479A8FD0CB}"/>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5C86417-7DE7-A7EE-C021-EE9ABD5F388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703AEFE4-F7C7-B2B3-D177-4829065F82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311145"/>
            <a:ext cx="7545283" cy="2278095"/>
          </a:xfrm>
          <a:prstGeom prst="rect">
            <a:avLst/>
          </a:prstGeom>
          <a:noFill/>
          <a:ln>
            <a:noFill/>
          </a:ln>
        </p:spPr>
      </p:pic>
      <p:sp>
        <p:nvSpPr>
          <p:cNvPr id="7" name="TextBox 6">
            <a:extLst>
              <a:ext uri="{FF2B5EF4-FFF2-40B4-BE49-F238E27FC236}">
                <a16:creationId xmlns:a16="http://schemas.microsoft.com/office/drawing/2014/main" id="{18307D81-662F-D646-22D3-42918FCE433C}"/>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6143619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BF1DB-25F0-FD44-E614-DA1CAA34632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25B1C20-0A9F-219A-AA41-DF30EFCA07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24FFB761-6DAF-1A91-622C-243BFA2B375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A7BF643-A03B-4652-55DA-68F19531DCEC}"/>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Filter Strong Rules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To identify the most significant purchasing patterns, association rules with confidence greater than 0.5 and lift greater than 1.2 were selected as strong rules.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F0EEF7B-9DCC-B383-27C4-D11C017FC87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pic>
        <p:nvPicPr>
          <p:cNvPr id="6" name="Picture 5">
            <a:extLst>
              <a:ext uri="{FF2B5EF4-FFF2-40B4-BE49-F238E27FC236}">
                <a16:creationId xmlns:a16="http://schemas.microsoft.com/office/drawing/2014/main" id="{3653DABD-6DDC-B2BA-416A-BCF529629E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6710" y="2852935"/>
            <a:ext cx="7264242" cy="1656185"/>
          </a:xfrm>
          <a:prstGeom prst="rect">
            <a:avLst/>
          </a:prstGeom>
          <a:noFill/>
          <a:ln>
            <a:noFill/>
          </a:ln>
        </p:spPr>
      </p:pic>
      <p:sp>
        <p:nvSpPr>
          <p:cNvPr id="7" name="TextBox 6">
            <a:extLst>
              <a:ext uri="{FF2B5EF4-FFF2-40B4-BE49-F238E27FC236}">
                <a16:creationId xmlns:a16="http://schemas.microsoft.com/office/drawing/2014/main" id="{5D030917-7362-5E21-00FE-4D4313CF1896}"/>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40869328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F139-D127-4CF2-58BF-11B905C96AE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B896DFD-A9BF-65ED-71CB-1AE8661EDE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89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1F1D2B3-DE56-D1BA-4C88-EB89E1C99C5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7B712BB0-D93F-276F-4999-6421E3E1D66F}"/>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Filter Strong Rules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err="1">
                <a:solidFill>
                  <a:srgbClr val="0C0D03"/>
                </a:solidFill>
                <a:latin typeface="Consolas" panose="020B0609020204030204" pitchFamily="49" charset="0"/>
                <a:cs typeface="Times New Roman" panose="02020603050405020304" pitchFamily="18" charset="0"/>
              </a:rPr>
              <a:t>strong_rules</a:t>
            </a:r>
            <a:r>
              <a:rPr lang="en-US" sz="2000" b="1" dirty="0">
                <a:solidFill>
                  <a:srgbClr val="0C0D03"/>
                </a:solidFill>
                <a:latin typeface="Consolas" panose="020B0609020204030204" pitchFamily="49" charset="0"/>
                <a:cs typeface="Times New Roman" panose="02020603050405020304" pitchFamily="18" charset="0"/>
              </a:rPr>
              <a:t> = rules[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    (rules['confidence'] &gt; 0.5) &amp;</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    (rules['lift'] &gt; 1.2)</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code filters the previously generated association rules to retain only strong and meaningful rules based on predefined thresholds.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C463ABF-A6E6-03D8-AD6F-2095DA82DFC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7" name="TextBox 6">
            <a:extLst>
              <a:ext uri="{FF2B5EF4-FFF2-40B4-BE49-F238E27FC236}">
                <a16:creationId xmlns:a16="http://schemas.microsoft.com/office/drawing/2014/main" id="{FC334EBB-A961-3A62-7D01-FE34F2266655}"/>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1754868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8299A-C86B-3DC1-40EC-895F7F0E1F9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364F9A5-4B55-65DD-A43B-FD6935A3B3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1AC22304-4EA8-B4B6-A763-08DCAE6F1EE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48AEC9D-58E9-6FD5-EAF3-A929CF567B74}"/>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Filter Strong Rules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Filtering Conditions Explained :</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Consolas" panose="020B0609020204030204" pitchFamily="49" charset="0"/>
                <a:cs typeface="Times New Roman" panose="02020603050405020304" pitchFamily="18" charset="0"/>
              </a:rPr>
              <a:t>rules['confidence'] &gt; 0.5</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condition ensures that only rules with a confidence greater than 50% are selected. </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Consolas" panose="020B0609020204030204" pitchFamily="49" charset="0"/>
                <a:cs typeface="Times New Roman" panose="02020603050405020304" pitchFamily="18" charset="0"/>
              </a:rPr>
              <a:t>rules['lift'] &gt; 1.2</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condition selects rules with a lift greater than 1.2, indicating a strong positive association. </a:t>
            </a:r>
            <a:endParaRPr lang="en-US" sz="21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A4593E5-1B4E-0EF9-0864-F4B9E87F545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D4A450D4-BA7C-1A50-799B-48C3FDABF60E}"/>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29585560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F8DA-D358-70F0-5A3B-25199D8FE27F}"/>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4D4E768-4954-525A-5B1A-343C7B4C7A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80391AE-F70E-03CE-3B39-6799C683BC0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58A15D3-865B-C1EF-7BBD-1290604F9951}"/>
              </a:ext>
            </a:extLst>
          </p:cNvPr>
          <p:cNvSpPr/>
          <p:nvPr/>
        </p:nvSpPr>
        <p:spPr bwMode="auto">
          <a:xfrm>
            <a:off x="467544" y="2204864"/>
            <a:ext cx="8265294"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Filter Strong Rules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err="1">
                <a:solidFill>
                  <a:srgbClr val="0C0D03"/>
                </a:solidFill>
                <a:latin typeface="Consolas" panose="020B0609020204030204" pitchFamily="49" charset="0"/>
                <a:cs typeface="Times New Roman" panose="02020603050405020304" pitchFamily="18" charset="0"/>
              </a:rPr>
              <a:t>strong_rules</a:t>
            </a:r>
            <a:r>
              <a:rPr lang="en-US" sz="2000" b="1" dirty="0">
                <a:solidFill>
                  <a:srgbClr val="0C0D03"/>
                </a:solidFill>
                <a:latin typeface="Consolas" panose="020B0609020204030204" pitchFamily="49" charset="0"/>
                <a:cs typeface="Times New Roman" panose="02020603050405020304" pitchFamily="18" charset="0"/>
              </a:rPr>
              <a:t>[['antecedents', 'consequents', 'support', '</a:t>
            </a:r>
            <a:r>
              <a:rPr lang="en-US" sz="2000" b="1" dirty="0" err="1">
                <a:solidFill>
                  <a:srgbClr val="0C0D03"/>
                </a:solidFill>
                <a:latin typeface="Consolas" panose="020B0609020204030204" pitchFamily="49" charset="0"/>
                <a:cs typeface="Times New Roman" panose="02020603050405020304" pitchFamily="18" charset="0"/>
              </a:rPr>
              <a:t>confidence','lift</a:t>
            </a:r>
            <a:r>
              <a:rPr lang="en-US" sz="2000" b="1" dirty="0">
                <a:solidFill>
                  <a:srgbClr val="0C0D03"/>
                </a:solidFill>
                <a:latin typeface="Consolas" panose="020B0609020204030204" pitchFamily="49" charset="0"/>
                <a:cs typeface="Times New Roman" panose="02020603050405020304" pitchFamily="18" charset="0"/>
              </a:rPr>
              <a:t>']].head()</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displays the top five strongest association rules, showing the most relevant metrics for interpretation.</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0304C72-3051-0C9F-1261-A86C7E0752A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F73A6DFE-5E92-2C37-5F1A-8651C089F5F5}"/>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pic>
        <p:nvPicPr>
          <p:cNvPr id="3" name="Picture 2">
            <a:extLst>
              <a:ext uri="{FF2B5EF4-FFF2-40B4-BE49-F238E27FC236}">
                <a16:creationId xmlns:a16="http://schemas.microsoft.com/office/drawing/2014/main" id="{E2E41C39-5F0B-8862-BE44-04E9C2B3B5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5503" y="5246425"/>
            <a:ext cx="7049376" cy="827906"/>
          </a:xfrm>
          <a:prstGeom prst="rect">
            <a:avLst/>
          </a:prstGeom>
          <a:noFill/>
          <a:ln>
            <a:noFill/>
          </a:ln>
        </p:spPr>
      </p:pic>
    </p:spTree>
    <p:extLst>
      <p:ext uri="{BB962C8B-B14F-4D97-AF65-F5344CB8AC3E}">
        <p14:creationId xmlns:p14="http://schemas.microsoft.com/office/powerpoint/2010/main" val="40318358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5201E-1DD6-5379-4B2D-C4A0ED944DF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08A4531A-CDB8-0B64-8A6A-E5F0C6EC72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327CA21-8687-9EA8-BB92-A521B4770BB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98B1A55-D947-8528-D170-ECF1BD9DCBF2}"/>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import matplotlib.pyplot as plt</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imports the Matplotlib library, which is used to create visualizations such as charts and plots in Python</a:t>
            </a:r>
            <a:r>
              <a:rPr lang="en-US" sz="2100" b="1"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39B37A2-669E-36E3-5451-33477F345D5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B6F8D1F5-C8F4-59D4-462D-4503AB493A2F}"/>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pic>
        <p:nvPicPr>
          <p:cNvPr id="7" name="Picture 6">
            <a:extLst>
              <a:ext uri="{FF2B5EF4-FFF2-40B4-BE49-F238E27FC236}">
                <a16:creationId xmlns:a16="http://schemas.microsoft.com/office/drawing/2014/main" id="{CCCA7472-FE46-A601-7523-D7EE768F1E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8763" y="2337440"/>
            <a:ext cx="6711453" cy="2036059"/>
          </a:xfrm>
          <a:prstGeom prst="rect">
            <a:avLst/>
          </a:prstGeom>
          <a:noFill/>
          <a:ln>
            <a:noFill/>
          </a:ln>
        </p:spPr>
      </p:pic>
    </p:spTree>
    <p:extLst>
      <p:ext uri="{BB962C8B-B14F-4D97-AF65-F5344CB8AC3E}">
        <p14:creationId xmlns:p14="http://schemas.microsoft.com/office/powerpoint/2010/main" val="9832117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03B3B-C1FB-0A3D-C106-20147E61434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1D94207-BA01-493E-3122-94D07D73725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48B4386-2E51-FE71-EB8D-EEE8E08D121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83775E0-3D73-877D-2960-2EA9B9BE4C65}"/>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plt.figure(figsize=(7,5))</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command creates a new figure with a specified size:</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Width: 7 inches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Height: 5 inches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Setting the figure size improves readability and presentation quality for reports.</a:t>
            </a:r>
          </a:p>
        </p:txBody>
      </p:sp>
      <p:pic>
        <p:nvPicPr>
          <p:cNvPr id="5" name="Picture 4">
            <a:extLst>
              <a:ext uri="{FF2B5EF4-FFF2-40B4-BE49-F238E27FC236}">
                <a16:creationId xmlns:a16="http://schemas.microsoft.com/office/drawing/2014/main" id="{FE0C5DAC-1DA3-CE23-7613-34B852162B2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419E44A4-6260-B03C-E595-DBB85A3729E5}"/>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21374316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2DDA-212D-A456-9446-10F01E7DBAB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49CE3F6-E3EA-582D-7B84-CD3967CA15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42CF302-C47F-E6AA-4660-ECECC591F2D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D23A32A-C90C-0EE0-1A68-28AE3781938C}"/>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plt.scatter(rules['support'], rules['confidence'])</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creates a scatter plot where:</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The x-axis represents the support values of association rules</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The y-axis represents the confidence values of association rules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Each point in the plot corresponds to a single association rule generated by the Apriori algorithm.</a:t>
            </a:r>
          </a:p>
        </p:txBody>
      </p:sp>
      <p:pic>
        <p:nvPicPr>
          <p:cNvPr id="5" name="Picture 4">
            <a:extLst>
              <a:ext uri="{FF2B5EF4-FFF2-40B4-BE49-F238E27FC236}">
                <a16:creationId xmlns:a16="http://schemas.microsoft.com/office/drawing/2014/main" id="{898CA205-CB55-0AED-18B5-F3F7A204C67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2559E1D2-7F28-55FF-1F55-B436F0C27DF5}"/>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37916499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A611-F2A9-1F4D-2E43-ED79DD1D2C5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17A42D2D-9398-D971-3408-6F9250E959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E1FE5892-A99D-1662-67D0-A0C8D5A4ABA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F2C6D938-8B75-364C-BCB5-D29F7803BB6C}"/>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plt.xlabel('Support')</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plt.ylabel('Confidence')</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These lines label the x-axis and y-axis, making the plot easy to understand.</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plt.title('Support vs Confidence of Association Rules (Apriori Algorithm)')</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line adds a descriptive title, clearly indicating that the visualization shows the relationship between support and confidence for rules generated using the Apriori algorithm.</a:t>
            </a:r>
          </a:p>
        </p:txBody>
      </p:sp>
      <p:pic>
        <p:nvPicPr>
          <p:cNvPr id="5" name="Picture 4">
            <a:extLst>
              <a:ext uri="{FF2B5EF4-FFF2-40B4-BE49-F238E27FC236}">
                <a16:creationId xmlns:a16="http://schemas.microsoft.com/office/drawing/2014/main" id="{A05B2AA0-B155-301B-5AA9-267EFC16716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41196083-5C34-F51C-F225-363D0EABEBE1}"/>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3711593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8E62E-8251-2D28-F1D9-B4D8405E0D8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A3091A7-3E64-ED12-B69E-F8AA5D2757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C67DD56-8C84-09EA-3E67-5B41405B5400}"/>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F149EB5-F737-2363-8307-41E06DE2AD4F}"/>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Consolas" panose="020B0609020204030204" pitchFamily="49" charset="0"/>
                <a:cs typeface="Times New Roman" panose="02020603050405020304" pitchFamily="18" charset="0"/>
              </a:rPr>
              <a:t>plt.grid(True)</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command enables grid lines in the background of the plot, which helps in visually estimating values and comparing points.</a:t>
            </a:r>
          </a:p>
          <a:p>
            <a:pPr algn="just" rtl="0" fontAlgn="base">
              <a:lnSpc>
                <a:spcPct val="150000"/>
              </a:lnSpc>
              <a:spcBef>
                <a:spcPct val="0"/>
              </a:spcBef>
              <a:spcAft>
                <a:spcPct val="0"/>
              </a:spcAft>
            </a:pPr>
            <a:r>
              <a:rPr lang="en-US" sz="2000" b="1" dirty="0">
                <a:solidFill>
                  <a:srgbClr val="0C0D03"/>
                </a:solidFill>
                <a:latin typeface="Consolas" panose="020B0609020204030204" pitchFamily="49" charset="0"/>
                <a:cs typeface="Times New Roman" panose="02020603050405020304" pitchFamily="18" charset="0"/>
              </a:rPr>
              <a:t>plt.show()</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This command displays the plot.</a:t>
            </a:r>
          </a:p>
        </p:txBody>
      </p:sp>
      <p:pic>
        <p:nvPicPr>
          <p:cNvPr id="5" name="Picture 4">
            <a:extLst>
              <a:ext uri="{FF2B5EF4-FFF2-40B4-BE49-F238E27FC236}">
                <a16:creationId xmlns:a16="http://schemas.microsoft.com/office/drawing/2014/main" id="{BD9CB085-559A-F358-836B-0A1FDB962A3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B8099390-3492-C014-27EB-1E2B47C979FE}"/>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42557788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65884-7AE5-3773-B583-54D5431AA06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3B92666-1386-1510-7161-110134AF00F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F101DEC-CE2D-9F7E-5DFC-39D42661242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65134D6-DE0B-2E31-E248-0E777E140562}"/>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63E4BCD8-9A74-A8B3-AA69-018229688BC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14376A73-73D1-FADD-5451-B95E03383089}"/>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pic>
        <p:nvPicPr>
          <p:cNvPr id="3" name="Picture 2">
            <a:extLst>
              <a:ext uri="{FF2B5EF4-FFF2-40B4-BE49-F238E27FC236}">
                <a16:creationId xmlns:a16="http://schemas.microsoft.com/office/drawing/2014/main" id="{2CF0105A-047A-1135-E92D-9E36782A2EB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6528" y="2417763"/>
            <a:ext cx="5267325" cy="39814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9257806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7B5A4-AB47-2BD8-62DF-8D58251CF70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CA5A499-DA65-8BD6-3EAC-B88C9C9714E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98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2CD8C6C-D83E-6330-69D6-FBF0333EC72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583B066-B656-40D0-833D-61EBEFA5CEB0}"/>
              </a:ext>
            </a:extLst>
          </p:cNvPr>
          <p:cNvSpPr/>
          <p:nvPr/>
        </p:nvSpPr>
        <p:spPr bwMode="auto">
          <a:xfrm>
            <a:off x="467544" y="2152310"/>
            <a:ext cx="8424936"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Interpretation of the Plot</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Each point represents one association rule</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Rules with higher confidence appear higher on the plot</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100" dirty="0">
                <a:solidFill>
                  <a:srgbClr val="0C0D03"/>
                </a:solidFill>
                <a:latin typeface="Times New Roman" panose="02020603050405020304" pitchFamily="18" charset="0"/>
                <a:cs typeface="Times New Roman" panose="02020603050405020304" pitchFamily="18" charset="0"/>
              </a:rPr>
              <a:t>Rules with higher support appear further to the right</a:t>
            </a:r>
          </a:p>
          <a:p>
            <a:pPr marL="342900" marR="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pPr>
            <a:r>
              <a:rPr lang="en-US" sz="2000" b="1" dirty="0">
                <a:solidFill>
                  <a:srgbClr val="0C0D03"/>
                </a:solidFill>
                <a:latin typeface="Times New Roman" panose="02020603050405020304" pitchFamily="18" charset="0"/>
                <a:cs typeface="Times New Roman" panose="02020603050405020304" pitchFamily="18" charset="0"/>
              </a:rPr>
              <a:t>The plot helps identify:</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High-confidence rules with low support (strong but less frequent patterns)</a:t>
            </a: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Rules with both high support and high confidence (very valuable patterns</a:t>
            </a:r>
            <a:r>
              <a:rPr lang="en-US" sz="2000" dirty="0">
                <a:solidFill>
                  <a:srgbClr val="0C0D03"/>
                </a:solidFill>
                <a:latin typeface="Times New Roman" panose="02020603050405020304" pitchFamily="18" charset="0"/>
                <a:cs typeface="Times New Roman" panose="02020603050405020304" pitchFamily="18" charset="0"/>
              </a:rPr>
              <a: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5DD732B-E993-EA03-10DE-E88C1667171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9996E618-A7AC-A0B6-EDB0-E1A4CC61733C}"/>
              </a:ext>
            </a:extLst>
          </p:cNvPr>
          <p:cNvSpPr txBox="1"/>
          <p:nvPr/>
        </p:nvSpPr>
        <p:spPr>
          <a:xfrm>
            <a:off x="1873246" y="1197622"/>
            <a:ext cx="7019234"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Implementation(Apriori Algorithm Implementation) </a:t>
            </a:r>
          </a:p>
        </p:txBody>
      </p:sp>
    </p:spTree>
    <p:extLst>
      <p:ext uri="{BB962C8B-B14F-4D97-AF65-F5344CB8AC3E}">
        <p14:creationId xmlns:p14="http://schemas.microsoft.com/office/powerpoint/2010/main" val="40047797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40F5F-10ED-C81F-CDDC-2F3B5683D33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EFE5F32-E9A4-19C0-BCD0-4182EA5649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99</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19399F3B-A0C5-A9A5-708F-062FC46226E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5</a:t>
            </a:r>
          </a:p>
        </p:txBody>
      </p:sp>
      <p:sp>
        <p:nvSpPr>
          <p:cNvPr id="3" name="TextBox 2">
            <a:extLst>
              <a:ext uri="{FF2B5EF4-FFF2-40B4-BE49-F238E27FC236}">
                <a16:creationId xmlns:a16="http://schemas.microsoft.com/office/drawing/2014/main" id="{63DEE89C-06CA-220A-2695-7D6E2A281DE4}"/>
              </a:ext>
            </a:extLst>
          </p:cNvPr>
          <p:cNvSpPr txBox="1"/>
          <p:nvPr/>
        </p:nvSpPr>
        <p:spPr>
          <a:xfrm>
            <a:off x="1873246" y="1197622"/>
            <a:ext cx="7019234"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System Implementation </a:t>
            </a:r>
          </a:p>
        </p:txBody>
      </p:sp>
      <p:sp>
        <p:nvSpPr>
          <p:cNvPr id="4" name="Rectangle: Rounded Corners 3">
            <a:extLst>
              <a:ext uri="{FF2B5EF4-FFF2-40B4-BE49-F238E27FC236}">
                <a16:creationId xmlns:a16="http://schemas.microsoft.com/office/drawing/2014/main" id="{6BAED95A-A777-0ED8-98C8-B4C026CB8298}"/>
              </a:ext>
            </a:extLst>
          </p:cNvPr>
          <p:cNvSpPr/>
          <p:nvPr/>
        </p:nvSpPr>
        <p:spPr bwMode="auto">
          <a:xfrm>
            <a:off x="667942" y="2204864"/>
            <a:ext cx="8064896" cy="4047012"/>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FP-Growth algorithm Implementation :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In the second step In this project, the FP-Growth algorithm was applied to the Groceries Market Basket Dataset to discover frequent itemsets and association rules. After preprocessing the transactional data using one-hot encoding, FP-Growth efficiently identified frequent patterns without candidate generation. Association rules were generated using confidence and lift metrics, revealing strong purchasing relationships among grocery items.</a:t>
            </a:r>
          </a:p>
        </p:txBody>
      </p:sp>
      <p:pic>
        <p:nvPicPr>
          <p:cNvPr id="5" name="Picture 4">
            <a:extLst>
              <a:ext uri="{FF2B5EF4-FFF2-40B4-BE49-F238E27FC236}">
                <a16:creationId xmlns:a16="http://schemas.microsoft.com/office/drawing/2014/main" id="{7B798DD6-4F47-EC52-256F-35025A997D9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1186202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780FC-1DA1-AF86-D5E8-D8B5A886F848}"/>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FBCD699-1E26-FACC-AA4C-F0955A8398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BCAD3DA-B68E-56F2-A7B3-196D6B5F081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BF1645E1-5BE1-3EF8-ADDC-FF9209B92065}"/>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1: Mount Google Drive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B1494CF-468E-BD04-B29C-79504DB8403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F72F4AE0-2F04-19F5-083C-868467A10925}"/>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3" name="Picture 2">
            <a:extLst>
              <a:ext uri="{FF2B5EF4-FFF2-40B4-BE49-F238E27FC236}">
                <a16:creationId xmlns:a16="http://schemas.microsoft.com/office/drawing/2014/main" id="{24D7A90D-3FC5-624D-9A38-EFAB6B6E49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7898" y="2933004"/>
            <a:ext cx="7588203" cy="1000052"/>
          </a:xfrm>
          <a:prstGeom prst="rect">
            <a:avLst/>
          </a:prstGeom>
          <a:noFill/>
          <a:ln>
            <a:noFill/>
          </a:ln>
        </p:spPr>
      </p:pic>
    </p:spTree>
    <p:extLst>
      <p:ext uri="{BB962C8B-B14F-4D97-AF65-F5344CB8AC3E}">
        <p14:creationId xmlns:p14="http://schemas.microsoft.com/office/powerpoint/2010/main" val="40798857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918A-2D4C-EDB9-5885-6CC6EF4C87F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8A9B85F-B075-B57B-FADC-7F228D8567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3DB2A4C-8160-E4A9-3E1F-292C1E1109E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C31ADF85-AB95-BB8C-BCE5-27CDB4D36A6D}"/>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2: Load the Groceries Dataset</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8169684-9995-D0AB-A3D8-7504081F824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9B009E56-2BEB-AE05-DF61-342CC7CA28E6}"/>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9" name="Picture 8">
            <a:extLst>
              <a:ext uri="{FF2B5EF4-FFF2-40B4-BE49-F238E27FC236}">
                <a16:creationId xmlns:a16="http://schemas.microsoft.com/office/drawing/2014/main" id="{56F2E78A-F3E9-454A-F560-6E1C6138CC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826332"/>
            <a:ext cx="5850414" cy="2197655"/>
          </a:xfrm>
          <a:prstGeom prst="rect">
            <a:avLst/>
          </a:prstGeom>
          <a:noFill/>
          <a:ln>
            <a:noFill/>
          </a:ln>
        </p:spPr>
      </p:pic>
      <p:pic>
        <p:nvPicPr>
          <p:cNvPr id="10" name="Picture 9">
            <a:extLst>
              <a:ext uri="{FF2B5EF4-FFF2-40B4-BE49-F238E27FC236}">
                <a16:creationId xmlns:a16="http://schemas.microsoft.com/office/drawing/2014/main" id="{C61C888F-1F40-8051-45BA-FEF3F649D6F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9249" y="5627015"/>
            <a:ext cx="8407526" cy="538944"/>
          </a:xfrm>
          <a:prstGeom prst="rect">
            <a:avLst/>
          </a:prstGeom>
          <a:noFill/>
          <a:ln>
            <a:noFill/>
          </a:ln>
        </p:spPr>
      </p:pic>
    </p:spTree>
    <p:extLst>
      <p:ext uri="{BB962C8B-B14F-4D97-AF65-F5344CB8AC3E}">
        <p14:creationId xmlns:p14="http://schemas.microsoft.com/office/powerpoint/2010/main" val="269801394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967FF-DD92-1116-C464-D84D2FBE7E15}"/>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ECFB529-0CDF-F3E9-51EC-19F1557C56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C3BA97DB-00EE-06DD-0028-F0290EA8B941}"/>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E0E0504-78CE-EB61-191C-16AEA4323E52}"/>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3: One-Hot Encoding (Preprocessing)</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CDBBA8E-7191-081A-D243-122AC451C46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47729E4A-AF73-A30D-FF65-DF0B474D536F}"/>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3" name="Picture 2">
            <a:extLst>
              <a:ext uri="{FF2B5EF4-FFF2-40B4-BE49-F238E27FC236}">
                <a16:creationId xmlns:a16="http://schemas.microsoft.com/office/drawing/2014/main" id="{3562F93E-0DCD-FB71-738D-A6879D4245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9114" y="2829372"/>
            <a:ext cx="6235698" cy="2201148"/>
          </a:xfrm>
          <a:prstGeom prst="rect">
            <a:avLst/>
          </a:prstGeom>
          <a:noFill/>
          <a:ln>
            <a:noFill/>
          </a:ln>
        </p:spPr>
      </p:pic>
      <p:pic>
        <p:nvPicPr>
          <p:cNvPr id="7" name="Picture 6">
            <a:extLst>
              <a:ext uri="{FF2B5EF4-FFF2-40B4-BE49-F238E27FC236}">
                <a16:creationId xmlns:a16="http://schemas.microsoft.com/office/drawing/2014/main" id="{4ED4F81E-B9BF-E980-8609-3FEEF6A674C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2228" y="5466893"/>
            <a:ext cx="7689470" cy="723361"/>
          </a:xfrm>
          <a:prstGeom prst="rect">
            <a:avLst/>
          </a:prstGeom>
          <a:noFill/>
          <a:ln>
            <a:noFill/>
          </a:ln>
        </p:spPr>
      </p:pic>
    </p:spTree>
    <p:extLst>
      <p:ext uri="{BB962C8B-B14F-4D97-AF65-F5344CB8AC3E}">
        <p14:creationId xmlns:p14="http://schemas.microsoft.com/office/powerpoint/2010/main" val="38331618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2FCBF-ABE4-D84E-8C17-6E89C145651C}"/>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ECA9CAF-DC08-B30E-0858-44E3B95BC3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103</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9CFC79E8-7C73-6979-0491-69C65801836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69B98034-4939-4BA2-6521-C6938BA5DE37}"/>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Apply FP-Growth Algorithm</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100" dirty="0">
                <a:solidFill>
                  <a:srgbClr val="0C0D03"/>
                </a:solidFill>
                <a:latin typeface="Times New Roman" panose="02020603050405020304" pitchFamily="18" charset="0"/>
                <a:cs typeface="Times New Roman" panose="02020603050405020304" pitchFamily="18" charset="0"/>
              </a:rPr>
              <a:t>FP-Growth finds frequent itemsets without candidate generation, making it faster than Apriori.</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A391B02-B38C-384E-1AF1-6A7D6B87436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A682C8DE-7D2E-D9E6-5D32-4110820E1B01}"/>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8" name="Picture 7">
            <a:extLst>
              <a:ext uri="{FF2B5EF4-FFF2-40B4-BE49-F238E27FC236}">
                <a16:creationId xmlns:a16="http://schemas.microsoft.com/office/drawing/2014/main" id="{7FB50BBB-3DD0-3C66-BE1D-03F2BB976C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852936"/>
            <a:ext cx="6530158" cy="2246486"/>
          </a:xfrm>
          <a:prstGeom prst="rect">
            <a:avLst/>
          </a:prstGeom>
          <a:noFill/>
          <a:ln>
            <a:noFill/>
          </a:ln>
        </p:spPr>
      </p:pic>
    </p:spTree>
    <p:extLst>
      <p:ext uri="{BB962C8B-B14F-4D97-AF65-F5344CB8AC3E}">
        <p14:creationId xmlns:p14="http://schemas.microsoft.com/office/powerpoint/2010/main" val="37574100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B03DE-AB0E-5C8B-B516-D341AFF5DA6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0044421-569E-2327-D609-79847777F6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104</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A2302ACD-E36B-04F3-A32F-D3024E6BD16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A7570E82-3FF2-B190-B0BF-C31B6AC3889D}"/>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4: Apply FP-Growth Algorithm</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BB3B1A3-B5C9-9B11-5834-6033FC5E16C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C00CD74A-9D17-1D7C-E688-7589E2E9FC73}"/>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3" name="Picture 2">
            <a:extLst>
              <a:ext uri="{FF2B5EF4-FFF2-40B4-BE49-F238E27FC236}">
                <a16:creationId xmlns:a16="http://schemas.microsoft.com/office/drawing/2014/main" id="{AA971723-7C74-CC7B-77CF-C16963E2FB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212976"/>
            <a:ext cx="3087089" cy="2847160"/>
          </a:xfrm>
          <a:prstGeom prst="rect">
            <a:avLst/>
          </a:prstGeom>
          <a:noFill/>
          <a:ln>
            <a:noFill/>
          </a:ln>
        </p:spPr>
      </p:pic>
    </p:spTree>
    <p:extLst>
      <p:ext uri="{BB962C8B-B14F-4D97-AF65-F5344CB8AC3E}">
        <p14:creationId xmlns:p14="http://schemas.microsoft.com/office/powerpoint/2010/main" val="324969660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4635-62A3-55C4-620E-35DF799B405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8555312-1087-F5A7-6FD1-C2FFEDAC2C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105</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5A2AC6D-3D9C-934F-934B-53CEF316DF1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F87862D-4DF7-4351-9575-692F4B7B491C}"/>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Generate Association Rules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07D225D-252D-4FB0-60D2-075B184B30C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259E9AE0-E124-7C6A-54F3-F5CF9785BAF4}"/>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7" name="Picture 6">
            <a:extLst>
              <a:ext uri="{FF2B5EF4-FFF2-40B4-BE49-F238E27FC236}">
                <a16:creationId xmlns:a16="http://schemas.microsoft.com/office/drawing/2014/main" id="{E4767F6F-50CF-94C8-E547-1C628B154DB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761" y="2895737"/>
            <a:ext cx="6799339" cy="2814171"/>
          </a:xfrm>
          <a:prstGeom prst="rect">
            <a:avLst/>
          </a:prstGeom>
          <a:noFill/>
          <a:ln>
            <a:noFill/>
          </a:ln>
        </p:spPr>
      </p:pic>
    </p:spTree>
    <p:extLst>
      <p:ext uri="{BB962C8B-B14F-4D97-AF65-F5344CB8AC3E}">
        <p14:creationId xmlns:p14="http://schemas.microsoft.com/office/powerpoint/2010/main" val="25325609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C5E83-42CA-9D94-FB24-45F187D8DF7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8A3D6C1-8B41-B85C-0F38-9C7EEAA116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106</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F6A8676F-A5F7-F7C3-0F05-909A2973451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53C5A4FD-3035-945C-936B-F7F0AB059E99}"/>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5: Generate Association Rules</a:t>
            </a: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3EC5C47-37E6-DAFA-F0FE-EA0BEAB84E2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6CE3DF25-1921-8C33-6B88-66573E952874}"/>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3" name="Picture 2">
            <a:extLst>
              <a:ext uri="{FF2B5EF4-FFF2-40B4-BE49-F238E27FC236}">
                <a16:creationId xmlns:a16="http://schemas.microsoft.com/office/drawing/2014/main" id="{A52159CD-5B84-770A-8EE7-9314DDB579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04114" y="3546271"/>
            <a:ext cx="7135772" cy="2010463"/>
          </a:xfrm>
          <a:prstGeom prst="rect">
            <a:avLst/>
          </a:prstGeom>
          <a:noFill/>
          <a:ln>
            <a:noFill/>
          </a:ln>
        </p:spPr>
      </p:pic>
    </p:spTree>
    <p:extLst>
      <p:ext uri="{BB962C8B-B14F-4D97-AF65-F5344CB8AC3E}">
        <p14:creationId xmlns:p14="http://schemas.microsoft.com/office/powerpoint/2010/main" val="29803559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1F258-4A75-40E5-D8E1-2D9CECBEEFA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A4EBA458-410F-57D0-C8EC-0A4D37C9DF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107</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597E2C43-2230-38A8-1250-ACDE676F3ED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838A26E8-097E-A549-97DA-76280E8F9B68}"/>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6: Extract Strong Rules</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 Out put :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685BC56-07D4-94C5-C34C-2C1EB794C17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053F41CD-C4E7-274A-1D59-7078502367AD}"/>
              </a:ext>
            </a:extLst>
          </p:cNvPr>
          <p:cNvSpPr txBox="1"/>
          <p:nvPr/>
        </p:nvSpPr>
        <p:spPr>
          <a:xfrm>
            <a:off x="1873246" y="1197622"/>
            <a:ext cx="7019234"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7" name="Picture 6">
            <a:extLst>
              <a:ext uri="{FF2B5EF4-FFF2-40B4-BE49-F238E27FC236}">
                <a16:creationId xmlns:a16="http://schemas.microsoft.com/office/drawing/2014/main" id="{E162CF32-85A1-80A8-A2B6-F24D560D88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6401" y="2852936"/>
            <a:ext cx="7731198" cy="1680049"/>
          </a:xfrm>
          <a:prstGeom prst="rect">
            <a:avLst/>
          </a:prstGeom>
          <a:noFill/>
          <a:ln>
            <a:noFill/>
          </a:ln>
        </p:spPr>
      </p:pic>
      <p:pic>
        <p:nvPicPr>
          <p:cNvPr id="8" name="Picture 7">
            <a:extLst>
              <a:ext uri="{FF2B5EF4-FFF2-40B4-BE49-F238E27FC236}">
                <a16:creationId xmlns:a16="http://schemas.microsoft.com/office/drawing/2014/main" id="{5655680A-03C8-C043-ED5E-785C592B581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8216" y="5088877"/>
            <a:ext cx="7136252" cy="854641"/>
          </a:xfrm>
          <a:prstGeom prst="rect">
            <a:avLst/>
          </a:prstGeom>
          <a:noFill/>
          <a:ln>
            <a:noFill/>
          </a:ln>
        </p:spPr>
      </p:pic>
    </p:spTree>
    <p:extLst>
      <p:ext uri="{BB962C8B-B14F-4D97-AF65-F5344CB8AC3E}">
        <p14:creationId xmlns:p14="http://schemas.microsoft.com/office/powerpoint/2010/main" val="37990579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6F5E-D234-9BE8-A444-5576F9254E6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D8104F7-7322-98AD-4641-21E861A52F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108</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66D14EC0-CFE1-25B4-A71A-635C6511F96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1E4749BE-F30E-59AC-638B-C9336EB50460}"/>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400" b="1" dirty="0">
                <a:solidFill>
                  <a:srgbClr val="0C0D03"/>
                </a:solidFill>
                <a:latin typeface="Times New Roman" panose="02020603050405020304" pitchFamily="18" charset="0"/>
                <a:cs typeface="Times New Roman" panose="02020603050405020304" pitchFamily="18" charset="0"/>
              </a:rPr>
              <a:t>Step 7: Visualization — Support vs Confidence</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DF1FA3-BB2E-42A9-646E-C59B2A9BA3E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37D8C779-DE4E-81D6-BB9C-069F38341D25}"/>
              </a:ext>
            </a:extLst>
          </p:cNvPr>
          <p:cNvSpPr txBox="1"/>
          <p:nvPr/>
        </p:nvSpPr>
        <p:spPr>
          <a:xfrm>
            <a:off x="1873246" y="1197622"/>
            <a:ext cx="7019234"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3" name="Picture 2">
            <a:extLst>
              <a:ext uri="{FF2B5EF4-FFF2-40B4-BE49-F238E27FC236}">
                <a16:creationId xmlns:a16="http://schemas.microsoft.com/office/drawing/2014/main" id="{E1A2AA9E-569E-DE21-7711-D6AABE5F0FE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706" y="2880280"/>
            <a:ext cx="8149453" cy="2606780"/>
          </a:xfrm>
          <a:prstGeom prst="rect">
            <a:avLst/>
          </a:prstGeom>
          <a:noFill/>
          <a:ln>
            <a:noFill/>
          </a:ln>
        </p:spPr>
      </p:pic>
    </p:spTree>
    <p:extLst>
      <p:ext uri="{BB962C8B-B14F-4D97-AF65-F5344CB8AC3E}">
        <p14:creationId xmlns:p14="http://schemas.microsoft.com/office/powerpoint/2010/main" val="28124875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B483-3DAC-2EEA-7216-7121E0ECB42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BC561FC-6821-0C16-3227-56565C1FD81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109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449786DD-033C-8AB1-C183-F2A6E1D753E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a:t>
            </a:r>
            <a:r>
              <a:rPr lang="en-US" sz="2000" b="1" dirty="0">
                <a:solidFill>
                  <a:schemeClr val="accent5">
                    <a:lumMod val="20000"/>
                    <a:lumOff val="80000"/>
                  </a:schemeClr>
                </a:solidFill>
                <a:latin typeface="Times New Roman" panose="02020603050405020304" pitchFamily="18" charset="0"/>
                <a:cs typeface="Times New Roman" panose="02020603050405020304" pitchFamily="18" charset="0"/>
              </a:rPr>
              <a:t>5</a:t>
            </a:r>
            <a:endPar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0354C002-0519-4CD0-8467-71874D72C18C}"/>
              </a:ext>
            </a:extLst>
          </p:cNvPr>
          <p:cNvSpPr/>
          <p:nvPr/>
        </p:nvSpPr>
        <p:spPr bwMode="auto">
          <a:xfrm>
            <a:off x="467544" y="2152310"/>
            <a:ext cx="8265294" cy="4301026"/>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just" defTabSz="914400" rtl="0" eaLnBrk="1" fontAlgn="base" latinLnBrk="0" hangingPunct="1">
              <a:lnSpc>
                <a:spcPct val="150000"/>
              </a:lnSpc>
              <a:spcBef>
                <a:spcPct val="0"/>
              </a:spcBef>
              <a:spcAft>
                <a:spcPct val="0"/>
              </a:spcAft>
              <a:buClrTx/>
              <a:buSzTx/>
              <a:buFontTx/>
              <a:buNone/>
              <a:tabLst/>
            </a:pPr>
            <a:r>
              <a:rPr lang="en-US" sz="2000" b="1" dirty="0">
                <a:solidFill>
                  <a:srgbClr val="0C0D03"/>
                </a:solidFill>
                <a:latin typeface="Times New Roman" panose="02020603050405020304" pitchFamily="18" charset="0"/>
                <a:cs typeface="Times New Roman" panose="02020603050405020304" pitchFamily="18" charset="0"/>
              </a:rPr>
              <a:t>Out put :</a:t>
            </a: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a:p>
            <a:pPr marL="0" marR="0" indent="0" algn="just" defTabSz="914400" rtl="0" eaLnBrk="1" fontAlgn="base" latinLnBrk="0" hangingPunct="1">
              <a:lnSpc>
                <a:spcPct val="150000"/>
              </a:lnSpc>
              <a:spcBef>
                <a:spcPct val="0"/>
              </a:spcBef>
              <a:spcAft>
                <a:spcPct val="0"/>
              </a:spcAft>
              <a:buClrTx/>
              <a:buSzTx/>
              <a:buFontTx/>
              <a:buNone/>
              <a:tabLst/>
            </a:pPr>
            <a:endParaRPr lang="en-US" sz="2000" b="1" dirty="0">
              <a:solidFill>
                <a:srgbClr val="0C0D0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100CD2D-015D-BD12-C44A-CF3BDFC7F0E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444DD982-6B44-F248-3A74-628016268654}"/>
              </a:ext>
            </a:extLst>
          </p:cNvPr>
          <p:cNvSpPr txBox="1"/>
          <p:nvPr/>
        </p:nvSpPr>
        <p:spPr>
          <a:xfrm>
            <a:off x="1691680" y="1197622"/>
            <a:ext cx="7200800" cy="830997"/>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System Implementation(FP-Growth algorithm Implementation) </a:t>
            </a:r>
          </a:p>
        </p:txBody>
      </p:sp>
      <p:pic>
        <p:nvPicPr>
          <p:cNvPr id="7" name="Picture 6">
            <a:extLst>
              <a:ext uri="{FF2B5EF4-FFF2-40B4-BE49-F238E27FC236}">
                <a16:creationId xmlns:a16="http://schemas.microsoft.com/office/drawing/2014/main" id="{F2C7A6B0-97B1-6AC6-AAFC-03FD4943C19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294847"/>
            <a:ext cx="5403399" cy="4028166"/>
          </a:xfrm>
          <a:prstGeom prst="rect">
            <a:avLst/>
          </a:prstGeom>
          <a:noFill/>
          <a:ln>
            <a:noFill/>
          </a:ln>
        </p:spPr>
      </p:pic>
    </p:spTree>
    <p:extLst>
      <p:ext uri="{BB962C8B-B14F-4D97-AF65-F5344CB8AC3E}">
        <p14:creationId xmlns:p14="http://schemas.microsoft.com/office/powerpoint/2010/main" val="95589073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6B7D-B213-DC57-3CD0-4FD0EBC1A34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5F77EC0F-38E6-E94D-472D-6A8C33CEFB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110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38C3A718-8595-1BF4-939E-B6F870E27946}"/>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6</a:t>
            </a:r>
            <a:endPar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D3EDAE8-2A73-1F8D-29E8-BF712C675094}"/>
              </a:ext>
            </a:extLst>
          </p:cNvPr>
          <p:cNvSpPr txBox="1"/>
          <p:nvPr/>
        </p:nvSpPr>
        <p:spPr>
          <a:xfrm>
            <a:off x="755576" y="2828835"/>
            <a:ext cx="7632848" cy="1446550"/>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Conclusion</a:t>
            </a:r>
          </a:p>
          <a:p>
            <a:pPr algn="ctr"/>
            <a:r>
              <a:rPr lang="en-US" sz="4400" b="1" dirty="0">
                <a:solidFill>
                  <a:srgbClr val="0C0D03"/>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A3003684-A00A-671C-BA1D-D560571D0D7C}"/>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368000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1ABA5-3C50-43DF-5084-DCD795207846}"/>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119A9D4-E234-0C8F-8707-D4C2AD9F73B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111</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2FF76161-30B3-6F97-6847-16D436BA37A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B3CB5E45-2845-45E8-00C9-7001054250AB}"/>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Although both Apriori and FP-Growth successfully extracted meaningful frequent itemsets and association rules from the Groceries dataset, FP-Growth outperformed Apriori in terms of execution speed, memory efficiency, and scalability. The quality of the discovered patterns remained comparable between the two methods. </a:t>
            </a: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Therefore, FP-Growth is more appropriate for large transactional datasets and real-time market basket analysis applications, while Apriori remains useful for educational purposes and small datasets due to its simplicity and interpretability.</a:t>
            </a:r>
          </a:p>
        </p:txBody>
      </p:sp>
      <p:pic>
        <p:nvPicPr>
          <p:cNvPr id="3" name="Picture 2">
            <a:extLst>
              <a:ext uri="{FF2B5EF4-FFF2-40B4-BE49-F238E27FC236}">
                <a16:creationId xmlns:a16="http://schemas.microsoft.com/office/drawing/2014/main" id="{676700D8-372F-BE22-CFCD-2C5E89487F2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41743740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82DE-F7A2-5681-6881-1087ACC73F1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D2763B78-A971-E892-6B49-90CCD75DA2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112</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395BB5D6-D378-D0A4-094E-A7BDE3F3D2E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0AF09DE0-923A-52D3-D2DB-3DCCFC51505A}"/>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In this project the results demonstrated that both algorithms(apriori algorithm and FP-growth algorithm)  successfully identified strong and interpretable associations among grocery items, such as frequent co-purchases involving whole milk, other vegetables, yogurt, and root vegetables.</a:t>
            </a:r>
          </a:p>
          <a:p>
            <a:pPr marL="0" marR="0" lvl="0" indent="0" algn="l" defTabSz="914400" rtl="0" eaLnBrk="1" fontAlgn="base" latinLnBrk="0" hangingPunct="1">
              <a:lnSpc>
                <a:spcPct val="150000"/>
              </a:lnSpc>
              <a:spcBef>
                <a:spcPct val="0"/>
              </a:spcBef>
              <a:spcAft>
                <a:spcPct val="0"/>
              </a:spcAft>
              <a:buClrTx/>
              <a:buSzTx/>
              <a:buFontTx/>
              <a:buNone/>
              <a:tabLst/>
              <a:defRPr/>
            </a:pPr>
            <a:endParaRPr lang="en-US" sz="2100" dirty="0">
              <a:solidFill>
                <a:srgbClr val="0C0D03"/>
              </a:solidFill>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From a performance perspective, FP-Growth significantly outperformed Apriori in terms of execution time and memory efficiency.  </a:t>
            </a:r>
          </a:p>
        </p:txBody>
      </p:sp>
      <p:pic>
        <p:nvPicPr>
          <p:cNvPr id="3" name="Picture 2">
            <a:extLst>
              <a:ext uri="{FF2B5EF4-FFF2-40B4-BE49-F238E27FC236}">
                <a16:creationId xmlns:a16="http://schemas.microsoft.com/office/drawing/2014/main" id="{3504F46E-7247-5145-09AF-555E8A169A0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6974747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9E375-2DE9-FCB7-0640-FD959A5DB5A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1B303D1-406D-97B8-80B1-700E44A0E4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113</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470B3BF0-2A67-9212-C573-29599152277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7E28ACD9-4827-BAAA-F178-9D686A70B8F5}"/>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Overall, the experimental results indicate that FP-Growth is better suited for large-scale transactional datasets, whereas Apriori remains useful for educational purposes and smaller datasets due to its conceptual simplicity.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This study confirms that association rule mining is a powerful data mining approach for extracting actionable knowledge from retail data and supports the adoption of FP-Growth as an efficient solution for market basket analysis in real-world applications.</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ADF8257-3978-217A-DD74-61C62B86C10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0328246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7382E-7EF6-DFF1-118B-F4C07C1128B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B3DE166-AD18-7C7A-86C0-6D3A42C6FC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114</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575BB5F3-5C18-46B9-537F-961DB0B5284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DDBEE24A-758F-3558-A2FA-250625F9B872}"/>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comparison Apriori and FP-Growth :</a:t>
            </a:r>
          </a:p>
        </p:txBody>
      </p:sp>
      <p:pic>
        <p:nvPicPr>
          <p:cNvPr id="3" name="Picture 2">
            <a:extLst>
              <a:ext uri="{FF2B5EF4-FFF2-40B4-BE49-F238E27FC236}">
                <a16:creationId xmlns:a16="http://schemas.microsoft.com/office/drawing/2014/main" id="{6B9F1E27-C181-168E-E401-4C51C631633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graphicFrame>
        <p:nvGraphicFramePr>
          <p:cNvPr id="5" name="Table 4">
            <a:extLst>
              <a:ext uri="{FF2B5EF4-FFF2-40B4-BE49-F238E27FC236}">
                <a16:creationId xmlns:a16="http://schemas.microsoft.com/office/drawing/2014/main" id="{712A0F97-610A-3B20-E84C-0EA3645E386D}"/>
              </a:ext>
            </a:extLst>
          </p:cNvPr>
          <p:cNvGraphicFramePr>
            <a:graphicFrameLocks noGrp="1"/>
          </p:cNvGraphicFramePr>
          <p:nvPr>
            <p:extLst>
              <p:ext uri="{D42A27DB-BD31-4B8C-83A1-F6EECF244321}">
                <p14:modId xmlns:p14="http://schemas.microsoft.com/office/powerpoint/2010/main" val="1144923630"/>
              </p:ext>
            </p:extLst>
          </p:nvPr>
        </p:nvGraphicFramePr>
        <p:xfrm>
          <a:off x="457200" y="2947795"/>
          <a:ext cx="8229600" cy="2202942"/>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1212038466"/>
                    </a:ext>
                  </a:extLst>
                </a:gridCol>
                <a:gridCol w="2743200">
                  <a:extLst>
                    <a:ext uri="{9D8B030D-6E8A-4147-A177-3AD203B41FA5}">
                      <a16:colId xmlns:a16="http://schemas.microsoft.com/office/drawing/2014/main" val="1862243589"/>
                    </a:ext>
                  </a:extLst>
                </a:gridCol>
                <a:gridCol w="2743200">
                  <a:extLst>
                    <a:ext uri="{9D8B030D-6E8A-4147-A177-3AD203B41FA5}">
                      <a16:colId xmlns:a16="http://schemas.microsoft.com/office/drawing/2014/main" val="4201714984"/>
                    </a:ext>
                  </a:extLst>
                </a:gridCol>
              </a:tblGrid>
              <a:tr h="0">
                <a:tc>
                  <a:txBody>
                    <a:bodyPr/>
                    <a:lstStyle/>
                    <a:p>
                      <a:pPr marL="0" marR="0" algn="ctr">
                        <a:lnSpc>
                          <a:spcPct val="150000"/>
                        </a:lnSpc>
                        <a:spcAft>
                          <a:spcPts val="800"/>
                        </a:spcAft>
                        <a:buNone/>
                        <a:tabLst>
                          <a:tab pos="6372225" algn="l"/>
                        </a:tabLst>
                      </a:pPr>
                      <a:r>
                        <a:rPr lang="en-US" sz="1800" b="1" kern="100">
                          <a:solidFill>
                            <a:srgbClr val="0C0D03"/>
                          </a:solidFill>
                          <a:effectLst/>
                        </a:rPr>
                        <a:t>Aspect</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Apriori</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FP-Growth</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43554996"/>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Candidate generation</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Yes</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No</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82739962"/>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Speed</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Slower</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Faster</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96487027"/>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Memory usage</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Higher</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Lower</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27601117"/>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Scalability</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Limited</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Better</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84765898"/>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Result quality</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Same</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dirty="0">
                          <a:solidFill>
                            <a:srgbClr val="0C0D03"/>
                          </a:solidFill>
                          <a:effectLst/>
                        </a:rPr>
                        <a:t>Same</a:t>
                      </a:r>
                      <a:endParaRPr lang="en-US" sz="16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84522903"/>
                  </a:ext>
                </a:extLst>
              </a:tr>
            </a:tbl>
          </a:graphicData>
        </a:graphic>
      </p:graphicFrame>
      <p:sp>
        <p:nvSpPr>
          <p:cNvPr id="6" name="TextBox 5">
            <a:extLst>
              <a:ext uri="{FF2B5EF4-FFF2-40B4-BE49-F238E27FC236}">
                <a16:creationId xmlns:a16="http://schemas.microsoft.com/office/drawing/2014/main" id="{D603AB63-C037-1231-933D-579A39AA6096}"/>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300810273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3E1B6-DA7B-D734-46ED-B4F04CD7BF5E}"/>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263F554A-C00A-3F7E-6213-0AD79E524D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115</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590B088F-A30C-D6F0-91A2-46C16ADDDE3E}"/>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3546966B-1701-A59A-5595-08B44047AC21}"/>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In this project, both the Apriori and FP-Growth algorithms were applied to the same Groceries Market Basket Dataset to extract frequent itemsets and generate association rules. The comparison focuses on performance, efficiency, scalability, and the quality of the discovered patterns. While both methods aim to identify frequent item combinations</a:t>
            </a:r>
            <a:r>
              <a:rPr kumimoji="0" lang="en-US" sz="21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07D8BB80-4402-DA51-C102-925C57F573A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1EB04802-3431-DB8B-F550-1438EF40D345}"/>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11200889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8CB0F-ECC7-F6CC-0EBB-652F4F2140D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6EA5F22-6D8D-E692-9812-B75A22D86B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116</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E2606762-12DB-315C-F41F-B386B13EEEC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4F5B5DB0-FB80-8FF9-5F6B-0314E9544AB3}"/>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Frequent Itemset Discovery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Both Apriori and FP-Growth successfully identified meaningful frequent itemsets such as whole milk, other vegetables, yogurt, and root vegetables, indicating consistency in pattern discovery across the two methods.</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However, FP-Growth generated frequent itemsets more efficiently because it avoids candidate generation. Apriori relies on repeatedly generating and pruning candidate itemsets, which increases computational cost as the dataset grows.</a:t>
            </a:r>
          </a:p>
        </p:txBody>
      </p:sp>
      <p:pic>
        <p:nvPicPr>
          <p:cNvPr id="3" name="Picture 2">
            <a:extLst>
              <a:ext uri="{FF2B5EF4-FFF2-40B4-BE49-F238E27FC236}">
                <a16:creationId xmlns:a16="http://schemas.microsoft.com/office/drawing/2014/main" id="{484CF1AD-24AD-03D1-789B-A2D9E0DF281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0520C92A-3492-C8ED-BC6E-F892D5D3CAD4}"/>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19361609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31341-F87B-7903-77EE-4512CC9A4AC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957DD78-528A-BC15-FD8C-8AAC1F5601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117</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54EEE6A4-715F-F6C7-C19C-9BEA2C7029FF}"/>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55324E79-EFC9-EF8E-632E-6EC08DDC7BC7}"/>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Frequent Itemset Discovery :</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6F6D13C-1B8E-0577-24F2-BD1E3200B3F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812D4EEE-CD0D-FBDE-B58D-D9CCF60B93BD}"/>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graphicFrame>
        <p:nvGraphicFramePr>
          <p:cNvPr id="5" name="Table 4">
            <a:extLst>
              <a:ext uri="{FF2B5EF4-FFF2-40B4-BE49-F238E27FC236}">
                <a16:creationId xmlns:a16="http://schemas.microsoft.com/office/drawing/2014/main" id="{91531EE4-8AD1-8211-1D9B-F8FF65AC412F}"/>
              </a:ext>
            </a:extLst>
          </p:cNvPr>
          <p:cNvGraphicFramePr>
            <a:graphicFrameLocks noGrp="1"/>
          </p:cNvGraphicFramePr>
          <p:nvPr>
            <p:extLst>
              <p:ext uri="{D42A27DB-BD31-4B8C-83A1-F6EECF244321}">
                <p14:modId xmlns:p14="http://schemas.microsoft.com/office/powerpoint/2010/main" val="343819776"/>
              </p:ext>
            </p:extLst>
          </p:nvPr>
        </p:nvGraphicFramePr>
        <p:xfrm>
          <a:off x="457200" y="3090702"/>
          <a:ext cx="8229600" cy="1631635"/>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3665803430"/>
                    </a:ext>
                  </a:extLst>
                </a:gridCol>
                <a:gridCol w="2743200">
                  <a:extLst>
                    <a:ext uri="{9D8B030D-6E8A-4147-A177-3AD203B41FA5}">
                      <a16:colId xmlns:a16="http://schemas.microsoft.com/office/drawing/2014/main" val="3253469835"/>
                    </a:ext>
                  </a:extLst>
                </a:gridCol>
                <a:gridCol w="2743200">
                  <a:extLst>
                    <a:ext uri="{9D8B030D-6E8A-4147-A177-3AD203B41FA5}">
                      <a16:colId xmlns:a16="http://schemas.microsoft.com/office/drawing/2014/main" val="2042604511"/>
                    </a:ext>
                  </a:extLst>
                </a:gridCol>
              </a:tblGrid>
              <a:tr h="0">
                <a:tc>
                  <a:txBody>
                    <a:bodyPr/>
                    <a:lstStyle/>
                    <a:p>
                      <a:pPr marL="0" marR="0" algn="ctr">
                        <a:lnSpc>
                          <a:spcPct val="150000"/>
                        </a:lnSpc>
                        <a:spcAft>
                          <a:spcPts val="800"/>
                        </a:spcAft>
                        <a:buNone/>
                        <a:tabLst>
                          <a:tab pos="6372225" algn="l"/>
                        </a:tabLst>
                      </a:pPr>
                      <a:r>
                        <a:rPr lang="en-US" sz="1600" b="1" kern="100">
                          <a:solidFill>
                            <a:srgbClr val="0C0D03"/>
                          </a:solidFill>
                          <a:effectLst/>
                        </a:rPr>
                        <a:t>Aspect</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Apriori</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FP-Growth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10050248"/>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Dataset Used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Groceries Dataset</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Groceries Dataset</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81463559"/>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Minimum Support</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0.02</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0.02</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73822398"/>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Frequent Itemsets Found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Comparable</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Comparable</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27623438"/>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Candidate Generation</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Required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dirty="0">
                          <a:solidFill>
                            <a:srgbClr val="0C0D03"/>
                          </a:solidFill>
                          <a:effectLst/>
                        </a:rPr>
                        <a:t>Not Required</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6406431"/>
                  </a:ext>
                </a:extLst>
              </a:tr>
            </a:tbl>
          </a:graphicData>
        </a:graphic>
      </p:graphicFrame>
    </p:spTree>
    <p:extLst>
      <p:ext uri="{BB962C8B-B14F-4D97-AF65-F5344CB8AC3E}">
        <p14:creationId xmlns:p14="http://schemas.microsoft.com/office/powerpoint/2010/main" val="373271893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B3B02-96E1-6609-82A2-E5869059B4DB}"/>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B7F65370-610F-E851-972A-8EE81F26B3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118</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3562E88F-0E84-7392-65F5-744D81019E3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695A6215-EBF4-47FE-6E8A-33D7D9D9F249}"/>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Execution Time and Efficiency:</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Apriori requires multiple scans of the dataset to generate candidate itemsets and evaluate their support. FP-Growth scans the dataset only twice (once to calculate item frequencies and once to build the FP-tree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As a result, FP-Growth demonstrated faster execution time, especially when dealing with larger numbers of transactions and items.</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7116E0C-86AF-0769-18DB-BB4B291DA91E}"/>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121E533B-CAC0-03D5-610D-BB11F91E0466}"/>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13916427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76967-625F-28FB-D895-117C3E0BABB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A747480-2F08-85F5-12A8-63614DD2D0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119</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8A272A5C-5413-B5E7-0F31-BC051B6B7F92}"/>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565EB2A8-597C-0477-F5D0-2888058909B9}"/>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Execution Time and Efficiency:</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3D30A86-D4F9-C7B4-9508-FD8FC2FC29E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E18AD8F7-B30F-CD8E-038E-5A05C15DDB81}"/>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graphicFrame>
        <p:nvGraphicFramePr>
          <p:cNvPr id="5" name="Table 4">
            <a:extLst>
              <a:ext uri="{FF2B5EF4-FFF2-40B4-BE49-F238E27FC236}">
                <a16:creationId xmlns:a16="http://schemas.microsoft.com/office/drawing/2014/main" id="{DE9803B7-CB23-BB1F-FFAF-0048628B7C8B}"/>
              </a:ext>
            </a:extLst>
          </p:cNvPr>
          <p:cNvGraphicFramePr>
            <a:graphicFrameLocks noGrp="1"/>
          </p:cNvGraphicFramePr>
          <p:nvPr>
            <p:extLst>
              <p:ext uri="{D42A27DB-BD31-4B8C-83A1-F6EECF244321}">
                <p14:modId xmlns:p14="http://schemas.microsoft.com/office/powerpoint/2010/main" val="2160983968"/>
              </p:ext>
            </p:extLst>
          </p:nvPr>
        </p:nvGraphicFramePr>
        <p:xfrm>
          <a:off x="547364" y="2852936"/>
          <a:ext cx="8121279" cy="2711878"/>
        </p:xfrm>
        <a:graphic>
          <a:graphicData uri="http://schemas.openxmlformats.org/drawingml/2006/table">
            <a:tbl>
              <a:tblPr firstRow="1" firstCol="1" bandRow="1">
                <a:tableStyleId>{5C22544A-7EE6-4342-B048-85BDC9FD1C3A}</a:tableStyleId>
              </a:tblPr>
              <a:tblGrid>
                <a:gridCol w="2664296">
                  <a:extLst>
                    <a:ext uri="{9D8B030D-6E8A-4147-A177-3AD203B41FA5}">
                      <a16:colId xmlns:a16="http://schemas.microsoft.com/office/drawing/2014/main" val="3127274267"/>
                    </a:ext>
                  </a:extLst>
                </a:gridCol>
                <a:gridCol w="2736304">
                  <a:extLst>
                    <a:ext uri="{9D8B030D-6E8A-4147-A177-3AD203B41FA5}">
                      <a16:colId xmlns:a16="http://schemas.microsoft.com/office/drawing/2014/main" val="4225147184"/>
                    </a:ext>
                  </a:extLst>
                </a:gridCol>
                <a:gridCol w="2720679">
                  <a:extLst>
                    <a:ext uri="{9D8B030D-6E8A-4147-A177-3AD203B41FA5}">
                      <a16:colId xmlns:a16="http://schemas.microsoft.com/office/drawing/2014/main" val="4271318136"/>
                    </a:ext>
                  </a:extLst>
                </a:gridCol>
              </a:tblGrid>
              <a:tr h="387596">
                <a:tc>
                  <a:txBody>
                    <a:bodyPr/>
                    <a:lstStyle/>
                    <a:p>
                      <a:pPr marL="0" marR="0" algn="ctr">
                        <a:lnSpc>
                          <a:spcPct val="150000"/>
                        </a:lnSpc>
                        <a:spcAft>
                          <a:spcPts val="800"/>
                        </a:spcAft>
                        <a:buNone/>
                        <a:tabLst>
                          <a:tab pos="6372225" algn="l"/>
                        </a:tabLst>
                      </a:pPr>
                      <a:r>
                        <a:rPr lang="en-US" sz="1600" b="1" kern="100" dirty="0">
                          <a:solidFill>
                            <a:srgbClr val="0C0D03"/>
                          </a:solidFill>
                          <a:effectLst/>
                        </a:rPr>
                        <a:t>Criterion</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Apriori</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FP-Growth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extLst>
                  <a:ext uri="{0D108BD9-81ED-4DB2-BD59-A6C34878D82A}">
                    <a16:rowId xmlns:a16="http://schemas.microsoft.com/office/drawing/2014/main" val="2903071490"/>
                  </a:ext>
                </a:extLst>
              </a:tr>
              <a:tr h="190281">
                <a:tc>
                  <a:txBody>
                    <a:bodyPr/>
                    <a:lstStyle/>
                    <a:p>
                      <a:pPr marL="0" marR="0" algn="ctr">
                        <a:lnSpc>
                          <a:spcPct val="150000"/>
                        </a:lnSpc>
                        <a:spcAft>
                          <a:spcPts val="800"/>
                        </a:spcAft>
                        <a:buNone/>
                        <a:tabLst>
                          <a:tab pos="6372225" algn="l"/>
                        </a:tabLst>
                      </a:pPr>
                      <a:r>
                        <a:rPr lang="en-US" sz="1600" b="1" kern="100">
                          <a:solidFill>
                            <a:srgbClr val="0C0D03"/>
                          </a:solidFill>
                          <a:effectLst/>
                        </a:rPr>
                        <a:t>Number of Database Scans</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Multiple</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dirty="0">
                          <a:solidFill>
                            <a:srgbClr val="0C0D03"/>
                          </a:solidFill>
                          <a:effectLst/>
                        </a:rPr>
                        <a:t>Two</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extLst>
                  <a:ext uri="{0D108BD9-81ED-4DB2-BD59-A6C34878D82A}">
                    <a16:rowId xmlns:a16="http://schemas.microsoft.com/office/drawing/2014/main" val="2645863817"/>
                  </a:ext>
                </a:extLst>
              </a:tr>
              <a:tr h="190281">
                <a:tc>
                  <a:txBody>
                    <a:bodyPr/>
                    <a:lstStyle/>
                    <a:p>
                      <a:pPr marL="0" marR="0" algn="ctr">
                        <a:lnSpc>
                          <a:spcPct val="150000"/>
                        </a:lnSpc>
                        <a:spcAft>
                          <a:spcPts val="800"/>
                        </a:spcAft>
                        <a:buNone/>
                        <a:tabLst>
                          <a:tab pos="6372225" algn="l"/>
                        </a:tabLst>
                      </a:pPr>
                      <a:r>
                        <a:rPr lang="en-US" sz="1600" b="1" kern="100">
                          <a:solidFill>
                            <a:srgbClr val="0C0D03"/>
                          </a:solidFill>
                          <a:effectLst/>
                        </a:rPr>
                        <a:t>Execution Speed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Slower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Faster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extLst>
                  <a:ext uri="{0D108BD9-81ED-4DB2-BD59-A6C34878D82A}">
                    <a16:rowId xmlns:a16="http://schemas.microsoft.com/office/drawing/2014/main" val="4107617507"/>
                  </a:ext>
                </a:extLst>
              </a:tr>
              <a:tr h="124509">
                <a:tc>
                  <a:txBody>
                    <a:bodyPr/>
                    <a:lstStyle/>
                    <a:p>
                      <a:pPr marL="0" marR="0" algn="ctr">
                        <a:lnSpc>
                          <a:spcPct val="150000"/>
                        </a:lnSpc>
                        <a:spcAft>
                          <a:spcPts val="800"/>
                        </a:spcAft>
                        <a:buNone/>
                        <a:tabLst>
                          <a:tab pos="6372225" algn="l"/>
                        </a:tabLst>
                      </a:pPr>
                      <a:r>
                        <a:rPr lang="en-US" sz="1600" b="1" kern="100">
                          <a:solidFill>
                            <a:srgbClr val="0C0D03"/>
                          </a:solidFill>
                          <a:effectLst/>
                        </a:rPr>
                        <a:t>Computational Overhead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High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Low</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extLst>
                  <a:ext uri="{0D108BD9-81ED-4DB2-BD59-A6C34878D82A}">
                    <a16:rowId xmlns:a16="http://schemas.microsoft.com/office/drawing/2014/main" val="976617903"/>
                  </a:ext>
                </a:extLst>
              </a:tr>
              <a:tr h="979541">
                <a:tc>
                  <a:txBody>
                    <a:bodyPr/>
                    <a:lstStyle/>
                    <a:p>
                      <a:pPr marL="0" marR="0" algn="ctr">
                        <a:lnSpc>
                          <a:spcPct val="150000"/>
                        </a:lnSpc>
                        <a:spcAft>
                          <a:spcPts val="800"/>
                        </a:spcAft>
                        <a:buNone/>
                        <a:tabLst>
                          <a:tab pos="6372225" algn="l"/>
                        </a:tabLst>
                      </a:pPr>
                      <a:r>
                        <a:rPr lang="en-US" sz="1600" b="1" kern="100" dirty="0">
                          <a:solidFill>
                            <a:srgbClr val="0C0D03"/>
                          </a:solidFill>
                          <a:effectLst/>
                        </a:rPr>
                        <a:t>Memory Usage</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dirty="0">
                          <a:solidFill>
                            <a:srgbClr val="0C0D03"/>
                          </a:solidFill>
                          <a:effectLst/>
                        </a:rPr>
                        <a:t>High (candidates stored)</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tc>
                  <a:txBody>
                    <a:bodyPr/>
                    <a:lstStyle/>
                    <a:p>
                      <a:pPr marL="0" marR="0" algn="ctr">
                        <a:lnSpc>
                          <a:spcPct val="150000"/>
                        </a:lnSpc>
                        <a:spcAft>
                          <a:spcPts val="800"/>
                        </a:spcAft>
                        <a:buNone/>
                        <a:tabLst>
                          <a:tab pos="6372225" algn="l"/>
                        </a:tabLst>
                      </a:pPr>
                      <a:r>
                        <a:rPr lang="en-US" sz="1600" b="1" kern="100" dirty="0">
                          <a:solidFill>
                            <a:srgbClr val="0C0D03"/>
                          </a:solidFill>
                          <a:effectLst/>
                        </a:rPr>
                        <a:t>Efficient (compressed FP-tree)</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35637" marR="35637" marT="0" marB="0"/>
                </a:tc>
                <a:extLst>
                  <a:ext uri="{0D108BD9-81ED-4DB2-BD59-A6C34878D82A}">
                    <a16:rowId xmlns:a16="http://schemas.microsoft.com/office/drawing/2014/main" val="1243963115"/>
                  </a:ext>
                </a:extLst>
              </a:tr>
            </a:tbl>
          </a:graphicData>
        </a:graphic>
      </p:graphicFrame>
    </p:spTree>
    <p:extLst>
      <p:ext uri="{BB962C8B-B14F-4D97-AF65-F5344CB8AC3E}">
        <p14:creationId xmlns:p14="http://schemas.microsoft.com/office/powerpoint/2010/main" val="428033248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D2C9-77B0-2EA6-B387-1E632DB04C4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8A3BA2AB-C641-B017-F00C-22CDAD332D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120</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2F3BF6C4-BFEA-3B4A-F764-70E7CBFF2C2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96DC316E-68AE-CA0D-2591-42C285B967E4}"/>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Scalability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Apriori shows performance degradation as the dataset size increases because the number of candidate itemsets grows exponentially. FP-Growth scales more effectively due to its compact tree-based representation of transactions.</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This makes FP-Growth more suitable for large-scale retail dataset and real-world market basket analysis.</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A99537B-AD8C-2F74-392C-EB8AE74A03D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F3BC845D-4924-E05E-DCBE-8D83C31ED5C4}"/>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336084597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6E7AC-18E3-B3B1-00D9-3E27E5180F8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3EA6504F-05D2-B6BB-A836-848A229DA48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121</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9633D7CE-3921-0593-B8B2-DBB1EE435F7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5D83A7C5-52D3-136F-7497-ECB92C362013}"/>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Association Rule Generation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Both algorithm produced high-quality association rules using the same confidence and lift thresholds. Strong rules such as:</a:t>
            </a:r>
          </a:p>
          <a:p>
            <a:pPr marL="342900" marR="0" lvl="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(whole milk → other vegetables)</a:t>
            </a:r>
          </a:p>
          <a:p>
            <a:pPr marL="342900" marR="0" lvl="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(yogurt → whole milk)</a:t>
            </a:r>
          </a:p>
          <a:p>
            <a:pPr marL="342900" marR="0" lvl="0" indent="-342900" algn="just"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(root vegetables → other vegetables)</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were consistently identified by both approaches.</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FP-Growth produced the same or a slightly larger number of strong rules within a shorter execution time, confirming its efficiency advantage.</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54768D7-652C-D0CC-CC27-0C78DE69AFD9}"/>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7962948B-BD96-5A3B-FD2A-7ECE5B96FF75}"/>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204055386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BCF7-A226-1943-D16C-EB757F9C1F72}"/>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2FEA9AF-02F7-6CE7-AAB4-B742AA683F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122</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60B22DD6-D1C3-13F2-EEB1-21BE23DC8F1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3FD642B8-563E-678D-4600-47B21E58D0BB}"/>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Association Rule Generation :</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29DD8DF-5369-292E-EA50-6AC51472374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4DE2B8FD-5940-6EF8-CCB9-FB3D845DCA4E}"/>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graphicFrame>
        <p:nvGraphicFramePr>
          <p:cNvPr id="5" name="Table 4">
            <a:extLst>
              <a:ext uri="{FF2B5EF4-FFF2-40B4-BE49-F238E27FC236}">
                <a16:creationId xmlns:a16="http://schemas.microsoft.com/office/drawing/2014/main" id="{DEAF46DB-0FFB-AF18-78C2-36B1AA344BB7}"/>
              </a:ext>
            </a:extLst>
          </p:cNvPr>
          <p:cNvGraphicFramePr>
            <a:graphicFrameLocks noGrp="1"/>
          </p:cNvGraphicFramePr>
          <p:nvPr>
            <p:extLst>
              <p:ext uri="{D42A27DB-BD31-4B8C-83A1-F6EECF244321}">
                <p14:modId xmlns:p14="http://schemas.microsoft.com/office/powerpoint/2010/main" val="3909733178"/>
              </p:ext>
            </p:extLst>
          </p:nvPr>
        </p:nvGraphicFramePr>
        <p:xfrm>
          <a:off x="457200" y="3090702"/>
          <a:ext cx="8229600" cy="1631635"/>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521034517"/>
                    </a:ext>
                  </a:extLst>
                </a:gridCol>
                <a:gridCol w="2743200">
                  <a:extLst>
                    <a:ext uri="{9D8B030D-6E8A-4147-A177-3AD203B41FA5}">
                      <a16:colId xmlns:a16="http://schemas.microsoft.com/office/drawing/2014/main" val="1093209908"/>
                    </a:ext>
                  </a:extLst>
                </a:gridCol>
                <a:gridCol w="2743200">
                  <a:extLst>
                    <a:ext uri="{9D8B030D-6E8A-4147-A177-3AD203B41FA5}">
                      <a16:colId xmlns:a16="http://schemas.microsoft.com/office/drawing/2014/main" val="3628481920"/>
                    </a:ext>
                  </a:extLst>
                </a:gridCol>
              </a:tblGrid>
              <a:tr h="0">
                <a:tc>
                  <a:txBody>
                    <a:bodyPr/>
                    <a:lstStyle/>
                    <a:p>
                      <a:pPr marL="0" marR="0" algn="ctr">
                        <a:lnSpc>
                          <a:spcPct val="150000"/>
                        </a:lnSpc>
                        <a:spcAft>
                          <a:spcPts val="800"/>
                        </a:spcAft>
                        <a:buNone/>
                        <a:tabLst>
                          <a:tab pos="6372225" algn="l"/>
                        </a:tabLst>
                      </a:pPr>
                      <a:r>
                        <a:rPr lang="en-US" sz="1600" b="1" kern="100">
                          <a:solidFill>
                            <a:srgbClr val="0C0D03"/>
                          </a:solidFill>
                          <a:effectLst/>
                        </a:rPr>
                        <a:t>Metric</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Apriori</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FP-Growth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00540381"/>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Rule Quality</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High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High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12931649"/>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Support Values</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Similar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Similar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84129574"/>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Confidence Values</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Similar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Similar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00896956"/>
                  </a:ext>
                </a:extLst>
              </a:tr>
              <a:tr h="0">
                <a:tc>
                  <a:txBody>
                    <a:bodyPr/>
                    <a:lstStyle/>
                    <a:p>
                      <a:pPr marL="0" marR="0" algn="ctr">
                        <a:lnSpc>
                          <a:spcPct val="150000"/>
                        </a:lnSpc>
                        <a:spcAft>
                          <a:spcPts val="800"/>
                        </a:spcAft>
                        <a:buNone/>
                        <a:tabLst>
                          <a:tab pos="6372225" algn="l"/>
                        </a:tabLst>
                      </a:pPr>
                      <a:r>
                        <a:rPr lang="en-US" sz="1600" b="1" kern="100">
                          <a:solidFill>
                            <a:srgbClr val="0C0D03"/>
                          </a:solidFill>
                          <a:effectLst/>
                        </a:rPr>
                        <a:t>Lift Values</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Similar</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dirty="0">
                          <a:solidFill>
                            <a:srgbClr val="0C0D03"/>
                          </a:solidFill>
                          <a:effectLst/>
                        </a:rPr>
                        <a:t>Similar</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32891042"/>
                  </a:ext>
                </a:extLst>
              </a:tr>
            </a:tbl>
          </a:graphicData>
        </a:graphic>
      </p:graphicFrame>
    </p:spTree>
    <p:extLst>
      <p:ext uri="{BB962C8B-B14F-4D97-AF65-F5344CB8AC3E}">
        <p14:creationId xmlns:p14="http://schemas.microsoft.com/office/powerpoint/2010/main" val="35776940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3BCB5-D12A-3E12-B362-3F1178A0202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4233F4FD-51E4-516F-43DA-5E9196A23D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123</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D0513545-7D66-75D3-C1A3-EC30D1EF0577}"/>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C7356C42-2EE6-6070-F74C-1FC783A911D3}"/>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Memory Consumption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Apriori stores and processes a large number of candidate itemsets, which increases memory consumption. FP-Growth compresses the dataset into an FP-tree, reducing redundant storage and memory usage</a:t>
            </a:r>
            <a:r>
              <a:rPr kumimoji="0" lang="en-US" sz="21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F00AA26-E026-4869-CE04-E3D8A42AD29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93DDD5BE-E152-8536-7F7A-F72219F282A1}"/>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408397645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87FE1-0909-8EFB-B4CB-2862BBF4388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D18EDA6-C19E-5EA3-E21D-A7740947F0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124</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351698D4-6654-CC24-9B8A-6E9E34A632C3}"/>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6F4AC89E-471C-D8AA-E497-0ED9B3DCD4E0}"/>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Memory Consumption :</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9F4719C-6901-718A-4584-CD71C063F19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9EC1D9A3-36F1-3E9C-E906-0FB0577D477D}"/>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graphicFrame>
        <p:nvGraphicFramePr>
          <p:cNvPr id="5" name="Table 4">
            <a:extLst>
              <a:ext uri="{FF2B5EF4-FFF2-40B4-BE49-F238E27FC236}">
                <a16:creationId xmlns:a16="http://schemas.microsoft.com/office/drawing/2014/main" id="{3C8F5929-FAFC-FE5F-789E-4A38BD1FCCFB}"/>
              </a:ext>
            </a:extLst>
          </p:cNvPr>
          <p:cNvGraphicFramePr>
            <a:graphicFrameLocks noGrp="1"/>
          </p:cNvGraphicFramePr>
          <p:nvPr>
            <p:extLst>
              <p:ext uri="{D42A27DB-BD31-4B8C-83A1-F6EECF244321}">
                <p14:modId xmlns:p14="http://schemas.microsoft.com/office/powerpoint/2010/main" val="1839678624"/>
              </p:ext>
            </p:extLst>
          </p:nvPr>
        </p:nvGraphicFramePr>
        <p:xfrm>
          <a:off x="457200" y="3233609"/>
          <a:ext cx="8229600" cy="1468628"/>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767561367"/>
                    </a:ext>
                  </a:extLst>
                </a:gridCol>
                <a:gridCol w="2743200">
                  <a:extLst>
                    <a:ext uri="{9D8B030D-6E8A-4147-A177-3AD203B41FA5}">
                      <a16:colId xmlns:a16="http://schemas.microsoft.com/office/drawing/2014/main" val="2986814824"/>
                    </a:ext>
                  </a:extLst>
                </a:gridCol>
                <a:gridCol w="2743200">
                  <a:extLst>
                    <a:ext uri="{9D8B030D-6E8A-4147-A177-3AD203B41FA5}">
                      <a16:colId xmlns:a16="http://schemas.microsoft.com/office/drawing/2014/main" val="3776750712"/>
                    </a:ext>
                  </a:extLst>
                </a:gridCol>
              </a:tblGrid>
              <a:tr h="0">
                <a:tc>
                  <a:txBody>
                    <a:bodyPr/>
                    <a:lstStyle/>
                    <a:p>
                      <a:pPr marL="0" marR="0" algn="ctr">
                        <a:lnSpc>
                          <a:spcPct val="150000"/>
                        </a:lnSpc>
                        <a:spcAft>
                          <a:spcPts val="800"/>
                        </a:spcAft>
                        <a:buNone/>
                        <a:tabLst>
                          <a:tab pos="6372225" algn="l"/>
                        </a:tabLst>
                      </a:pPr>
                      <a:r>
                        <a:rPr lang="en-US" sz="1800" b="1" kern="100">
                          <a:solidFill>
                            <a:srgbClr val="0C0D03"/>
                          </a:solidFill>
                          <a:effectLst/>
                        </a:rPr>
                        <a:t>Memory Aspect</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Apriori</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FP-Growth</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16078965"/>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Intermediate Storage</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Large</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Small</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93117003"/>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Data Representation</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Flat</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Tree-based</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13163610"/>
                  </a:ext>
                </a:extLst>
              </a:tr>
              <a:tr h="0">
                <a:tc>
                  <a:txBody>
                    <a:bodyPr/>
                    <a:lstStyle/>
                    <a:p>
                      <a:pPr marL="0" marR="0" algn="ctr">
                        <a:lnSpc>
                          <a:spcPct val="150000"/>
                        </a:lnSpc>
                        <a:spcAft>
                          <a:spcPts val="800"/>
                        </a:spcAft>
                        <a:buNone/>
                        <a:tabLst>
                          <a:tab pos="6372225" algn="l"/>
                        </a:tabLst>
                      </a:pPr>
                      <a:r>
                        <a:rPr lang="en-US" sz="1800" b="1" kern="100">
                          <a:solidFill>
                            <a:srgbClr val="0C0D03"/>
                          </a:solidFill>
                          <a:effectLst/>
                        </a:rPr>
                        <a:t>Efficiency</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a:solidFill>
                            <a:srgbClr val="0C0D03"/>
                          </a:solidFill>
                          <a:effectLst/>
                        </a:rPr>
                        <a:t>Lower</a:t>
                      </a:r>
                      <a:endParaRPr lang="en-US" sz="16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800" b="1" kern="100" dirty="0">
                          <a:solidFill>
                            <a:srgbClr val="0C0D03"/>
                          </a:solidFill>
                          <a:effectLst/>
                        </a:rPr>
                        <a:t>Higher</a:t>
                      </a:r>
                      <a:endParaRPr lang="en-US" sz="16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00496107"/>
                  </a:ext>
                </a:extLst>
              </a:tr>
            </a:tbl>
          </a:graphicData>
        </a:graphic>
      </p:graphicFrame>
    </p:spTree>
    <p:extLst>
      <p:ext uri="{BB962C8B-B14F-4D97-AF65-F5344CB8AC3E}">
        <p14:creationId xmlns:p14="http://schemas.microsoft.com/office/powerpoint/2010/main" val="265445616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1DFC-0B9C-3BB3-F494-E88E08A7DF37}"/>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639419BF-B84C-A2CF-C0A4-FD75EFA663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125</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75FCDFCD-D2A2-7AC5-16C2-B8891D33520B}"/>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103124E6-4F9D-7DBA-587C-FA83A54866A8}"/>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Visualization and Interpretation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Both algorithms allowed effective visualization of support versus confidence distributions. However, FP-Growth generated results more quickly, enabling faster exploratory analysis and parameter tuning.</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sz="21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The scatter plots revealed similar rule distributions, confirming that FP-Growth maintains result quality while improving efficiency.</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ECE7426-AAC1-2256-3CF8-36A18470E88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58F3242A-B1D0-63A4-3DF0-40538457E863}"/>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spTree>
    <p:extLst>
      <p:ext uri="{BB962C8B-B14F-4D97-AF65-F5344CB8AC3E}">
        <p14:creationId xmlns:p14="http://schemas.microsoft.com/office/powerpoint/2010/main" val="17352315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2661C-B908-C2BB-7503-3FE704BC7FC9}"/>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97414DE-13BC-3D76-2723-3F8A2DEA53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126</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E25FE286-F5F2-3729-2DDA-B3B05C679119}"/>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B82A4ED2-8C11-7FB0-9118-34A1AE3B60F4}"/>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Execution Time Comparison :</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2D5EA35-0274-77B1-DD29-36880DC138DB}"/>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E294B799-2C29-6247-DB22-4EA18810AB88}"/>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pic>
        <p:nvPicPr>
          <p:cNvPr id="5" name="Picture 4">
            <a:extLst>
              <a:ext uri="{FF2B5EF4-FFF2-40B4-BE49-F238E27FC236}">
                <a16:creationId xmlns:a16="http://schemas.microsoft.com/office/drawing/2014/main" id="{3EFA8C88-D341-A42D-CADD-F34C9C39F46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200" y="2723632"/>
            <a:ext cx="4381599" cy="3599381"/>
          </a:xfrm>
          <a:prstGeom prst="rect">
            <a:avLst/>
          </a:prstGeom>
          <a:noFill/>
          <a:ln>
            <a:noFill/>
          </a:ln>
        </p:spPr>
      </p:pic>
    </p:spTree>
    <p:extLst>
      <p:ext uri="{BB962C8B-B14F-4D97-AF65-F5344CB8AC3E}">
        <p14:creationId xmlns:p14="http://schemas.microsoft.com/office/powerpoint/2010/main" val="32658286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D3D35-7C8B-1C8D-163B-43EF83E51771}"/>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788E1494-7242-3958-E637-7FB02E77A8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127</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983393F1-5D21-1F7F-E4FF-F2CD92E21226}"/>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920A07CB-5317-61E6-302C-CCB9B43F57E0}"/>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Memory Usage Comparison :</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0481D15-2D76-89D9-C747-0031F71E9F4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073C7C88-D6E2-0EA6-972F-E47A9DF7E1F0}"/>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pic>
        <p:nvPicPr>
          <p:cNvPr id="7" name="Picture 6">
            <a:extLst>
              <a:ext uri="{FF2B5EF4-FFF2-40B4-BE49-F238E27FC236}">
                <a16:creationId xmlns:a16="http://schemas.microsoft.com/office/drawing/2014/main" id="{D582C858-D558-7880-0997-96FDAB3A5F9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37091" y="2636912"/>
            <a:ext cx="4069817" cy="3245440"/>
          </a:xfrm>
          <a:prstGeom prst="rect">
            <a:avLst/>
          </a:prstGeom>
          <a:noFill/>
          <a:ln>
            <a:noFill/>
          </a:ln>
        </p:spPr>
      </p:pic>
    </p:spTree>
    <p:extLst>
      <p:ext uri="{BB962C8B-B14F-4D97-AF65-F5344CB8AC3E}">
        <p14:creationId xmlns:p14="http://schemas.microsoft.com/office/powerpoint/2010/main" val="35077282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4E430-8230-1A80-4168-2E0CED6C1E3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F5073579-5CCC-7D7C-9F54-4F249323143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marL="0" marR="0" lvl="0" indent="0" algn="r" defTabSz="914400" rtl="1" eaLnBrk="1" fontAlgn="auto" latinLnBrk="0" hangingPunct="1">
              <a:lnSpc>
                <a:spcPct val="100000"/>
              </a:lnSpc>
              <a:spcBef>
                <a:spcPct val="0"/>
              </a:spcBef>
              <a:spcAft>
                <a:spcPts val="0"/>
              </a:spcAft>
              <a:buClrTx/>
              <a:buSzTx/>
              <a:buFontTx/>
              <a:buNone/>
              <a:tabLst/>
              <a:defRPr/>
            </a:pPr>
            <a:fld id="{43A2960F-C8A3-4699-87AB-472E6F661240}" type="slidenum">
              <a:rPr kumimoji="0" lang="zh-CN" altLang="en-US" sz="1000" b="0" i="0" u="none" strike="noStrike" kern="1200" cap="none" spc="0" normalizeH="0" baseline="0" noProof="0">
                <a:ln>
                  <a:noFill/>
                </a:ln>
                <a:solidFill>
                  <a:srgbClr val="000000"/>
                </a:solidFill>
                <a:effectLst/>
                <a:uLnTx/>
                <a:uFillTx/>
                <a:latin typeface="Arial" pitchFamily="34" charset="0"/>
                <a:ea typeface="SimSun" pitchFamily="2" charset="-122"/>
                <a:cs typeface="+mn-cs"/>
              </a:rPr>
              <a:pPr marL="0" marR="0" lvl="0" indent="0" algn="r" defTabSz="914400" rtl="1" eaLnBrk="1" fontAlgn="auto" latinLnBrk="0" hangingPunct="1">
                <a:lnSpc>
                  <a:spcPct val="100000"/>
                </a:lnSpc>
                <a:spcBef>
                  <a:spcPct val="0"/>
                </a:spcBef>
                <a:spcAft>
                  <a:spcPts val="0"/>
                </a:spcAft>
                <a:buClrTx/>
                <a:buSzTx/>
                <a:buFontTx/>
                <a:buNone/>
                <a:tabLst/>
                <a:defRPr/>
              </a:pPr>
              <a:t>128</a:t>
            </a:fld>
            <a:endParaRPr kumimoji="0" lang="en-US" altLang="zh-CN" sz="1000" b="0" i="0" u="none" strike="noStrike" kern="1200" cap="none" spc="0" normalizeH="0" baseline="0" noProof="0">
              <a:ln>
                <a:noFill/>
              </a:ln>
              <a:solidFill>
                <a:srgbClr val="000000"/>
              </a:solidFill>
              <a:effectLst/>
              <a:uLnTx/>
              <a:uFillTx/>
              <a:latin typeface="Arial" pitchFamily="34" charset="0"/>
              <a:ea typeface="SimSun" pitchFamily="2" charset="-122"/>
              <a:cs typeface="+mn-cs"/>
            </a:endParaRPr>
          </a:p>
        </p:txBody>
      </p:sp>
      <p:sp>
        <p:nvSpPr>
          <p:cNvPr id="2" name="Rectangle: Rounded Corners 1">
            <a:extLst>
              <a:ext uri="{FF2B5EF4-FFF2-40B4-BE49-F238E27FC236}">
                <a16:creationId xmlns:a16="http://schemas.microsoft.com/office/drawing/2014/main" id="{8FB40385-6022-A467-2638-38EF050015E4}"/>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0E2AE">
                    <a:lumMod val="20000"/>
                    <a:lumOff val="80000"/>
                  </a:srgbClr>
                </a:solidFill>
                <a:effectLst/>
                <a:uLnTx/>
                <a:uFillTx/>
                <a:latin typeface="Times New Roman" panose="02020603050405020304" pitchFamily="18" charset="0"/>
                <a:cs typeface="Times New Roman" panose="02020603050405020304" pitchFamily="18" charset="0"/>
              </a:rPr>
              <a:t>Chapter 6</a:t>
            </a:r>
          </a:p>
        </p:txBody>
      </p:sp>
      <p:sp>
        <p:nvSpPr>
          <p:cNvPr id="4" name="Rectangle: Rounded Corners 3">
            <a:extLst>
              <a:ext uri="{FF2B5EF4-FFF2-40B4-BE49-F238E27FC236}">
                <a16:creationId xmlns:a16="http://schemas.microsoft.com/office/drawing/2014/main" id="{4F76DBD5-0A48-9C9C-7C58-43E111290CD3}"/>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rPr>
              <a:t>Summary of Key Differences :</a:t>
            </a: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defRPr/>
            </a:pPr>
            <a:endParaRPr kumimoji="0" lang="en-US" sz="2000" b="1" i="0" u="none" strike="noStrike" kern="1200" cap="none" spc="0" normalizeH="0" baseline="0" noProof="0" dirty="0">
              <a:ln>
                <a:noFill/>
              </a:ln>
              <a:solidFill>
                <a:srgbClr val="0C0D03"/>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6D8BDA6-7F83-3228-200C-0A517B241138}"/>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
        <p:nvSpPr>
          <p:cNvPr id="6" name="TextBox 5">
            <a:extLst>
              <a:ext uri="{FF2B5EF4-FFF2-40B4-BE49-F238E27FC236}">
                <a16:creationId xmlns:a16="http://schemas.microsoft.com/office/drawing/2014/main" id="{2A165F4E-E824-2BA9-90D9-FC037D9B2AB1}"/>
              </a:ext>
            </a:extLst>
          </p:cNvPr>
          <p:cNvSpPr txBox="1"/>
          <p:nvPr/>
        </p:nvSpPr>
        <p:spPr>
          <a:xfrm>
            <a:off x="1354819" y="1289955"/>
            <a:ext cx="8064896" cy="461665"/>
          </a:xfrm>
          <a:prstGeom prst="rect">
            <a:avLst/>
          </a:prstGeom>
          <a:noFill/>
        </p:spPr>
        <p:txBody>
          <a:bodyPr wrap="square" rtlCol="0">
            <a:spAutoFit/>
          </a:bodyPr>
          <a:lstStyle/>
          <a:p>
            <a:pPr algn="ctr"/>
            <a:r>
              <a:rPr lang="en-US" sz="2400" b="1" dirty="0">
                <a:solidFill>
                  <a:srgbClr val="0C0D03"/>
                </a:solidFill>
                <a:latin typeface="Times New Roman" panose="02020603050405020304" pitchFamily="18" charset="0"/>
                <a:cs typeface="Times New Roman" panose="02020603050405020304" pitchFamily="18" charset="0"/>
              </a:rPr>
              <a:t>Comparison between apriori and FP-Growth algorithm </a:t>
            </a:r>
          </a:p>
        </p:txBody>
      </p:sp>
      <p:graphicFrame>
        <p:nvGraphicFramePr>
          <p:cNvPr id="5" name="Table 4">
            <a:extLst>
              <a:ext uri="{FF2B5EF4-FFF2-40B4-BE49-F238E27FC236}">
                <a16:creationId xmlns:a16="http://schemas.microsoft.com/office/drawing/2014/main" id="{9DDDCF86-5DC5-39E0-4DA1-B8E6D005B0EA}"/>
              </a:ext>
            </a:extLst>
          </p:cNvPr>
          <p:cNvGraphicFramePr>
            <a:graphicFrameLocks noGrp="1"/>
          </p:cNvGraphicFramePr>
          <p:nvPr>
            <p:extLst>
              <p:ext uri="{D42A27DB-BD31-4B8C-83A1-F6EECF244321}">
                <p14:modId xmlns:p14="http://schemas.microsoft.com/office/powerpoint/2010/main" val="171886857"/>
              </p:ext>
            </p:extLst>
          </p:nvPr>
        </p:nvGraphicFramePr>
        <p:xfrm>
          <a:off x="457200" y="2804888"/>
          <a:ext cx="8229600" cy="2650049"/>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val="2145467489"/>
                    </a:ext>
                  </a:extLst>
                </a:gridCol>
                <a:gridCol w="2743200">
                  <a:extLst>
                    <a:ext uri="{9D8B030D-6E8A-4147-A177-3AD203B41FA5}">
                      <a16:colId xmlns:a16="http://schemas.microsoft.com/office/drawing/2014/main" val="1129448411"/>
                    </a:ext>
                  </a:extLst>
                </a:gridCol>
                <a:gridCol w="2743200">
                  <a:extLst>
                    <a:ext uri="{9D8B030D-6E8A-4147-A177-3AD203B41FA5}">
                      <a16:colId xmlns:a16="http://schemas.microsoft.com/office/drawing/2014/main" val="4262729348"/>
                    </a:ext>
                  </a:extLst>
                </a:gridCol>
              </a:tblGrid>
              <a:tr h="0">
                <a:tc>
                  <a:txBody>
                    <a:bodyPr/>
                    <a:lstStyle/>
                    <a:p>
                      <a:pPr marL="0" marR="0" algn="ctr">
                        <a:lnSpc>
                          <a:spcPct val="150000"/>
                        </a:lnSpc>
                        <a:spcAft>
                          <a:spcPts val="800"/>
                        </a:spcAft>
                        <a:buNone/>
                        <a:tabLst>
                          <a:tab pos="6372225" algn="l"/>
                        </a:tabLst>
                      </a:pPr>
                      <a:r>
                        <a:rPr lang="en-US" sz="1600" b="1" kern="100">
                          <a:solidFill>
                            <a:srgbClr val="0C0D03"/>
                          </a:solidFill>
                          <a:effectLst/>
                        </a:rPr>
                        <a:t>Feature</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Apriori</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50000"/>
                        </a:lnSpc>
                        <a:spcAft>
                          <a:spcPts val="800"/>
                        </a:spcAft>
                        <a:buNone/>
                        <a:tabLst>
                          <a:tab pos="6372225" algn="l"/>
                        </a:tabLst>
                      </a:pPr>
                      <a:r>
                        <a:rPr lang="en-US" sz="1600" b="1" kern="100">
                          <a:solidFill>
                            <a:srgbClr val="0C0D03"/>
                          </a:solidFill>
                          <a:effectLst/>
                        </a:rPr>
                        <a:t>FP-Growth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42552485"/>
                  </a:ext>
                </a:extLst>
              </a:tr>
              <a:tr h="0">
                <a:tc>
                  <a:txBody>
                    <a:bodyPr/>
                    <a:lstStyle/>
                    <a:p>
                      <a:pPr marL="0" marR="0">
                        <a:lnSpc>
                          <a:spcPct val="150000"/>
                        </a:lnSpc>
                        <a:spcAft>
                          <a:spcPts val="800"/>
                        </a:spcAft>
                        <a:buNone/>
                        <a:tabLst>
                          <a:tab pos="6372225" algn="l"/>
                        </a:tabLst>
                      </a:pPr>
                      <a:r>
                        <a:rPr lang="en-US" sz="1600" b="1" kern="100">
                          <a:solidFill>
                            <a:srgbClr val="0C0D03"/>
                          </a:solidFill>
                          <a:effectLst/>
                        </a:rPr>
                        <a:t>Algorithm Type</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Candidate-based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Pattern-growth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02830700"/>
                  </a:ext>
                </a:extLst>
              </a:tr>
              <a:tr h="0">
                <a:tc>
                  <a:txBody>
                    <a:bodyPr/>
                    <a:lstStyle/>
                    <a:p>
                      <a:pPr marL="0" marR="0">
                        <a:lnSpc>
                          <a:spcPct val="150000"/>
                        </a:lnSpc>
                        <a:spcAft>
                          <a:spcPts val="800"/>
                        </a:spcAft>
                        <a:buNone/>
                        <a:tabLst>
                          <a:tab pos="6372225" algn="l"/>
                        </a:tabLst>
                      </a:pPr>
                      <a:r>
                        <a:rPr lang="en-US" sz="1600" b="1" kern="100">
                          <a:solidFill>
                            <a:srgbClr val="0C0D03"/>
                          </a:solidFill>
                          <a:effectLst/>
                        </a:rPr>
                        <a:t>Candidate Generation</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Yes</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No</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05773723"/>
                  </a:ext>
                </a:extLst>
              </a:tr>
              <a:tr h="0">
                <a:tc>
                  <a:txBody>
                    <a:bodyPr/>
                    <a:lstStyle/>
                    <a:p>
                      <a:pPr marL="0" marR="0">
                        <a:lnSpc>
                          <a:spcPct val="150000"/>
                        </a:lnSpc>
                        <a:spcAft>
                          <a:spcPts val="800"/>
                        </a:spcAft>
                        <a:buNone/>
                        <a:tabLst>
                          <a:tab pos="6372225" algn="l"/>
                        </a:tabLst>
                      </a:pPr>
                      <a:r>
                        <a:rPr lang="en-US" sz="1600" b="1" kern="100">
                          <a:solidFill>
                            <a:srgbClr val="0C0D03"/>
                          </a:solidFill>
                          <a:effectLst/>
                        </a:rPr>
                        <a:t>Speed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Moderate to Slow</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Fast</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21189800"/>
                  </a:ext>
                </a:extLst>
              </a:tr>
              <a:tr h="0">
                <a:tc>
                  <a:txBody>
                    <a:bodyPr/>
                    <a:lstStyle/>
                    <a:p>
                      <a:pPr marL="0" marR="0">
                        <a:lnSpc>
                          <a:spcPct val="150000"/>
                        </a:lnSpc>
                        <a:spcAft>
                          <a:spcPts val="800"/>
                        </a:spcAft>
                        <a:buNone/>
                        <a:tabLst>
                          <a:tab pos="6372225" algn="l"/>
                        </a:tabLst>
                      </a:pPr>
                      <a:r>
                        <a:rPr lang="en-US" sz="1600" b="1" kern="100">
                          <a:solidFill>
                            <a:srgbClr val="0C0D03"/>
                          </a:solidFill>
                          <a:effectLst/>
                        </a:rPr>
                        <a:t>Scalability</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Limited</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High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80466317"/>
                  </a:ext>
                </a:extLst>
              </a:tr>
              <a:tr h="0">
                <a:tc>
                  <a:txBody>
                    <a:bodyPr/>
                    <a:lstStyle/>
                    <a:p>
                      <a:pPr marL="0" marR="0">
                        <a:lnSpc>
                          <a:spcPct val="150000"/>
                        </a:lnSpc>
                        <a:spcAft>
                          <a:spcPts val="800"/>
                        </a:spcAft>
                        <a:buNone/>
                        <a:tabLst>
                          <a:tab pos="6372225" algn="l"/>
                        </a:tabLst>
                      </a:pPr>
                      <a:r>
                        <a:rPr lang="en-US" sz="1600" b="1" kern="100">
                          <a:solidFill>
                            <a:srgbClr val="0C0D03"/>
                          </a:solidFill>
                          <a:effectLst/>
                        </a:rPr>
                        <a:t>Memory Efficiency</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Low</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High</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8560226"/>
                  </a:ext>
                </a:extLst>
              </a:tr>
              <a:tr h="0">
                <a:tc>
                  <a:txBody>
                    <a:bodyPr/>
                    <a:lstStyle/>
                    <a:p>
                      <a:pPr marL="0" marR="0">
                        <a:lnSpc>
                          <a:spcPct val="150000"/>
                        </a:lnSpc>
                        <a:spcAft>
                          <a:spcPts val="800"/>
                        </a:spcAft>
                        <a:buNone/>
                        <a:tabLst>
                          <a:tab pos="6372225" algn="l"/>
                        </a:tabLst>
                      </a:pPr>
                      <a:r>
                        <a:rPr lang="en-US" sz="1600" b="1" kern="100">
                          <a:solidFill>
                            <a:srgbClr val="0C0D03"/>
                          </a:solidFill>
                          <a:effectLst/>
                        </a:rPr>
                        <a:t>Suitability for Large Datasets</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a:solidFill>
                            <a:srgbClr val="0C0D03"/>
                          </a:solidFill>
                          <a:effectLst/>
                        </a:rPr>
                        <a:t>Less suitable</a:t>
                      </a:r>
                      <a:endParaRPr lang="en-US" sz="1400" b="1" kern="10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Aft>
                          <a:spcPts val="800"/>
                        </a:spcAft>
                        <a:buNone/>
                        <a:tabLst>
                          <a:tab pos="6372225" algn="l"/>
                        </a:tabLst>
                      </a:pPr>
                      <a:r>
                        <a:rPr lang="en-US" sz="1600" b="1" kern="100" dirty="0">
                          <a:solidFill>
                            <a:srgbClr val="0C0D03"/>
                          </a:solidFill>
                          <a:effectLst/>
                        </a:rPr>
                        <a:t>Highly suitable</a:t>
                      </a:r>
                      <a:endParaRPr lang="en-US" sz="1400" b="1" kern="100" dirty="0">
                        <a:solidFill>
                          <a:srgbClr val="0C0D03"/>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38114924"/>
                  </a:ext>
                </a:extLst>
              </a:tr>
            </a:tbl>
          </a:graphicData>
        </a:graphic>
      </p:graphicFrame>
    </p:spTree>
    <p:extLst>
      <p:ext uri="{BB962C8B-B14F-4D97-AF65-F5344CB8AC3E}">
        <p14:creationId xmlns:p14="http://schemas.microsoft.com/office/powerpoint/2010/main" val="195294592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C4088-8F12-CE8F-80FF-ACB40D1DCB54}"/>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6121C55-A271-9D97-85BE-FA82E274F9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129</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0A4EE6FB-3F48-2259-6F8A-029A81EBDC2F}"/>
              </a:ext>
            </a:extLst>
          </p:cNvPr>
          <p:cNvSpPr/>
          <p:nvPr/>
        </p:nvSpPr>
        <p:spPr bwMode="auto">
          <a:xfrm>
            <a:off x="2291506" y="1628800"/>
            <a:ext cx="4560987" cy="576064"/>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7</a:t>
            </a:r>
            <a:endParaRPr lang="en-US" sz="2400" b="1"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389E03C-6857-B14B-D111-58403DA93ED8}"/>
              </a:ext>
            </a:extLst>
          </p:cNvPr>
          <p:cNvSpPr txBox="1"/>
          <p:nvPr/>
        </p:nvSpPr>
        <p:spPr>
          <a:xfrm>
            <a:off x="755576" y="2828835"/>
            <a:ext cx="7632848" cy="1446550"/>
          </a:xfrm>
          <a:prstGeom prst="rect">
            <a:avLst/>
          </a:prstGeom>
          <a:noFill/>
        </p:spPr>
        <p:txBody>
          <a:bodyPr wrap="square" rtlCol="0">
            <a:spAutoFit/>
          </a:bodyPr>
          <a:lstStyle/>
          <a:p>
            <a:pPr algn="ctr"/>
            <a:r>
              <a:rPr lang="en-US" sz="4400" b="1" dirty="0">
                <a:solidFill>
                  <a:srgbClr val="0C0D03"/>
                </a:solidFill>
                <a:latin typeface="Times New Roman" panose="02020603050405020304" pitchFamily="18" charset="0"/>
                <a:cs typeface="Times New Roman" panose="02020603050405020304" pitchFamily="18" charset="0"/>
              </a:rPr>
              <a:t>References</a:t>
            </a:r>
          </a:p>
          <a:p>
            <a:pPr algn="ctr"/>
            <a:r>
              <a:rPr lang="en-US" sz="4400" b="1" dirty="0">
                <a:solidFill>
                  <a:srgbClr val="0C0D03"/>
                </a:solidFill>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3B43DC6F-EA27-919F-B14C-58392D70788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20561404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F19F0-E73C-40B2-4D1B-9430DCF7839D}"/>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97BF8C67-65D6-D657-E208-5F0889C032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130</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883C70CE-7882-FA16-E4CE-29D305A54E7A}"/>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7</a:t>
            </a:r>
          </a:p>
        </p:txBody>
      </p:sp>
      <p:sp>
        <p:nvSpPr>
          <p:cNvPr id="4" name="Rectangle: Rounded Corners 3">
            <a:extLst>
              <a:ext uri="{FF2B5EF4-FFF2-40B4-BE49-F238E27FC236}">
                <a16:creationId xmlns:a16="http://schemas.microsoft.com/office/drawing/2014/main" id="{40F7D133-6AF6-764E-F14C-BAFE39170F53}"/>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 oldsworth, J. (n.d.). What is data mining? IBM. https://www.ibm.com/think/topics/data-ining</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2-GeeksforGeeks. (n.d.). Apriori algorithm in machine learning. https://www.geeksforgeeks.org/machine-learning/apriori-algorithm/</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3- GeeksforGeeks. (n.d.). Frequent Pattern Growth Algorithm. https://www.geeksforgeeks.org/machine-learning/frequent-pattern-growth-algorithm/</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4-Çiçekli, İ. (n.d.). Association Rule Mining [Lecture notes]. </a:t>
            </a:r>
            <a:r>
              <a:rPr lang="en-US" sz="2000" dirty="0" err="1">
                <a:solidFill>
                  <a:srgbClr val="0C0D03"/>
                </a:solidFill>
                <a:latin typeface="Times New Roman" panose="02020603050405020304" pitchFamily="18" charset="0"/>
                <a:cs typeface="Times New Roman" panose="02020603050405020304" pitchFamily="18" charset="0"/>
              </a:rPr>
              <a:t>Hacettepe</a:t>
            </a:r>
            <a:r>
              <a:rPr lang="en-US" sz="2000" dirty="0">
                <a:solidFill>
                  <a:srgbClr val="0C0D03"/>
                </a:solidFill>
                <a:latin typeface="Times New Roman" panose="02020603050405020304" pitchFamily="18" charset="0"/>
                <a:cs typeface="Times New Roman" panose="02020603050405020304" pitchFamily="18" charset="0"/>
              </a:rPr>
              <a:t> University Department of Computer Science. https://web.cs.hacettepe.edu.tr/~ilyas/Courses/VBM684/lec09_AssociationRuleMining.pdf</a:t>
            </a: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5045F44-5485-57F8-3A28-AF5B8C2EEA1A}"/>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376864737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8A045-9507-F718-D621-2EF54AB7C8C3}"/>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E5F4DAB1-9F5B-0C49-0DC0-AAFE737712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131</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BD620D2E-69E9-9ED7-02F9-B5BB543CFA45}"/>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7</a:t>
            </a:r>
          </a:p>
        </p:txBody>
      </p:sp>
      <p:sp>
        <p:nvSpPr>
          <p:cNvPr id="4" name="Rectangle: Rounded Corners 3">
            <a:extLst>
              <a:ext uri="{FF2B5EF4-FFF2-40B4-BE49-F238E27FC236}">
                <a16:creationId xmlns:a16="http://schemas.microsoft.com/office/drawing/2014/main" id="{894BAF50-E4DA-E313-EB78-F08501F2EAB2}"/>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5- Herath, S. (2024, January 21). Fundamentals of associate rule mining. Medium. https://medium.com/image-processing-with-python/fundaments-of-associate-rule-mining-468801ec0a29</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6- OpenAI. (2023). ChatGPT (GPT-4) [Large language model]. </a:t>
            </a:r>
            <a:r>
              <a:rPr lang="en-US" sz="2000" dirty="0">
                <a:solidFill>
                  <a:srgbClr val="0C0D03"/>
                </a:solidFill>
                <a:latin typeface="Times New Roman" panose="02020603050405020304" pitchFamily="18" charset="0"/>
                <a:cs typeface="Times New Roman" panose="02020603050405020304" pitchFamily="18" charset="0"/>
                <a:hlinkClick r:id="rId2"/>
              </a:rPr>
              <a:t>https://chat.openai.com/</a:t>
            </a: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7-DataCamp. (2025). Association Rule Mining in Python tutorial. Retrieved from https://www.datacamp.com/tutorial/association-rule-mining-python</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8-University of Tennessee, </a:t>
            </a:r>
            <a:r>
              <a:rPr lang="en-US" sz="2000" dirty="0" err="1">
                <a:solidFill>
                  <a:srgbClr val="0C0D03"/>
                </a:solidFill>
                <a:latin typeface="Times New Roman" panose="02020603050405020304" pitchFamily="18" charset="0"/>
                <a:cs typeface="Times New Roman" panose="02020603050405020304" pitchFamily="18" charset="0"/>
              </a:rPr>
              <a:t>Datalab</a:t>
            </a:r>
            <a:r>
              <a:rPr lang="en-US" sz="2000" dirty="0">
                <a:solidFill>
                  <a:srgbClr val="0C0D03"/>
                </a:solidFill>
                <a:latin typeface="Times New Roman" panose="02020603050405020304" pitchFamily="18" charset="0"/>
                <a:cs typeface="Times New Roman" panose="02020603050405020304" pitchFamily="18" charset="0"/>
              </a:rPr>
              <a:t>. (n.d.). Association Rule Mining (support, confidence, lift). Retrieved from https://datalab.utk.edu/bas474/chapters/AssociationRules.html</a:t>
            </a: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B859271-4C11-DE38-A9CF-C56AC22F1454}"/>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198684842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F9593-142C-0A76-934D-709D77A38D10}"/>
            </a:ext>
          </a:extLst>
        </p:cNvPr>
        <p:cNvGrpSpPr/>
        <p:nvPr/>
      </p:nvGrpSpPr>
      <p:grpSpPr>
        <a:xfrm>
          <a:off x="0" y="0"/>
          <a:ext cx="0" cy="0"/>
          <a:chOff x="0" y="0"/>
          <a:chExt cx="0" cy="0"/>
        </a:xfrm>
      </p:grpSpPr>
      <p:sp>
        <p:nvSpPr>
          <p:cNvPr id="166915" name="Slide Number Placeholder 3">
            <a:extLst>
              <a:ext uri="{FF2B5EF4-FFF2-40B4-BE49-F238E27FC236}">
                <a16:creationId xmlns:a16="http://schemas.microsoft.com/office/drawing/2014/main" id="{CF05410A-1864-15B5-41B0-9F83FFFCF3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itchFamily="34" charset="0"/>
                <a:ea typeface="DFKai-SB" pitchFamily="65" charset="-120"/>
              </a:defRPr>
            </a:lvl1pPr>
            <a:lvl2pPr marL="742950" indent="-285750">
              <a:spcBef>
                <a:spcPct val="20000"/>
              </a:spcBef>
              <a:buChar char="–"/>
              <a:defRPr sz="2800">
                <a:solidFill>
                  <a:srgbClr val="000000"/>
                </a:solidFill>
                <a:latin typeface="Arial" pitchFamily="34" charset="0"/>
                <a:ea typeface="DFKai-SB" pitchFamily="65" charset="-120"/>
              </a:defRPr>
            </a:lvl2pPr>
            <a:lvl3pPr marL="1143000" indent="-228600">
              <a:spcBef>
                <a:spcPct val="20000"/>
              </a:spcBef>
              <a:buChar char="•"/>
              <a:defRPr sz="2400">
                <a:solidFill>
                  <a:srgbClr val="000000"/>
                </a:solidFill>
                <a:latin typeface="Arial" pitchFamily="34" charset="0"/>
                <a:ea typeface="DFKai-SB" pitchFamily="65" charset="-120"/>
              </a:defRPr>
            </a:lvl3pPr>
            <a:lvl4pPr marL="1600200" indent="-228600">
              <a:spcBef>
                <a:spcPct val="20000"/>
              </a:spcBef>
              <a:buChar char="–"/>
              <a:defRPr sz="2000">
                <a:solidFill>
                  <a:srgbClr val="000000"/>
                </a:solidFill>
                <a:latin typeface="Arial" pitchFamily="34" charset="0"/>
                <a:ea typeface="DFKai-SB" pitchFamily="65" charset="-120"/>
              </a:defRPr>
            </a:lvl4pPr>
            <a:lvl5pPr marL="2057400" indent="-228600">
              <a:spcBef>
                <a:spcPct val="20000"/>
              </a:spcBef>
              <a:buChar char="»"/>
              <a:defRPr sz="2000">
                <a:solidFill>
                  <a:srgbClr val="000000"/>
                </a:solidFill>
                <a:latin typeface="Arial" pitchFamily="34" charset="0"/>
                <a:ea typeface="DFKai-SB" pitchFamily="65" charset="-120"/>
              </a:defRPr>
            </a:lvl5pPr>
            <a:lvl6pPr marL="25146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6pPr>
            <a:lvl7pPr marL="29718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7pPr>
            <a:lvl8pPr marL="34290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8pPr>
            <a:lvl9pPr marL="3886200" indent="-228600" algn="l" rtl="0" eaLnBrk="0" fontAlgn="base" hangingPunct="0">
              <a:spcBef>
                <a:spcPct val="20000"/>
              </a:spcBef>
              <a:spcAft>
                <a:spcPct val="0"/>
              </a:spcAft>
              <a:buChar char="»"/>
              <a:defRPr sz="2000">
                <a:solidFill>
                  <a:srgbClr val="000000"/>
                </a:solidFill>
                <a:latin typeface="Arial" pitchFamily="34" charset="0"/>
                <a:ea typeface="DFKai-SB" pitchFamily="65" charset="-120"/>
              </a:defRPr>
            </a:lvl9pPr>
          </a:lstStyle>
          <a:p>
            <a:pPr>
              <a:spcBef>
                <a:spcPct val="0"/>
              </a:spcBef>
              <a:buFontTx/>
              <a:buNone/>
            </a:pPr>
            <a:fld id="{43A2960F-C8A3-4699-87AB-472E6F661240}" type="slidenum">
              <a:rPr lang="zh-CN" altLang="en-US" sz="1000">
                <a:ea typeface="SimSun" pitchFamily="2" charset="-122"/>
              </a:rPr>
              <a:pPr>
                <a:spcBef>
                  <a:spcPct val="0"/>
                </a:spcBef>
                <a:buFontTx/>
                <a:buNone/>
              </a:pPr>
              <a:t>132</a:t>
            </a:fld>
            <a:endParaRPr lang="en-US" altLang="zh-CN" sz="1000">
              <a:ea typeface="SimSun" pitchFamily="2" charset="-122"/>
            </a:endParaRPr>
          </a:p>
        </p:txBody>
      </p:sp>
      <p:sp>
        <p:nvSpPr>
          <p:cNvPr id="2" name="Rectangle: Rounded Corners 1">
            <a:extLst>
              <a:ext uri="{FF2B5EF4-FFF2-40B4-BE49-F238E27FC236}">
                <a16:creationId xmlns:a16="http://schemas.microsoft.com/office/drawing/2014/main" id="{76229EEB-4563-7847-229A-D34563CC6E6C}"/>
              </a:ext>
            </a:extLst>
          </p:cNvPr>
          <p:cNvSpPr/>
          <p:nvPr/>
        </p:nvSpPr>
        <p:spPr bwMode="auto">
          <a:xfrm>
            <a:off x="16202" y="1268760"/>
            <a:ext cx="1675478" cy="504056"/>
          </a:xfrm>
          <a:prstGeom prst="roundRect">
            <a:avLst>
              <a:gd name="adj" fmla="val 50000"/>
            </a:avLst>
          </a:prstGeom>
          <a:solidFill>
            <a:schemeClr val="bg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accent5">
                    <a:lumMod val="20000"/>
                    <a:lumOff val="80000"/>
                  </a:schemeClr>
                </a:solidFill>
                <a:effectLst/>
                <a:latin typeface="Times New Roman" panose="02020603050405020304" pitchFamily="18" charset="0"/>
                <a:cs typeface="Times New Roman" panose="02020603050405020304" pitchFamily="18" charset="0"/>
              </a:rPr>
              <a:t>Chapter 7</a:t>
            </a:r>
          </a:p>
        </p:txBody>
      </p:sp>
      <p:sp>
        <p:nvSpPr>
          <p:cNvPr id="4" name="Rectangle: Rounded Corners 3">
            <a:extLst>
              <a:ext uri="{FF2B5EF4-FFF2-40B4-BE49-F238E27FC236}">
                <a16:creationId xmlns:a16="http://schemas.microsoft.com/office/drawing/2014/main" id="{5DAA0BDF-616C-E5D6-2907-A2E8909EE265}"/>
              </a:ext>
            </a:extLst>
          </p:cNvPr>
          <p:cNvSpPr/>
          <p:nvPr/>
        </p:nvSpPr>
        <p:spPr bwMode="auto">
          <a:xfrm>
            <a:off x="251520" y="1937792"/>
            <a:ext cx="8712968" cy="4155503"/>
          </a:xfrm>
          <a:prstGeom prst="roundRect">
            <a:avLst>
              <a:gd name="adj" fmla="val 5977"/>
            </a:avLst>
          </a:prstGeom>
          <a:solidFill>
            <a:schemeClr val="tx1">
              <a:lumMod val="20000"/>
              <a:lumOff val="80000"/>
              <a:alpha val="92157"/>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9-MLCompendium. (n.d.). Data Mining | Machine &amp; Deep Learning Compendium. Retrieved from https://www.mlcompendium.com/machine-learning/data-mining</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10-Vskills. (n.d.). Association Rule Mining – Tutorial. Retrieved from https://www.vskills.in/certification/tutorial/association-rule-mining/</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11-Primo.ai. (n.d.). Apriori, Frequent Pattern (FP) Growth, Association Rules. Retrieved from https://primo.ai/index.php/Apriori%2C_Frequent_Pattern_%28FP%29_Growth%2C_Association_Rules/Analysis</a:t>
            </a:r>
          </a:p>
          <a:p>
            <a:pPr marR="0" algn="l" defTabSz="914400" rtl="0" eaLnBrk="1" fontAlgn="base" latinLnBrk="0" hangingPunct="1">
              <a:lnSpc>
                <a:spcPts val="3000"/>
              </a:lnSpc>
              <a:spcBef>
                <a:spcPct val="0"/>
              </a:spcBef>
              <a:spcAft>
                <a:spcPct val="0"/>
              </a:spcAft>
              <a:buClrTx/>
              <a:buSzTx/>
              <a:tabLst/>
            </a:pPr>
            <a:r>
              <a:rPr lang="en-US" sz="2000" dirty="0">
                <a:solidFill>
                  <a:srgbClr val="0C0D03"/>
                </a:solidFill>
                <a:latin typeface="Times New Roman" panose="02020603050405020304" pitchFamily="18" charset="0"/>
                <a:cs typeface="Times New Roman" panose="02020603050405020304" pitchFamily="18" charset="0"/>
              </a:rPr>
              <a:t>12-CSUS. (n.d.). FP-Growth Algorithm. Retrieved from https://athena.ecs.csus.edu/~mei/associationcw/FpGrowth.html</a:t>
            </a: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a:p>
            <a:pPr marR="0" algn="l" defTabSz="914400" rtl="0" eaLnBrk="1" fontAlgn="base" latinLnBrk="0" hangingPunct="1">
              <a:lnSpc>
                <a:spcPts val="3000"/>
              </a:lnSpc>
              <a:spcBef>
                <a:spcPct val="0"/>
              </a:spcBef>
              <a:spcAft>
                <a:spcPct val="0"/>
              </a:spcAft>
              <a:buClrTx/>
              <a:buSzTx/>
              <a:tabLst/>
            </a:pPr>
            <a:endParaRPr lang="en-US" sz="2000" dirty="0">
              <a:solidFill>
                <a:srgbClr val="0C0D03"/>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042F9E2-22EF-2F48-C974-D68D2E139AD4}"/>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197768" y="188640"/>
            <a:ext cx="1181346" cy="1080120"/>
          </a:xfrm>
          <a:prstGeom prst="rect">
            <a:avLst/>
          </a:prstGeom>
        </p:spPr>
      </p:pic>
    </p:spTree>
    <p:extLst>
      <p:ext uri="{BB962C8B-B14F-4D97-AF65-F5344CB8AC3E}">
        <p14:creationId xmlns:p14="http://schemas.microsoft.com/office/powerpoint/2010/main" val="2809559705"/>
      </p:ext>
    </p:extLst>
  </p:cSld>
  <p:clrMapOvr>
    <a:masterClrMapping/>
  </p:clrMapOvr>
</p:sld>
</file>

<file path=ppt/theme/theme1.xml><?xml version="1.0" encoding="utf-8"?>
<a:theme xmlns:a="http://schemas.openxmlformats.org/drawingml/2006/main" name="mohammadzadeh=biological method">
  <a:themeElements>
    <a:clrScheme name="574TGp_natural_light_ani 3">
      <a:dk1>
        <a:srgbClr val="808080"/>
      </a:dk1>
      <a:lt1>
        <a:srgbClr val="DDE89A"/>
      </a:lt1>
      <a:dk2>
        <a:srgbClr val="329A2A"/>
      </a:dk2>
      <a:lt2>
        <a:srgbClr val="185E25"/>
      </a:lt2>
      <a:accent1>
        <a:srgbClr val="80CB35"/>
      </a:accent1>
      <a:accent2>
        <a:srgbClr val="518CD3"/>
      </a:accent2>
      <a:accent3>
        <a:srgbClr val="ADCAAC"/>
      </a:accent3>
      <a:accent4>
        <a:srgbClr val="BDC683"/>
      </a:accent4>
      <a:accent5>
        <a:srgbClr val="C0E2AE"/>
      </a:accent5>
      <a:accent6>
        <a:srgbClr val="497EBF"/>
      </a:accent6>
      <a:hlink>
        <a:srgbClr val="E15D7C"/>
      </a:hlink>
      <a:folHlink>
        <a:srgbClr val="DB9153"/>
      </a:folHlink>
    </a:clrScheme>
    <a:fontScheme name="標準報告用">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574TGp_natural_light_ani 1">
        <a:dk1>
          <a:srgbClr val="808080"/>
        </a:dk1>
        <a:lt1>
          <a:srgbClr val="EADCC0"/>
        </a:lt1>
        <a:dk2>
          <a:srgbClr val="F97407"/>
        </a:dk2>
        <a:lt2>
          <a:srgbClr val="E65D00"/>
        </a:lt2>
        <a:accent1>
          <a:srgbClr val="FBCF2D"/>
        </a:accent1>
        <a:accent2>
          <a:srgbClr val="5C8CDA"/>
        </a:accent2>
        <a:accent3>
          <a:srgbClr val="FBBCAA"/>
        </a:accent3>
        <a:accent4>
          <a:srgbClr val="C8BCA4"/>
        </a:accent4>
        <a:accent5>
          <a:srgbClr val="FDE4AD"/>
        </a:accent5>
        <a:accent6>
          <a:srgbClr val="537EC5"/>
        </a:accent6>
        <a:hlink>
          <a:srgbClr val="87D242"/>
        </a:hlink>
        <a:folHlink>
          <a:srgbClr val="DA6478"/>
        </a:folHlink>
      </a:clrScheme>
      <a:clrMap bg1="dk2" tx1="lt1" bg2="dk1" tx2="lt2" accent1="accent1" accent2="accent2" accent3="accent3" accent4="accent4" accent5="accent5" accent6="accent6" hlink="hlink" folHlink="folHlink"/>
    </a:extraClrScheme>
    <a:extraClrScheme>
      <a:clrScheme name="574TGp_natural_light_ani 2">
        <a:dk1>
          <a:srgbClr val="808080"/>
        </a:dk1>
        <a:lt1>
          <a:srgbClr val="9BD3E5"/>
        </a:lt1>
        <a:dk2>
          <a:srgbClr val="357DA9"/>
        </a:dk2>
        <a:lt2>
          <a:srgbClr val="101C56"/>
        </a:lt2>
        <a:accent1>
          <a:srgbClr val="58BECC"/>
        </a:accent1>
        <a:accent2>
          <a:srgbClr val="8A5BDF"/>
        </a:accent2>
        <a:accent3>
          <a:srgbClr val="AEBFD1"/>
        </a:accent3>
        <a:accent4>
          <a:srgbClr val="84B4C3"/>
        </a:accent4>
        <a:accent5>
          <a:srgbClr val="B4DBE2"/>
        </a:accent5>
        <a:accent6>
          <a:srgbClr val="7D52CA"/>
        </a:accent6>
        <a:hlink>
          <a:srgbClr val="6ECC4C"/>
        </a:hlink>
        <a:folHlink>
          <a:srgbClr val="DD693B"/>
        </a:folHlink>
      </a:clrScheme>
      <a:clrMap bg1="dk2" tx1="lt1" bg2="dk1" tx2="lt2" accent1="accent1" accent2="accent2" accent3="accent3" accent4="accent4" accent5="accent5" accent6="accent6" hlink="hlink" folHlink="folHlink"/>
    </a:extraClrScheme>
    <a:extraClrScheme>
      <a:clrScheme name="574TGp_natural_light_ani 3">
        <a:dk1>
          <a:srgbClr val="808080"/>
        </a:dk1>
        <a:lt1>
          <a:srgbClr val="DDE89A"/>
        </a:lt1>
        <a:dk2>
          <a:srgbClr val="329A2A"/>
        </a:dk2>
        <a:lt2>
          <a:srgbClr val="185E25"/>
        </a:lt2>
        <a:accent1>
          <a:srgbClr val="80CB35"/>
        </a:accent1>
        <a:accent2>
          <a:srgbClr val="518CD3"/>
        </a:accent2>
        <a:accent3>
          <a:srgbClr val="ADCAAC"/>
        </a:accent3>
        <a:accent4>
          <a:srgbClr val="BDC683"/>
        </a:accent4>
        <a:accent5>
          <a:srgbClr val="C0E2AE"/>
        </a:accent5>
        <a:accent6>
          <a:srgbClr val="497EBF"/>
        </a:accent6>
        <a:hlink>
          <a:srgbClr val="E15D7C"/>
        </a:hlink>
        <a:folHlink>
          <a:srgbClr val="DB915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2384</TotalTime>
  <Words>6790</Words>
  <Application>Microsoft Office PowerPoint</Application>
  <PresentationFormat>On-screen Show (4:3)</PresentationFormat>
  <Paragraphs>1183</Paragraphs>
  <Slides>132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132</vt:i4>
      </vt:variant>
    </vt:vector>
  </HeadingPairs>
  <TitlesOfParts>
    <vt:vector size="138" baseType="lpstr">
      <vt:lpstr>SimSun</vt:lpstr>
      <vt:lpstr>Arial</vt:lpstr>
      <vt:lpstr>Calibri</vt:lpstr>
      <vt:lpstr>Consolas</vt:lpstr>
      <vt:lpstr>Times New Roman</vt:lpstr>
      <vt:lpstr>mohammadzadeh=biological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محیط زیست</dc:title>
  <dc:creator>MRT Pack 30 DVDs</dc:creator>
  <cp:lastModifiedBy>karnoo</cp:lastModifiedBy>
  <cp:revision>121</cp:revision>
  <dcterms:created xsi:type="dcterms:W3CDTF">2018-12-16T17:55:40Z</dcterms:created>
  <dcterms:modified xsi:type="dcterms:W3CDTF">2026-02-05T21:28:20Z</dcterms:modified>
</cp:coreProperties>
</file>